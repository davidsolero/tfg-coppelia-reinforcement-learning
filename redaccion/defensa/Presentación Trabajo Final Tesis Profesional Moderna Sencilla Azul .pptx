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lXDC4H_93laV1_eHHFT949fUipzkiFOBH3fAiZZUCdYojwUyX2aTonS1aIwMrx6NUIsHfUHSLzjGJFxxj7kCzMIlSC20SNjaJf9GmESvWFqgy6FNrwzWSIu2lzePyWSz8zg09RAX43OFexidzEE3_7l3auaKk4w9ktJdqg-&amp;format=source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2" r:id="rId5"/>
    <p:sldId id="278" r:id="rId6"/>
    <p:sldId id="260" r:id="rId7"/>
    <p:sldId id="274" r:id="rId8"/>
    <p:sldId id="263" r:id="rId9"/>
    <p:sldId id="276" r:id="rId10"/>
    <p:sldId id="272" r:id="rId11"/>
    <p:sldId id="277" r:id="rId12"/>
    <p:sldId id="279" r:id="rId13"/>
    <p:sldId id="271" r:id="rId14"/>
    <p:sldId id="280" r:id="rId15"/>
    <p:sldId id="273" r:id="rId16"/>
    <p:sldId id="281" r:id="rId17"/>
    <p:sldId id="275" r:id="rId18"/>
    <p:sldId id="265" r:id="rId19"/>
    <p:sldId id="266" r:id="rId20"/>
    <p:sldId id="269" r:id="rId21"/>
    <p:sldId id="270" r:id="rId22"/>
  </p:sldIdLst>
  <p:sldSz cx="18288000" cy="10287000"/>
  <p:notesSz cx="6858000" cy="9144000"/>
  <p:embeddedFontLs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Open Sans Bold" panose="020B0806030504020204" charset="0"/>
      <p:regular r:id="rId28"/>
    </p:embeddedFont>
    <p:embeddedFont>
      <p:font typeface="Open Sans Bold Italics" panose="020B0604020202020204" charset="0"/>
      <p:regular r:id="rId29"/>
    </p:embeddedFont>
    <p:embeddedFont>
      <p:font typeface="Playfair Display" panose="00000500000000000000" pitchFamily="2" charset="0"/>
      <p:regular r:id="rId30"/>
    </p:embeddedFont>
    <p:embeddedFont>
      <p:font typeface="Roboto Condensed" panose="02000000000000000000" pitchFamily="2" charset="0"/>
      <p:regular r:id="rId31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 autoAdjust="0"/>
    <p:restoredTop sz="94622" autoAdjust="0"/>
  </p:normalViewPr>
  <p:slideViewPr>
    <p:cSldViewPr>
      <p:cViewPr varScale="1">
        <p:scale>
          <a:sx n="39" d="100"/>
          <a:sy n="39" d="100"/>
        </p:scale>
        <p:origin x="992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2FB25D-F884-468F-A70A-BA48D5C74FC7}" type="datetimeFigureOut">
              <a:rPr lang="es-ES" smtClean="0"/>
              <a:t>27/06/2026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8A2CB-74A5-4546-B53C-5D8DBB6BE76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2877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7833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5762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650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2046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74E03-FDFA-26CD-BF24-AA7B6A6E6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C7456DB-6414-6947-1080-EA05BAE9D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575308-C169-ADE4-DCC8-E943DA9B1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F06AB5-E8BF-40D5-9E0F-B9C0D7AAF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274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lXDC4H_93laV1_eHHFT949fUipzkiFOBH3fAiZZUCdYojwUyX2aTonS1aIwMrx6NUIsHfUHSLzjGJFxxj7kCzMIlSC20SNjaJf9GmESvWFqgy6FNrwzWSIu2lzePyWSz8zg09RAX43OFexidzEE3_7l3auaKk4w9ktJdqg-&amp;format=source"/><Relationship Id="rId3" Type="http://schemas.openxmlformats.org/officeDocument/2006/relationships/image" Target="../media/image1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/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-4214157" y="4252257"/>
            <a:ext cx="10287002" cy="1858688"/>
            <a:chOff x="0" y="0"/>
            <a:chExt cx="5186228" cy="9972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/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4400D64-A2C9-5ABB-20D6-BBBA10C756E5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579909B-3389-B174-E0D5-7337C2B92B64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E3FB8202-5B9E-EB0D-1AB8-2BB379A5B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A80B6589-2FA9-AD30-382D-8CE1C1EFC47D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3972939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9586635" y="1"/>
            <a:ext cx="8701365" cy="10287000"/>
            <a:chOff x="0" y="0"/>
            <a:chExt cx="2403141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03141" cy="2834790"/>
            </a:xfrm>
            <a:custGeom>
              <a:avLst/>
              <a:gdLst/>
              <a:ahLst/>
              <a:cxnLst/>
              <a:rect l="l" t="t" r="r" b="b"/>
              <a:pathLst>
                <a:path w="2403141" h="2834790">
                  <a:moveTo>
                    <a:pt x="0" y="0"/>
                  </a:moveTo>
                  <a:lnTo>
                    <a:pt x="2403141" y="0"/>
                  </a:lnTo>
                  <a:lnTo>
                    <a:pt x="2403141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03141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es-ES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29882" y="2009728"/>
            <a:ext cx="6189026" cy="90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1"/>
              </a:lnSpc>
            </a:pPr>
            <a:r>
              <a:rPr lang="es-ES" sz="88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CONTENIDOS</a:t>
            </a:r>
            <a:endParaRPr lang="es-ES" sz="7034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809971" y="477959"/>
            <a:ext cx="8382000" cy="9331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  <a:endParaRPr lang="es-ES" sz="4351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34C1551-5EB8-0A19-9F7C-7B1BBCB43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652" y="3238500"/>
            <a:ext cx="5571486" cy="5981377"/>
          </a:xfrm>
          <a:prstGeom prst="rect">
            <a:avLst/>
          </a:prstGeom>
          <a:solidFill>
            <a:srgbClr val="FFFFFF">
              <a:shade val="85000"/>
            </a:srgbClr>
          </a:solidFill>
          <a:ln w="28575" cap="sq">
            <a:solidFill>
              <a:schemeClr val="tx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4712303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028701" y="1"/>
            <a:ext cx="17259300" cy="10287000"/>
            <a:chOff x="0" y="0"/>
            <a:chExt cx="4667029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667029" cy="2834790"/>
            </a:xfrm>
            <a:custGeom>
              <a:avLst/>
              <a:gdLst/>
              <a:ahLst/>
              <a:cxnLst/>
              <a:rect l="l" t="t" r="r" b="b"/>
              <a:pathLst>
                <a:path w="4667029" h="2834790">
                  <a:moveTo>
                    <a:pt x="0" y="0"/>
                  </a:moveTo>
                  <a:lnTo>
                    <a:pt x="4667029" y="0"/>
                  </a:lnTo>
                  <a:lnTo>
                    <a:pt x="4667029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667029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10767060" y="1028700"/>
            <a:ext cx="7368540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Box 9"/>
          <p:cNvSpPr txBox="1"/>
          <p:nvPr/>
        </p:nvSpPr>
        <p:spPr>
          <a:xfrm>
            <a:off x="1150529" y="345008"/>
            <a:ext cx="9494703" cy="2353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484477" lvl="1" indent="-742238">
              <a:lnSpc>
                <a:spcPts val="9626"/>
              </a:lnSpc>
              <a:buFontTx/>
              <a:buAutoNum type="arabicPeriod"/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1484477" lvl="1" indent="-742238" algn="l">
              <a:lnSpc>
                <a:spcPts val="9626"/>
              </a:lnSpc>
              <a:buAutoNum type="arabicPeriod"/>
            </a:pPr>
            <a:endParaRPr lang="es-ES" sz="6875" noProof="0" dirty="0">
              <a:solidFill>
                <a:srgbClr val="1A216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48170" y="2178139"/>
            <a:ext cx="9299536" cy="1041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64"/>
              </a:lnSpc>
              <a:spcBef>
                <a:spcPct val="0"/>
              </a:spcBef>
            </a:pPr>
            <a:r>
              <a:rPr lang="es-ES" sz="2974" b="1" i="1" noProof="0" dirty="0">
                <a:solidFill>
                  <a:srgbClr val="1A2161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¿Cómo decide un robot cuándo patrullar y cuándo recargar?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48170" y="3393669"/>
            <a:ext cx="9053230" cy="3773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Robots móviles en vigilancia, hospitales y almacenes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Decisiones de alto nivel: qué zona visitar, cuándo recargar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Enfoques clásicos: reglas fijas → poca adaptabilidad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Aprendizaje por refuerzo: el agente aprende por experiencia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462A9AFC-AB12-A7B4-6CC5-F775420EB051}"/>
              </a:ext>
            </a:extLst>
          </p:cNvPr>
          <p:cNvSpPr txBox="1"/>
          <p:nvPr/>
        </p:nvSpPr>
        <p:spPr>
          <a:xfrm>
            <a:off x="840899" y="7791691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246FE023-F543-3CBF-04A0-C23E5E6C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087" y="1759324"/>
            <a:ext cx="5149532" cy="7816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Código fuente: qué es, cómo verlo y cómo funciona - La Biznaga Digital">
            <a:extLst>
              <a:ext uri="{FF2B5EF4-FFF2-40B4-BE49-F238E27FC236}">
                <a16:creationId xmlns:a16="http://schemas.microsoft.com/office/drawing/2014/main" id="{AC2641AA-3F03-B0BF-B092-289A7DAE2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403" y="5659096"/>
            <a:ext cx="3073145" cy="23018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Freeform 2"/>
          <p:cNvSpPr/>
          <p:nvPr/>
        </p:nvSpPr>
        <p:spPr>
          <a:xfrm>
            <a:off x="0" y="237581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" y="0"/>
            <a:ext cx="18288000" cy="2377902"/>
            <a:chOff x="0" y="0"/>
            <a:chExt cx="5186228" cy="9972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876260"/>
            <a:ext cx="7529484" cy="1143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2</a:t>
            </a:r>
            <a:r>
              <a:rPr lang="es-ES" sz="72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200" noProof="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</a:t>
            </a:r>
            <a:r>
              <a:rPr lang="es-ES" sz="720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jetivos</a:t>
            </a:r>
            <a:endParaRPr lang="es-ES" sz="7200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6C4E6A1-3851-AA5C-5989-900BA0D71F8F}"/>
              </a:ext>
            </a:extLst>
          </p:cNvPr>
          <p:cNvSpPr/>
          <p:nvPr/>
        </p:nvSpPr>
        <p:spPr>
          <a:xfrm>
            <a:off x="8458200" y="1601008"/>
            <a:ext cx="8686800" cy="3269509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CA7AA03-E4EC-E6A5-28EF-DE6B23FECEFA}"/>
              </a:ext>
            </a:extLst>
          </p:cNvPr>
          <p:cNvSpPr txBox="1"/>
          <p:nvPr/>
        </p:nvSpPr>
        <p:spPr>
          <a:xfrm>
            <a:off x="9158316" y="1930860"/>
            <a:ext cx="72600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solidFill>
                  <a:schemeClr val="tx2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Análisis del a</a:t>
            </a:r>
            <a:r>
              <a:rPr lang="es-ES" sz="3200" b="0" i="0" dirty="0">
                <a:solidFill>
                  <a:schemeClr val="tx2">
                    <a:lumMod val="50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prendizaje de alto nivel para un robot móvil simulado basada en aprendizaje por refuerzo, maximizando la cobertura y gestionando su autonomía.</a:t>
            </a:r>
            <a:endParaRPr lang="es-ES" sz="3200" dirty="0">
              <a:solidFill>
                <a:schemeClr val="tx2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Diagrama de flujo: conector 16">
            <a:extLst>
              <a:ext uri="{FF2B5EF4-FFF2-40B4-BE49-F238E27FC236}">
                <a16:creationId xmlns:a16="http://schemas.microsoft.com/office/drawing/2014/main" id="{643B1AB3-BBDB-F0D1-6609-3B4108634E20}"/>
              </a:ext>
            </a:extLst>
          </p:cNvPr>
          <p:cNvSpPr/>
          <p:nvPr/>
        </p:nvSpPr>
        <p:spPr>
          <a:xfrm>
            <a:off x="16418396" y="778055"/>
            <a:ext cx="1426720" cy="1434764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C46CFFF6-EAF2-7995-ADA0-0CEDDA8EB6F7}"/>
              </a:ext>
            </a:extLst>
          </p:cNvPr>
          <p:cNvSpPr/>
          <p:nvPr/>
        </p:nvSpPr>
        <p:spPr>
          <a:xfrm>
            <a:off x="8458200" y="6163200"/>
            <a:ext cx="8686800" cy="3595508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F5B45A3-AE88-B7C6-6FAE-013522AE362E}"/>
              </a:ext>
            </a:extLst>
          </p:cNvPr>
          <p:cNvSpPr txBox="1"/>
          <p:nvPr/>
        </p:nvSpPr>
        <p:spPr>
          <a:xfrm>
            <a:off x="8895229" y="6489199"/>
            <a:ext cx="81534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Diseño del entorno en CoppeliaSim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Integración con Python y ZeroMQ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Definición del problema como entorno Gymnasium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Entrenamiento y evaluación con PPO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Estudio del efecto de información temporal</a:t>
            </a:r>
          </a:p>
        </p:txBody>
      </p:sp>
      <p:sp>
        <p:nvSpPr>
          <p:cNvPr id="35" name="Diagrama de flujo: conector 34">
            <a:extLst>
              <a:ext uri="{FF2B5EF4-FFF2-40B4-BE49-F238E27FC236}">
                <a16:creationId xmlns:a16="http://schemas.microsoft.com/office/drawing/2014/main" id="{C01D61BD-ABAC-A661-5866-3072081F782E}"/>
              </a:ext>
            </a:extLst>
          </p:cNvPr>
          <p:cNvSpPr/>
          <p:nvPr/>
        </p:nvSpPr>
        <p:spPr>
          <a:xfrm>
            <a:off x="16099279" y="5647410"/>
            <a:ext cx="1479273" cy="1487613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2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CFD1EE64-692F-D1A8-1CF4-C62BFF012B3E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F11371-1C2C-4A3B-1DA9-62FDDBC88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6647" y="2778646"/>
            <a:ext cx="5731738" cy="290749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AA2A316-2CBD-F5C9-97E7-541146EBF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652" y="4437143"/>
            <a:ext cx="3304798" cy="26146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50A41-6546-8A25-ACA1-CF3E4A46A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A1C020-4BEC-26A2-92C2-0845AABDFDB6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64070C-BD46-1EFB-5597-BF35D2ACB200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C209AAE-1DF3-41BA-5C42-C2A5AB0D5E60}"/>
              </a:ext>
            </a:extLst>
          </p:cNvPr>
          <p:cNvGrpSpPr/>
          <p:nvPr/>
        </p:nvGrpSpPr>
        <p:grpSpPr>
          <a:xfrm>
            <a:off x="-63422" y="2561029"/>
            <a:ext cx="18351422" cy="8221271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2795CF5-ADEE-3D32-6B39-0ACA223825E7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509A97F-EB3A-995D-983B-E106E99AA826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F43E0387-1302-B84E-B141-6AE31D8E3D4A}"/>
              </a:ext>
            </a:extLst>
          </p:cNvPr>
          <p:cNvSpPr txBox="1"/>
          <p:nvPr/>
        </p:nvSpPr>
        <p:spPr>
          <a:xfrm>
            <a:off x="0" y="67736"/>
            <a:ext cx="17983199" cy="1987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3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Tecnologías usadas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52863F-4330-8584-0428-AB07189B4C66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8" name="Imagen 7" descr="Documents_on_github">
            <a:extLst>
              <a:ext uri="{FF2B5EF4-FFF2-40B4-BE49-F238E27FC236}">
                <a16:creationId xmlns:a16="http://schemas.microsoft.com/office/drawing/2014/main" id="{8CAA2E01-CF5C-BA26-1CA1-DD7AAE158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91" y="3568033"/>
            <a:ext cx="2887196" cy="1624048"/>
          </a:xfrm>
          <a:prstGeom prst="rect">
            <a:avLst/>
          </a:prstGeom>
        </p:spPr>
      </p:pic>
      <p:pic>
        <p:nvPicPr>
          <p:cNvPr id="11" name="Imagen 10" descr="VReP desktop file for Ubuntu. Logo (icon) from their twitter handle  @coppeliaRobotic · GitHub">
            <a:extLst>
              <a:ext uri="{FF2B5EF4-FFF2-40B4-BE49-F238E27FC236}">
                <a16:creationId xmlns:a16="http://schemas.microsoft.com/office/drawing/2014/main" id="{6D24E4CC-6783-DBD5-5E99-29BB978DE6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1400" y="5128585"/>
            <a:ext cx="1715975" cy="1624048"/>
          </a:xfrm>
          <a:prstGeom prst="rect">
            <a:avLst/>
          </a:prstGeom>
        </p:spPr>
      </p:pic>
      <p:pic>
        <p:nvPicPr>
          <p:cNvPr id="12" name="Imagen 11" descr="Python (programming language) - Wikipedia">
            <a:extLst>
              <a:ext uri="{FF2B5EF4-FFF2-40B4-BE49-F238E27FC236}">
                <a16:creationId xmlns:a16="http://schemas.microsoft.com/office/drawing/2014/main" id="{4D459503-4C21-03FE-5696-B093F8B5F3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9782" y="3423941"/>
            <a:ext cx="1409700" cy="1409700"/>
          </a:xfrm>
          <a:prstGeom prst="rect">
            <a:avLst/>
          </a:prstGeom>
        </p:spPr>
      </p:pic>
      <p:pic>
        <p:nvPicPr>
          <p:cNvPr id="13" name="Gráfico 12" descr="Lua - Wikipedia, la enciclopedia libre">
            <a:extLst>
              <a:ext uri="{FF2B5EF4-FFF2-40B4-BE49-F238E27FC236}">
                <a16:creationId xmlns:a16="http://schemas.microsoft.com/office/drawing/2014/main" id="{AFE2CFEA-F607-CAE2-4B55-5A7A2BE28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2765" y="5307876"/>
            <a:ext cx="1715975" cy="1715975"/>
          </a:xfrm>
          <a:prstGeom prst="rect">
            <a:avLst/>
          </a:prstGeom>
        </p:spPr>
      </p:pic>
      <p:pic>
        <p:nvPicPr>
          <p:cNvPr id="14" name="Imagen 13" descr="Visual Studio Code - Descargar e instalar en Windows | Microsoft Store">
            <a:extLst>
              <a:ext uri="{FF2B5EF4-FFF2-40B4-BE49-F238E27FC236}">
                <a16:creationId xmlns:a16="http://schemas.microsoft.com/office/drawing/2014/main" id="{4BF768BA-5823-D0B8-F35D-D54955943A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7633" y="5105017"/>
            <a:ext cx="1524000" cy="1524000"/>
          </a:xfrm>
          <a:prstGeom prst="rect">
            <a:avLst/>
          </a:prstGeom>
        </p:spPr>
      </p:pic>
      <p:pic>
        <p:nvPicPr>
          <p:cNvPr id="15" name="Imagen 14" descr="Stable-Baselines3 Docs - Reliable Reinforcement Learning Implementations —  Stable Baselines3 2.9.0 documentation">
            <a:extLst>
              <a:ext uri="{FF2B5EF4-FFF2-40B4-BE49-F238E27FC236}">
                <a16:creationId xmlns:a16="http://schemas.microsoft.com/office/drawing/2014/main" id="{DF208B49-6599-F4D9-B795-9695FE77425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49495" y="4511058"/>
            <a:ext cx="2702297" cy="2355736"/>
          </a:xfrm>
          <a:prstGeom prst="rect">
            <a:avLst/>
          </a:prstGeom>
        </p:spPr>
      </p:pic>
      <p:pic>
        <p:nvPicPr>
          <p:cNvPr id="16" name="Imagen 15" descr="File:Pytorch logo.png - Wikimedia Commons">
            <a:extLst>
              <a:ext uri="{FF2B5EF4-FFF2-40B4-BE49-F238E27FC236}">
                <a16:creationId xmlns:a16="http://schemas.microsoft.com/office/drawing/2014/main" id="{3D61457C-98A0-B87C-9DD0-140FB40FBD7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00643" y="3416261"/>
            <a:ext cx="3109520" cy="767602"/>
          </a:xfrm>
          <a:prstGeom prst="rect">
            <a:avLst/>
          </a:prstGeom>
        </p:spPr>
      </p:pic>
      <p:pic>
        <p:nvPicPr>
          <p:cNvPr id="17" name="Imagen 16" descr="Archivo:Matplotlib icon.svg - Wikipedia, la enciclopedia libre">
            <a:extLst>
              <a:ext uri="{FF2B5EF4-FFF2-40B4-BE49-F238E27FC236}">
                <a16:creationId xmlns:a16="http://schemas.microsoft.com/office/drawing/2014/main" id="{A5092763-D9AE-98CF-154D-A225FC0B22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0737" y="5246985"/>
            <a:ext cx="1572874" cy="15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3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429991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144000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51112" y="342900"/>
            <a:ext cx="7483288" cy="10964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54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4</a:t>
            </a:r>
            <a:r>
              <a:rPr lang="es-ES" sz="54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Arquitectura del sistema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7FB0CF8-DA95-DF3F-B5D8-C656943B3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9839" y="2115069"/>
            <a:ext cx="6553200" cy="634769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4621B86-4EDF-B3EB-F515-65A9B0E91A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4664"/>
            <a:ext cx="8200313" cy="4800600"/>
          </a:xfrm>
          <a:prstGeom prst="rect">
            <a:avLst/>
          </a:prstGeom>
        </p:spPr>
      </p:pic>
      <p:sp>
        <p:nvSpPr>
          <p:cNvPr id="8" name="TextBox 13">
            <a:extLst>
              <a:ext uri="{FF2B5EF4-FFF2-40B4-BE49-F238E27FC236}">
                <a16:creationId xmlns:a16="http://schemas.microsoft.com/office/drawing/2014/main" id="{814AA7AA-494B-E517-BA9C-BDA8D6D7E94B}"/>
              </a:ext>
            </a:extLst>
          </p:cNvPr>
          <p:cNvSpPr txBox="1"/>
          <p:nvPr/>
        </p:nvSpPr>
        <p:spPr>
          <a:xfrm>
            <a:off x="2520457" y="697534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Diagrama de sistema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9ABCFDC3-D156-1130-CA5E-737AD6DBDFEA}"/>
              </a:ext>
            </a:extLst>
          </p:cNvPr>
          <p:cNvSpPr txBox="1"/>
          <p:nvPr/>
        </p:nvSpPr>
        <p:spPr>
          <a:xfrm>
            <a:off x="11694896" y="859457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Entorno del sistema</a:t>
            </a:r>
            <a:endParaRPr lang="es-ES" sz="3200" noProof="0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1B8E19F9-CA63-772C-56E6-6914B28949F0}"/>
              </a:ext>
            </a:extLst>
          </p:cNvPr>
          <p:cNvSpPr txBox="1"/>
          <p:nvPr/>
        </p:nvSpPr>
        <p:spPr>
          <a:xfrm>
            <a:off x="0" y="784860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1FD31-C30F-AA4C-9D30-F1F568F38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D1945B5-CE60-2493-F1FB-99B745C6B97F}"/>
              </a:ext>
            </a:extLst>
          </p:cNvPr>
          <p:cNvSpPr/>
          <p:nvPr/>
        </p:nvSpPr>
        <p:spPr>
          <a:xfrm>
            <a:off x="-29785" y="15625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8B2D79-B12D-5931-E42F-805F0EF0AD6C}"/>
              </a:ext>
            </a:extLst>
          </p:cNvPr>
          <p:cNvGrpSpPr/>
          <p:nvPr/>
        </p:nvGrpSpPr>
        <p:grpSpPr>
          <a:xfrm>
            <a:off x="1" y="0"/>
            <a:ext cx="18288000" cy="1562504"/>
            <a:chOff x="0" y="0"/>
            <a:chExt cx="5186228" cy="99721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E776BFA-1528-C0FA-E11D-B5DBB37E36AF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38012C9-F6F7-AA1A-6123-0043EE17DCA6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4C5FA0F-E5BF-7A95-B6B8-02CAB0D49911}"/>
              </a:ext>
            </a:extLst>
          </p:cNvPr>
          <p:cNvSpPr txBox="1"/>
          <p:nvPr/>
        </p:nvSpPr>
        <p:spPr>
          <a:xfrm>
            <a:off x="1143000" y="324969"/>
            <a:ext cx="12573000" cy="115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5. Definición del problema RL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C063D9A-09BE-DA67-47CF-325319168AFE}"/>
              </a:ext>
            </a:extLst>
          </p:cNvPr>
          <p:cNvSpPr/>
          <p:nvPr/>
        </p:nvSpPr>
        <p:spPr>
          <a:xfrm>
            <a:off x="122614" y="2260945"/>
            <a:ext cx="8839200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572590-36F8-F367-3DC1-8F4FCBB1DD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08" t="8781" r="3949"/>
          <a:stretch>
            <a:fillRect/>
          </a:stretch>
        </p:blipFill>
        <p:spPr>
          <a:xfrm>
            <a:off x="261105" y="2804282"/>
            <a:ext cx="8608419" cy="324457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6728676-E30B-0AFB-36A5-C6312DFADA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6" t="16060" r="1006" b="27819"/>
          <a:stretch>
            <a:fillRect/>
          </a:stretch>
        </p:blipFill>
        <p:spPr>
          <a:xfrm>
            <a:off x="261106" y="2442283"/>
            <a:ext cx="8501894" cy="421444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CB6314D-63FB-2B9E-9133-9164C1BA4E6B}"/>
              </a:ext>
            </a:extLst>
          </p:cNvPr>
          <p:cNvSpPr/>
          <p:nvPr/>
        </p:nvSpPr>
        <p:spPr>
          <a:xfrm>
            <a:off x="4007340" y="6515100"/>
            <a:ext cx="9829800" cy="2971800"/>
          </a:xfrm>
          <a:prstGeom prst="roundRect">
            <a:avLst/>
          </a:prstGeom>
          <a:solidFill>
            <a:srgbClr val="F3F4F6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6CFF86-B2A8-6D28-1DC7-9696E8130E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71" t="16726" r="7778" b="13210"/>
          <a:stretch>
            <a:fillRect/>
          </a:stretch>
        </p:blipFill>
        <p:spPr>
          <a:xfrm>
            <a:off x="4191000" y="6743700"/>
            <a:ext cx="9417539" cy="25146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3C5B3505-1238-2DB6-CA86-B8BCAF70E9E0}"/>
              </a:ext>
            </a:extLst>
          </p:cNvPr>
          <p:cNvSpPr/>
          <p:nvPr/>
        </p:nvSpPr>
        <p:spPr>
          <a:xfrm>
            <a:off x="9144000" y="2247900"/>
            <a:ext cx="8961812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ED6D958-B6F6-7A10-5FF8-101151F1F1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624" t="4085" r="2133" b="3530"/>
          <a:stretch>
            <a:fillRect/>
          </a:stretch>
        </p:blipFill>
        <p:spPr>
          <a:xfrm>
            <a:off x="10995083" y="2337741"/>
            <a:ext cx="5684114" cy="3711116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5FD8670A-D3F9-27D1-86C5-EF6A6FC18FA9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140126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402FEE9-478B-2EBC-CED5-501E26BE4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247" y="2248095"/>
            <a:ext cx="9420225" cy="7680856"/>
          </a:xfrm>
          <a:prstGeom prst="rect">
            <a:avLst/>
          </a:prstGeom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A7E7A2A3-D8AB-39F7-A3AE-7051153C744D}"/>
              </a:ext>
            </a:extLst>
          </p:cNvPr>
          <p:cNvSpPr txBox="1"/>
          <p:nvPr/>
        </p:nvSpPr>
        <p:spPr>
          <a:xfrm>
            <a:off x="945777" y="3008279"/>
            <a:ext cx="775447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densa     señal en cada paso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El agente recibe +1 a la recompensa por visitar habitaciones poco visitadas y penalización -10 si agota la batería.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272A0E4F-6C66-A612-B99A-01C7C93C208D}"/>
              </a:ext>
            </a:extLst>
          </p:cNvPr>
          <p:cNvSpPr txBox="1"/>
          <p:nvPr/>
        </p:nvSpPr>
        <p:spPr>
          <a:xfrm>
            <a:off x="167528" y="7579116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E1E3509-48B2-81E0-1F8A-223DBCA22B24}"/>
              </a:ext>
            </a:extLst>
          </p:cNvPr>
          <p:cNvCxnSpPr>
            <a:cxnSpLocks/>
          </p:cNvCxnSpPr>
          <p:nvPr/>
        </p:nvCxnSpPr>
        <p:spPr>
          <a:xfrm>
            <a:off x="5257800" y="3314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6E9DE-B5C8-5927-F6AE-37D89E9F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CB1957-D0AC-471A-B45F-B86E802AF0BD}"/>
              </a:ext>
            </a:extLst>
          </p:cNvPr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D1E5786-30C3-9584-79F3-4E9C393EF62E}"/>
              </a:ext>
            </a:extLst>
          </p:cNvPr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044763-C4A6-023B-0D78-6A5BB6C1C3A2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3626413-B2D5-8277-A703-75EE85355E9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6248F45-6431-C031-5805-8AA9B5D20740}"/>
              </a:ext>
            </a:extLst>
          </p:cNvPr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721F869-C9A6-D92E-BDAD-19B415E01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5" y="2338930"/>
            <a:ext cx="10146365" cy="418667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F078C42-6BD2-A0F7-8E71-576CB2EC0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2248095"/>
            <a:ext cx="8269941" cy="6694714"/>
          </a:xfrm>
          <a:prstGeom prst="rect">
            <a:avLst/>
          </a:prstGeom>
        </p:spPr>
      </p:pic>
      <p:sp>
        <p:nvSpPr>
          <p:cNvPr id="11" name="TextBox 9">
            <a:extLst>
              <a:ext uri="{FF2B5EF4-FFF2-40B4-BE49-F238E27FC236}">
                <a16:creationId xmlns:a16="http://schemas.microsoft.com/office/drawing/2014/main" id="{FD5B98F3-562A-FEB2-98FA-18D9AE47111F}"/>
              </a:ext>
            </a:extLst>
          </p:cNvPr>
          <p:cNvSpPr txBox="1"/>
          <p:nvPr/>
        </p:nvSpPr>
        <p:spPr>
          <a:xfrm>
            <a:off x="182222" y="7531074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4178918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635F8-B313-952A-474E-4561C6FE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600C8D6-4E22-0907-CB06-BB3FD05D98B6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B367E8-287A-3F02-322A-566D3E48052B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4832395-A8CB-993E-9212-4C1763EFE477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F32B5FF-5133-858F-A822-B590D5AB159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411E212-B94C-C238-AF4B-A4EBFB04F3AC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624A68-9AEB-A209-5E08-490889A5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0" y="1927351"/>
            <a:ext cx="10485704" cy="8091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BE66B8-CED5-6A93-2019-CE6295DC69CE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3692B310-678E-DB42-58A4-07CFFFEF1409}"/>
              </a:ext>
            </a:extLst>
          </p:cNvPr>
          <p:cNvSpPr txBox="1"/>
          <p:nvPr/>
        </p:nvSpPr>
        <p:spPr>
          <a:xfrm>
            <a:off x="617084" y="2644356"/>
            <a:ext cx="6545716" cy="33239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dispersa     señal al final del episodio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Balance final de visitas y penalización cuadrática del uso de C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2D2B858-91DD-1864-51AC-AF789CB18571}"/>
              </a:ext>
            </a:extLst>
          </p:cNvPr>
          <p:cNvCxnSpPr>
            <a:cxnSpLocks/>
          </p:cNvCxnSpPr>
          <p:nvPr/>
        </p:nvCxnSpPr>
        <p:spPr>
          <a:xfrm>
            <a:off x="5410200" y="2933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585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162355-0D0F-EF54-F86A-D4ACE3B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D0208AD-8867-B568-23BA-3317EA83A3FB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857699-01E5-B83D-714F-3352ACB2C322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369A34-0EDA-0FD7-A924-3FEF6359ED18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54BE02-A512-B1B5-A5BB-E32E605AF2D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62649BCD-51B9-4ACE-1FC5-077FB5A960A1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892AF52-BCB9-5D6E-526D-9FDD28AD1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967" y="1999714"/>
            <a:ext cx="7975629" cy="636084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0BF7C79-3C8E-A5FC-420A-B66024F47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2200" y="2140500"/>
            <a:ext cx="7975629" cy="6358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D6766-E653-ACA5-11EF-557625EA67B2}"/>
              </a:ext>
            </a:extLst>
          </p:cNvPr>
          <p:cNvSpPr txBox="1"/>
          <p:nvPr/>
        </p:nvSpPr>
        <p:spPr>
          <a:xfrm>
            <a:off x="-152400" y="78191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D7D6FA61-419F-2579-2838-A75CCED83FC4}"/>
              </a:ext>
            </a:extLst>
          </p:cNvPr>
          <p:cNvSpPr txBox="1"/>
          <p:nvPr/>
        </p:nvSpPr>
        <p:spPr>
          <a:xfrm>
            <a:off x="4965729" y="8806740"/>
            <a:ext cx="108966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Mejora energética, pero persiste el desbalance</a:t>
            </a:r>
          </a:p>
        </p:txBody>
      </p:sp>
    </p:spTree>
    <p:extLst>
      <p:ext uri="{BB962C8B-B14F-4D97-AF65-F5344CB8AC3E}">
        <p14:creationId xmlns:p14="http://schemas.microsoft.com/office/powerpoint/2010/main" val="3413722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AC84E-0F8E-575C-7ECD-4904423C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6E9D36E-6BF5-3CB9-6442-CC84D8DE801E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CFA0299-68A9-E20C-2966-7CC9E39B5440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9ED070F-A40B-4576-8990-F4F6B722DDF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78BE8E1-0188-53AC-97A5-40F95A40E8C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DDACDE8-1C98-3562-2B37-DAF47EB520A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88EB6B-BED6-9030-2A6A-4A19A5DB093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552681DB-9A7A-F753-38E2-3AE1F14B9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88" y="3355794"/>
            <a:ext cx="9988467" cy="5806767"/>
          </a:xfrm>
          <a:prstGeom prst="rect">
            <a:avLst/>
          </a:prstGeom>
        </p:spPr>
      </p:pic>
      <p:sp>
        <p:nvSpPr>
          <p:cNvPr id="16" name="TextBox 13">
            <a:extLst>
              <a:ext uri="{FF2B5EF4-FFF2-40B4-BE49-F238E27FC236}">
                <a16:creationId xmlns:a16="http://schemas.microsoft.com/office/drawing/2014/main" id="{CA99B198-EDF9-2632-46F3-94F6A55A2ADB}"/>
              </a:ext>
            </a:extLst>
          </p:cNvPr>
          <p:cNvSpPr txBox="1"/>
          <p:nvPr/>
        </p:nvSpPr>
        <p:spPr>
          <a:xfrm>
            <a:off x="762000" y="3534073"/>
            <a:ext cx="7193513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Permite pausar la navegación durante el episodio</a:t>
            </a:r>
          </a:p>
          <a:p>
            <a:pPr>
              <a:spcBef>
                <a:spcPct val="0"/>
              </a:spcBef>
            </a:pPr>
            <a:endParaRPr lang="es-ES" sz="360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Extiende el espacio de acciones Discrete(4) a MultiDiscrete([5,51])</a:t>
            </a:r>
          </a:p>
        </p:txBody>
      </p:sp>
    </p:spTree>
    <p:extLst>
      <p:ext uri="{BB962C8B-B14F-4D97-AF65-F5344CB8AC3E}">
        <p14:creationId xmlns:p14="http://schemas.microsoft.com/office/powerpoint/2010/main" val="198687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4621D-FBDC-C6F1-DF32-9586C9D7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2546D0-9123-E59F-2592-4FAF0496610C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9CE1E35-365A-EF25-55AD-E1D26747582A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C2BA5AD-E77B-AF4B-DD6B-7D2CF760EF1B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223441E-A1AE-E3D9-0F40-F01AE9D023A6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ED1DAE13-C1C7-5E4E-DB62-306B4D3EB27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4030846-C4E0-6E91-50EC-80D749708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318963"/>
            <a:ext cx="8382000" cy="63751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DB5D2F-5540-FE8B-CAEE-AE504857D780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1064723-A722-7F4E-484C-509EAE035B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06"/>
          <a:stretch>
            <a:fillRect/>
          </a:stretch>
        </p:blipFill>
        <p:spPr>
          <a:xfrm>
            <a:off x="727381" y="2972155"/>
            <a:ext cx="7292669" cy="4733504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F9B9B144-9B1F-C969-01C2-7A82CE565DFD}"/>
              </a:ext>
            </a:extLst>
          </p:cNvPr>
          <p:cNvSpPr txBox="1"/>
          <p:nvPr/>
        </p:nvSpPr>
        <p:spPr>
          <a:xfrm>
            <a:off x="4102493" y="7850320"/>
            <a:ext cx="5270108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Velocidad nominal del robot </a:t>
            </a: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determinada</a:t>
            </a:r>
          </a:p>
        </p:txBody>
      </p:sp>
    </p:spTree>
    <p:extLst>
      <p:ext uri="{BB962C8B-B14F-4D97-AF65-F5344CB8AC3E}">
        <p14:creationId xmlns:p14="http://schemas.microsoft.com/office/powerpoint/2010/main" val="1747348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172C76-BB2B-5FD7-115D-EB7C7F72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51EBA8-5F47-9719-EE42-CDE24FE9E5D3}"/>
              </a:ext>
            </a:extLst>
          </p:cNvPr>
          <p:cNvSpPr/>
          <p:nvPr/>
        </p:nvSpPr>
        <p:spPr>
          <a:xfrm rot="-10800000">
            <a:off x="0" y="824101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4EC2972-6F44-3EE6-A2D8-3C0DCBF48157}"/>
              </a:ext>
            </a:extLst>
          </p:cNvPr>
          <p:cNvGrpSpPr/>
          <p:nvPr/>
        </p:nvGrpSpPr>
        <p:grpSpPr>
          <a:xfrm>
            <a:off x="0" y="2456390"/>
            <a:ext cx="18288000" cy="756236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6C18D57-368D-848E-3D55-F1BFBF1BBBC4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E646AA6-83A0-FCDF-6488-7470296BFB52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pic>
        <p:nvPicPr>
          <p:cNvPr id="10" name="Imagen 9">
            <a:extLst>
              <a:ext uri="{FF2B5EF4-FFF2-40B4-BE49-F238E27FC236}">
                <a16:creationId xmlns:a16="http://schemas.microsoft.com/office/drawing/2014/main" id="{53748225-942B-EA2E-FCEE-6B321C3AD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36"/>
          <a:stretch>
            <a:fillRect/>
          </a:stretch>
        </p:blipFill>
        <p:spPr>
          <a:xfrm>
            <a:off x="9248775" y="3292851"/>
            <a:ext cx="9023537" cy="2476443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5F71C22-2C58-3DBD-4FBC-D796402A33D8}"/>
              </a:ext>
            </a:extLst>
          </p:cNvPr>
          <p:cNvSpPr txBox="1"/>
          <p:nvPr/>
        </p:nvSpPr>
        <p:spPr>
          <a:xfrm>
            <a:off x="9895239" y="7048500"/>
            <a:ext cx="7730607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Reducción significativa del tiempo de entrenamiento y evaluación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Validación de x3 de aceleración</a:t>
            </a: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E67C0E0A-F65C-53EB-A3D4-9C4B7AB86992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BA1590E-5883-FD7C-0809-2240090F8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010" y="2799979"/>
            <a:ext cx="8992939" cy="37913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F22D15D-03B6-F1E6-A9EB-CEDEA7EE79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6657596"/>
            <a:ext cx="6203118" cy="532171"/>
          </a:xfrm>
          <a:prstGeom prst="rect">
            <a:avLst/>
          </a:prstGeom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E1CB968B-6999-BFAF-B525-2ED7361A497B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</p:spTree>
    <p:extLst>
      <p:ext uri="{BB962C8B-B14F-4D97-AF65-F5344CB8AC3E}">
        <p14:creationId xmlns:p14="http://schemas.microsoft.com/office/powerpoint/2010/main" val="3096553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63215-26A2-D911-53DA-5C69611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9B80A4-3A4D-56F0-CB54-67B5D6BE0101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E5D1739-C475-B196-136A-64E457B730A5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A58CD4C-21E0-D16D-FF81-EBD17EB142E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8908C46-9E74-E88B-B0D3-8B5FC5E9746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CDDACEF-0E9D-5841-0AE9-3A79DD462306}"/>
              </a:ext>
            </a:extLst>
          </p:cNvPr>
          <p:cNvSpPr txBox="1"/>
          <p:nvPr/>
        </p:nvSpPr>
        <p:spPr>
          <a:xfrm>
            <a:off x="989760" y="527266"/>
            <a:ext cx="78105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9ABFCBC-F347-FFD8-BB3F-D06DD3919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967" y="3421824"/>
            <a:ext cx="12300864" cy="6337909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60D724EF-18EF-B0F4-2251-2BB618A38C5F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47ED5CD1-2A45-DE7C-DEF0-748B64397786}"/>
              </a:ext>
            </a:extLst>
          </p:cNvPr>
          <p:cNvSpPr txBox="1"/>
          <p:nvPr/>
        </p:nvSpPr>
        <p:spPr>
          <a:xfrm>
            <a:off x="533401" y="3695700"/>
            <a:ext cx="5562600" cy="1661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Información temporal </a:t>
            </a:r>
          </a:p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Mayor contexto para la toma de decisiones</a:t>
            </a:r>
          </a:p>
        </p:txBody>
      </p:sp>
      <p:cxnSp>
        <p:nvCxnSpPr>
          <p:cNvPr id="13" name="Conector recto de flecha 11">
            <a:extLst>
              <a:ext uri="{FF2B5EF4-FFF2-40B4-BE49-F238E27FC236}">
                <a16:creationId xmlns:a16="http://schemas.microsoft.com/office/drawing/2014/main" id="{1DC6D616-0CA6-57F5-6E55-C5DE945DCF93}"/>
              </a:ext>
            </a:extLst>
          </p:cNvPr>
          <p:cNvCxnSpPr>
            <a:cxnSpLocks/>
          </p:cNvCxnSpPr>
          <p:nvPr/>
        </p:nvCxnSpPr>
        <p:spPr>
          <a:xfrm>
            <a:off x="5334000" y="40005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372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1097E-E8CD-D84E-B21D-DCF80DF5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5AD7BB-EDBF-F630-9B48-50E9CD9CC73D}"/>
              </a:ext>
            </a:extLst>
          </p:cNvPr>
          <p:cNvSpPr/>
          <p:nvPr/>
        </p:nvSpPr>
        <p:spPr>
          <a:xfrm rot="-10800000">
            <a:off x="104775" y="878535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6A0470-9C2C-8CFA-0280-180075D4BB66}"/>
              </a:ext>
            </a:extLst>
          </p:cNvPr>
          <p:cNvGrpSpPr/>
          <p:nvPr/>
        </p:nvGrpSpPr>
        <p:grpSpPr>
          <a:xfrm>
            <a:off x="0" y="2324100"/>
            <a:ext cx="18288000" cy="769465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E9DC861-FA74-5857-F80E-C1BF63328654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D471451-590F-8E5F-2843-E13D31470D33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ADA293D8-0888-1CBA-9072-E7F5E1E883FF}"/>
              </a:ext>
            </a:extLst>
          </p:cNvPr>
          <p:cNvSpPr txBox="1"/>
          <p:nvPr/>
        </p:nvSpPr>
        <p:spPr>
          <a:xfrm>
            <a:off x="990600" y="780256"/>
            <a:ext cx="1333584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E84D60-DD7A-5BA4-9359-C38E81B67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2447380"/>
            <a:ext cx="7032922" cy="570925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0F5198B-BD36-5C35-A6E5-865EFEEEA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9522" y="2504000"/>
            <a:ext cx="7871428" cy="6195257"/>
          </a:xfrm>
          <a:prstGeom prst="rect">
            <a:avLst/>
          </a:prstGeom>
        </p:spPr>
      </p:pic>
      <p:sp>
        <p:nvSpPr>
          <p:cNvPr id="9" name="TextBox 13">
            <a:extLst>
              <a:ext uri="{FF2B5EF4-FFF2-40B4-BE49-F238E27FC236}">
                <a16:creationId xmlns:a16="http://schemas.microsoft.com/office/drawing/2014/main" id="{3C699FE2-4E26-D931-8514-43AC3E414A8F}"/>
              </a:ext>
            </a:extLst>
          </p:cNvPr>
          <p:cNvSpPr txBox="1"/>
          <p:nvPr/>
        </p:nvSpPr>
        <p:spPr>
          <a:xfrm>
            <a:off x="2667000" y="8830530"/>
            <a:ext cx="16036407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La presión temporal no mejora el balance, pero induce recargas más conservadoras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8BC8EF5-925B-71C6-27FF-6F553991521D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620701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DDE9-3898-3161-FC1A-515B70DEB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1656CB-4CFB-ED7A-82BA-C01285F4CDA3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58EE42F-E003-42EA-5B7C-3DA32D05EB1E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18C02EA5-56D1-BBA6-67F3-6BDF0B1BDA9D}"/>
              </a:ext>
            </a:extLst>
          </p:cNvPr>
          <p:cNvGrpSpPr/>
          <p:nvPr/>
        </p:nvGrpSpPr>
        <p:grpSpPr>
          <a:xfrm>
            <a:off x="-31711" y="2561029"/>
            <a:ext cx="18351422" cy="6198979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CE64299-CBB8-8378-F641-A640E56A4B05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FE2CD94-4692-B998-3DEB-76A186E792F7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45E71597-E611-1140-3C6F-BB58A8499713}"/>
              </a:ext>
            </a:extLst>
          </p:cNvPr>
          <p:cNvSpPr txBox="1"/>
          <p:nvPr/>
        </p:nvSpPr>
        <p:spPr>
          <a:xfrm>
            <a:off x="1447255" y="6773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10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Demostración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10EB81-0A7F-B764-3787-D9AF1C7D2F02}"/>
              </a:ext>
            </a:extLst>
          </p:cNvPr>
          <p:cNvSpPr txBox="1"/>
          <p:nvPr/>
        </p:nvSpPr>
        <p:spPr>
          <a:xfrm>
            <a:off x="-63422" y="63288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75657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3491" y="0"/>
            <a:ext cx="8714509" cy="10287000"/>
            <a:chOff x="0" y="0"/>
            <a:chExt cx="2576410" cy="32554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5" name="Freeform 5"/>
          <p:cNvSpPr/>
          <p:nvPr/>
        </p:nvSpPr>
        <p:spPr>
          <a:xfrm rot="5400000">
            <a:off x="3971925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407112" y="2053834"/>
            <a:ext cx="7195088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Entorno RL completo desarrollado en CoppeliaSim + Python + PPO.</a:t>
            </a:r>
          </a:p>
          <a:p>
            <a:pPr algn="l">
              <a:spcBef>
                <a:spcPct val="0"/>
              </a:spcBef>
            </a:pPr>
            <a:endParaRPr lang="es-ES" sz="32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Las recompensas densas superaron claramente a las recompensas dispersas.</a:t>
            </a:r>
          </a:p>
          <a:p>
            <a:pPr algn="l">
              <a:spcBef>
                <a:spcPct val="0"/>
              </a:spcBef>
            </a:pPr>
            <a:endParaRPr lang="es-ES" sz="32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xp_006 obtuvo el mejor equilibrio global: cobertura, energía y balance.</a:t>
            </a:r>
          </a:p>
          <a:p>
            <a:pPr algn="l">
              <a:spcBef>
                <a:spcPct val="0"/>
              </a:spcBef>
            </a:pPr>
            <a:endParaRPr lang="es-ES" sz="32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La información temporal modificó la estrategia energética, pero no resolvió el desequilibrio entre habitaciones.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71423" y="1203152"/>
            <a:ext cx="7184389" cy="85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11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  <a:endParaRPr lang="es-ES" sz="7034" u="none" strike="noStrike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5E421C1-742F-E218-ACBC-5307D8AEBF7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010150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782308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9928" y="876260"/>
            <a:ext cx="6612922" cy="1154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03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12</a:t>
            </a:r>
            <a:r>
              <a:rPr lang="es-ES" sz="703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Líneas futuras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F256A27D-0466-32A4-84E0-2EE8E666975A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045BF988-3DD9-DF94-454F-A764E66BA7E4}"/>
              </a:ext>
            </a:extLst>
          </p:cNvPr>
          <p:cNvSpPr txBox="1"/>
          <p:nvPr/>
        </p:nvSpPr>
        <p:spPr>
          <a:xfrm>
            <a:off x="10415636" y="2196644"/>
            <a:ext cx="7195088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spcBef>
                <a:spcPct val="0"/>
              </a:spcBef>
            </a:pPr>
            <a:r>
              <a:rPr lang="es-ES" sz="3200" b="1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Complejidad del entorno</a:t>
            </a:r>
          </a:p>
          <a:p>
            <a:pPr marL="1028700" lvl="1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Más habitaciones.</a:t>
            </a:r>
          </a:p>
          <a:p>
            <a:pPr marL="1028700" lvl="1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Obstáculos dinámicos.</a:t>
            </a:r>
          </a:p>
          <a:p>
            <a:pPr marL="1028700" lvl="1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Varias estaciones de carga.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8D710BF-AA18-299A-EA73-711ED084A867}"/>
              </a:ext>
            </a:extLst>
          </p:cNvPr>
          <p:cNvSpPr txBox="1"/>
          <p:nvPr/>
        </p:nvSpPr>
        <p:spPr>
          <a:xfrm>
            <a:off x="10415636" y="4610100"/>
            <a:ext cx="7195088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spcBef>
                <a:spcPct val="0"/>
              </a:spcBef>
            </a:pPr>
            <a:r>
              <a:rPr lang="es-ES" sz="3200" b="1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Mejoras en RL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Algoritmos alternativos a PPO.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Memoria temporal.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 err="1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Reward</a:t>
            </a: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200" noProof="0" dirty="0" err="1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shaping</a:t>
            </a: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 multiobjetivo.</a:t>
            </a:r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B478E624-EBD5-7BBC-7CE7-ED5605F3157E}"/>
              </a:ext>
            </a:extLst>
          </p:cNvPr>
          <p:cNvSpPr txBox="1"/>
          <p:nvPr/>
        </p:nvSpPr>
        <p:spPr>
          <a:xfrm>
            <a:off x="10415636" y="7105471"/>
            <a:ext cx="7195088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spcBef>
                <a:spcPct val="0"/>
              </a:spcBef>
            </a:pPr>
            <a:r>
              <a:rPr lang="es-ES" sz="3200" b="1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Escalado del sistema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Transferencia a robot real.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Patrullaje </a:t>
            </a:r>
            <a:r>
              <a:rPr lang="es-ES" sz="3200" noProof="0" dirty="0" err="1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multiagente</a:t>
            </a: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/>
          <p:cNvSpPr/>
          <p:nvPr/>
        </p:nvSpPr>
        <p:spPr>
          <a:xfrm>
            <a:off x="-63422" y="7801886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/>
          <p:cNvGrpSpPr/>
          <p:nvPr/>
        </p:nvGrpSpPr>
        <p:grpSpPr>
          <a:xfrm>
            <a:off x="-63422" y="2561029"/>
            <a:ext cx="18351422" cy="5684517"/>
            <a:chOff x="0" y="0"/>
            <a:chExt cx="5186228" cy="149715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510677" y="408220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Muchas gracias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38472" y="6515940"/>
            <a:ext cx="6011057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s-ES" sz="4696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su atención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9D1A4-5D68-5411-EF4D-415224C5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646DA72-C272-CD28-1414-68ADA018CB95}"/>
              </a:ext>
            </a:extLst>
          </p:cNvPr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F61B59A-AA06-D9C8-1C72-9761F3152F67}"/>
              </a:ext>
            </a:extLst>
          </p:cNvPr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BE8DC5F-EEC2-56B0-B31B-E364BA1561F2}"/>
              </a:ext>
            </a:extLst>
          </p:cNvPr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8D349B3-D5A0-7D00-0F6D-E6ED553C3D78}"/>
              </a:ext>
            </a:extLst>
          </p:cNvPr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6D58AB1-2375-0937-03FD-4B05251CBCA7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A4177D0-0C4A-57B8-8A02-C0C009E838EE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>
            <a:extLst>
              <a:ext uri="{FF2B5EF4-FFF2-40B4-BE49-F238E27FC236}">
                <a16:creationId xmlns:a16="http://schemas.microsoft.com/office/drawing/2014/main" id="{196E5196-A73B-3363-9536-968FE7022AFB}"/>
              </a:ext>
            </a:extLst>
          </p:cNvPr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905C34ED-1F92-E68D-5138-0FB28176D74E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D63B92-6563-66D5-1C17-98191BEA315D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395A38A6-57BA-EE7A-3007-A46B4A1CD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CE0CCCB9-8481-D4E5-AD6A-669F7938EB61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  <p:extLst>
      <p:ext uri="{BB962C8B-B14F-4D97-AF65-F5344CB8AC3E}">
        <p14:creationId xmlns:p14="http://schemas.microsoft.com/office/powerpoint/2010/main" val="2402494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</TotalTime>
  <Words>833</Words>
  <Application>Microsoft Office PowerPoint</Application>
  <PresentationFormat>Custom</PresentationFormat>
  <Paragraphs>203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Aptos</vt:lpstr>
      <vt:lpstr>Arial</vt:lpstr>
      <vt:lpstr>Open Sans Bold</vt:lpstr>
      <vt:lpstr>Open Sans Bold Italics</vt:lpstr>
      <vt:lpstr>Roboto Condensed</vt:lpstr>
      <vt:lpstr>Calibri</vt:lpstr>
      <vt:lpstr>Playfair Display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Trabajo Final Tesis Profesional Moderna Sencilla Azul </dc:title>
  <cp:lastModifiedBy>David Solero Chicano</cp:lastModifiedBy>
  <cp:revision>44</cp:revision>
  <dcterms:created xsi:type="dcterms:W3CDTF">2006-08-16T00:00:00Z</dcterms:created>
  <dcterms:modified xsi:type="dcterms:W3CDTF">2026-06-27T12:23:10Z</dcterms:modified>
  <dc:identifier>DAHLam64Q-M</dc:identifier>
</cp:coreProperties>
</file>