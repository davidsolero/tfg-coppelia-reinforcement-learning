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lXDC4H_93laV1_eHHFT949fUipzkiFOBH3fAiZZUCdYojwUyX2aTonS1aIwMrx6NUIsHfUHSLzjGJFxxj7kCzMIlSC20SNjaJf9GmESvWFqgy6FNrwzWSIu2lzePyWSz8zg09RAX43OFexidzEE3_7l3auaKk4w9ktJdqg-&amp;format=source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2" r:id="rId5"/>
    <p:sldId id="278" r:id="rId6"/>
    <p:sldId id="260" r:id="rId7"/>
    <p:sldId id="274" r:id="rId8"/>
    <p:sldId id="263" r:id="rId9"/>
    <p:sldId id="276" r:id="rId10"/>
    <p:sldId id="272" r:id="rId11"/>
    <p:sldId id="277" r:id="rId12"/>
    <p:sldId id="279" r:id="rId13"/>
    <p:sldId id="271" r:id="rId14"/>
    <p:sldId id="273" r:id="rId15"/>
    <p:sldId id="275" r:id="rId16"/>
    <p:sldId id="265" r:id="rId17"/>
    <p:sldId id="266" r:id="rId18"/>
    <p:sldId id="269" r:id="rId19"/>
    <p:sldId id="270" r:id="rId20"/>
  </p:sldIdLst>
  <p:sldSz cx="18288000" cy="10287000"/>
  <p:notesSz cx="6858000" cy="9144000"/>
  <p:embeddedFontLs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Bold" panose="020B0806030504020204" charset="0"/>
      <p:regular r:id="rId26"/>
    </p:embeddedFont>
    <p:embeddedFont>
      <p:font typeface="Open Sans Bold Italics" panose="020B0604020202020204" charset="0"/>
      <p:regular r:id="rId27"/>
    </p:embeddedFont>
    <p:embeddedFont>
      <p:font typeface="Playfair Display" panose="00000500000000000000" pitchFamily="2" charset="0"/>
      <p:regular r:id="rId28"/>
    </p:embeddedFont>
    <p:embeddedFont>
      <p:font typeface="Roboto Condensed" panose="02000000000000000000" pitchFamily="2" charset="0"/>
      <p:regular r:id="rId29"/>
      <p:bold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4622" autoAdjust="0"/>
  </p:normalViewPr>
  <p:slideViewPr>
    <p:cSldViewPr>
      <p:cViewPr varScale="1">
        <p:scale>
          <a:sx n="71" d="100"/>
          <a:sy n="71" d="100"/>
        </p:scale>
        <p:origin x="792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2FB25D-F884-468F-A70A-BA48D5C74FC7}" type="datetimeFigureOut">
              <a:rPr lang="es-ES" smtClean="0"/>
              <a:t>23/06/2026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8A2CB-74A5-4546-B53C-5D8DBB6BE76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2877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7833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650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2046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74E03-FDFA-26CD-BF24-AA7B6A6E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C7456DB-6414-6947-1080-EA05BAE9D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575308-C169-ADE4-DCC8-E943DA9B1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F06AB5-E8BF-40D5-9E0F-B9C0D7AAF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274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lXDC4H_93laV1_eHHFT949fUipzkiFOBH3fAiZZUCdYojwUyX2aTonS1aIwMrx6NUIsHfUHSLzjGJFxxj7kCzMIlSC20SNjaJf9GmESvWFqgy6FNrwzWSIu2lzePyWSz8zg09RAX43OFexidzEE3_7l3auaKk4w9ktJdqg-&amp;format=source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/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4400D64-A2C9-5ABB-20D6-BBBA10C756E5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579909B-3389-B174-E0D5-7337C2B92B64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E3FB8202-5B9E-EB0D-1AB8-2BB379A5B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A80B6589-2FA9-AD30-382D-8CE1C1EFC47D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3972939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9586635" y="1"/>
            <a:ext cx="8701365" cy="10287000"/>
            <a:chOff x="0" y="0"/>
            <a:chExt cx="2403141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03141" cy="2834790"/>
            </a:xfrm>
            <a:custGeom>
              <a:avLst/>
              <a:gdLst/>
              <a:ahLst/>
              <a:cxnLst/>
              <a:rect l="l" t="t" r="r" b="b"/>
              <a:pathLst>
                <a:path w="2403141" h="2834790">
                  <a:moveTo>
                    <a:pt x="0" y="0"/>
                  </a:moveTo>
                  <a:lnTo>
                    <a:pt x="2403141" y="0"/>
                  </a:lnTo>
                  <a:lnTo>
                    <a:pt x="2403141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03141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es-ES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29882" y="2009728"/>
            <a:ext cx="6189026" cy="90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1"/>
              </a:lnSpc>
            </a:pPr>
            <a:r>
              <a:rPr lang="es-ES" sz="88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CONTENIDOS</a:t>
            </a:r>
            <a:endParaRPr lang="es-ES" sz="7034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809971" y="477959"/>
            <a:ext cx="8382000" cy="9331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  <a:endParaRPr lang="es-ES" sz="4351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34C1551-5EB8-0A19-9F7C-7B1BBCB4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652" y="3238500"/>
            <a:ext cx="5571486" cy="5981377"/>
          </a:xfrm>
          <a:prstGeom prst="rect">
            <a:avLst/>
          </a:prstGeom>
          <a:solidFill>
            <a:srgbClr val="FFFFFF">
              <a:shade val="85000"/>
            </a:srgbClr>
          </a:solidFill>
          <a:ln w="2857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4712303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701" y="1"/>
            <a:ext cx="17259300" cy="10287000"/>
            <a:chOff x="0" y="0"/>
            <a:chExt cx="4667029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667029" cy="2834790"/>
            </a:xfrm>
            <a:custGeom>
              <a:avLst/>
              <a:gdLst/>
              <a:ahLst/>
              <a:cxnLst/>
              <a:rect l="l" t="t" r="r" b="b"/>
              <a:pathLst>
                <a:path w="4667029" h="2834790">
                  <a:moveTo>
                    <a:pt x="0" y="0"/>
                  </a:moveTo>
                  <a:lnTo>
                    <a:pt x="4667029" y="0"/>
                  </a:lnTo>
                  <a:lnTo>
                    <a:pt x="4667029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667029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10767060" y="1028700"/>
            <a:ext cx="7368540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Box 9"/>
          <p:cNvSpPr txBox="1"/>
          <p:nvPr/>
        </p:nvSpPr>
        <p:spPr>
          <a:xfrm>
            <a:off x="1150529" y="345008"/>
            <a:ext cx="9494703" cy="235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484477" lvl="1" indent="-742238">
              <a:lnSpc>
                <a:spcPts val="9626"/>
              </a:lnSpc>
              <a:buFontTx/>
              <a:buAutoNum type="arabicPeriod"/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1484477" lvl="1" indent="-742238" algn="l">
              <a:lnSpc>
                <a:spcPts val="9626"/>
              </a:lnSpc>
              <a:buAutoNum type="arabicPeriod"/>
            </a:pPr>
            <a:endParaRPr lang="es-ES" sz="6875" noProof="0" dirty="0">
              <a:solidFill>
                <a:srgbClr val="1A216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8170" y="2178139"/>
            <a:ext cx="9299536" cy="1041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64"/>
              </a:lnSpc>
              <a:spcBef>
                <a:spcPct val="0"/>
              </a:spcBef>
            </a:pPr>
            <a:r>
              <a:rPr lang="es-ES" sz="2974" b="1" i="1" noProof="0" dirty="0">
                <a:solidFill>
                  <a:srgbClr val="1A2161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¿Cómo decide un robot cuándo patrullar y cuándo recargar?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48170" y="3393669"/>
            <a:ext cx="9053230" cy="3773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Robots móviles en vigilancia, hospitales y almacenes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Decisiones de alto nivel: qué zona visitar, cuándo recargar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Enfoques clásicos: reglas fijas → poca adaptabilidad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Aprendizaje por refuerzo: el agente aprende por experiencia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462A9AFC-AB12-A7B4-6CC5-F775420EB051}"/>
              </a:ext>
            </a:extLst>
          </p:cNvPr>
          <p:cNvSpPr txBox="1"/>
          <p:nvPr/>
        </p:nvSpPr>
        <p:spPr>
          <a:xfrm>
            <a:off x="840899" y="7791691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46FE023-F543-3CBF-04A0-C23E5E6C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087" y="1759324"/>
            <a:ext cx="5149532" cy="7816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7550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" y="-1"/>
            <a:ext cx="18288000" cy="2997895"/>
            <a:chOff x="0" y="0"/>
            <a:chExt cx="5186228" cy="9972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876260"/>
            <a:ext cx="7529484" cy="1143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2</a:t>
            </a:r>
            <a:r>
              <a:rPr lang="es-ES" sz="72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200" noProof="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</a:t>
            </a:r>
            <a:r>
              <a:rPr lang="es-ES" sz="720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jetivos</a:t>
            </a:r>
            <a:endParaRPr lang="es-ES" sz="7200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C4E6A1-3851-AA5C-5989-900BA0D71F8F}"/>
              </a:ext>
            </a:extLst>
          </p:cNvPr>
          <p:cNvSpPr/>
          <p:nvPr/>
        </p:nvSpPr>
        <p:spPr>
          <a:xfrm>
            <a:off x="8458200" y="1601008"/>
            <a:ext cx="8686800" cy="3269509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CA7AA03-E4EC-E6A5-28EF-DE6B23FECEFA}"/>
              </a:ext>
            </a:extLst>
          </p:cNvPr>
          <p:cNvSpPr txBox="1"/>
          <p:nvPr/>
        </p:nvSpPr>
        <p:spPr>
          <a:xfrm>
            <a:off x="9158316" y="1938870"/>
            <a:ext cx="752948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dirty="0">
                <a:solidFill>
                  <a:schemeClr val="tx2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  <a:r>
              <a:rPr lang="es-ES" sz="3200" b="0" i="0" dirty="0">
                <a:solidFill>
                  <a:schemeClr val="tx2">
                    <a:lumMod val="50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prendizaje de alto nivel para un robot móvil simulado basada en aprendizaje por refuerzo, maximizando la cobertura y gestionando su autonomía.</a:t>
            </a:r>
            <a:endParaRPr lang="es-ES" sz="3200" dirty="0">
              <a:solidFill>
                <a:schemeClr val="tx2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Diagrama de flujo: conector 16">
            <a:extLst>
              <a:ext uri="{FF2B5EF4-FFF2-40B4-BE49-F238E27FC236}">
                <a16:creationId xmlns:a16="http://schemas.microsoft.com/office/drawing/2014/main" id="{643B1AB3-BBDB-F0D1-6609-3B4108634E20}"/>
              </a:ext>
            </a:extLst>
          </p:cNvPr>
          <p:cNvSpPr/>
          <p:nvPr/>
        </p:nvSpPr>
        <p:spPr>
          <a:xfrm>
            <a:off x="16099280" y="1138067"/>
            <a:ext cx="1426720" cy="1434764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46CFFF6-EAF2-7995-ADA0-0CEDDA8EB6F7}"/>
              </a:ext>
            </a:extLst>
          </p:cNvPr>
          <p:cNvSpPr/>
          <p:nvPr/>
        </p:nvSpPr>
        <p:spPr>
          <a:xfrm>
            <a:off x="8458200" y="6163200"/>
            <a:ext cx="8686800" cy="3595508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F5B45A3-AE88-B7C6-6FAE-013522AE362E}"/>
              </a:ext>
            </a:extLst>
          </p:cNvPr>
          <p:cNvSpPr txBox="1"/>
          <p:nvPr/>
        </p:nvSpPr>
        <p:spPr>
          <a:xfrm>
            <a:off x="8895229" y="6489199"/>
            <a:ext cx="81534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Diseño del entorno en CoppeliaSim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Integración con Python y ZeroMQ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Definición del problema como entorno Gymnasium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Entrenamiento y evaluación con PPO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Estudio del efecto de información temporal</a:t>
            </a:r>
          </a:p>
        </p:txBody>
      </p:sp>
      <p:sp>
        <p:nvSpPr>
          <p:cNvPr id="35" name="Diagrama de flujo: conector 34">
            <a:extLst>
              <a:ext uri="{FF2B5EF4-FFF2-40B4-BE49-F238E27FC236}">
                <a16:creationId xmlns:a16="http://schemas.microsoft.com/office/drawing/2014/main" id="{C01D61BD-ABAC-A661-5866-3072081F782E}"/>
              </a:ext>
            </a:extLst>
          </p:cNvPr>
          <p:cNvSpPr/>
          <p:nvPr/>
        </p:nvSpPr>
        <p:spPr>
          <a:xfrm>
            <a:off x="16099279" y="5647410"/>
            <a:ext cx="1479273" cy="1487613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2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CFD1EE64-692F-D1A8-1CF4-C62BFF012B3E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50A41-6546-8A25-ACA1-CF3E4A46A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A1C020-4BEC-26A2-92C2-0845AABDFDB6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64070C-BD46-1EFB-5597-BF35D2ACB200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C209AAE-1DF3-41BA-5C42-C2A5AB0D5E60}"/>
              </a:ext>
            </a:extLst>
          </p:cNvPr>
          <p:cNvGrpSpPr/>
          <p:nvPr/>
        </p:nvGrpSpPr>
        <p:grpSpPr>
          <a:xfrm>
            <a:off x="-63422" y="2561029"/>
            <a:ext cx="18351422" cy="8221271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2795CF5-ADEE-3D32-6B39-0ACA223825E7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09A97F-EB3A-995D-983B-E106E99AA826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F43E0387-1302-B84E-B141-6AE31D8E3D4A}"/>
              </a:ext>
            </a:extLst>
          </p:cNvPr>
          <p:cNvSpPr txBox="1"/>
          <p:nvPr/>
        </p:nvSpPr>
        <p:spPr>
          <a:xfrm>
            <a:off x="0" y="67736"/>
            <a:ext cx="17983199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3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Tecnologías usadas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52863F-4330-8584-0428-AB07189B4C66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8" name="Imagen 7" descr="Documents_on_github">
            <a:extLst>
              <a:ext uri="{FF2B5EF4-FFF2-40B4-BE49-F238E27FC236}">
                <a16:creationId xmlns:a16="http://schemas.microsoft.com/office/drawing/2014/main" id="{8CAA2E01-CF5C-BA26-1CA1-DD7AAE158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1739" y="4436253"/>
            <a:ext cx="2887196" cy="1624048"/>
          </a:xfrm>
          <a:prstGeom prst="rect">
            <a:avLst/>
          </a:prstGeom>
        </p:spPr>
      </p:pic>
      <p:pic>
        <p:nvPicPr>
          <p:cNvPr id="11" name="Imagen 10" descr="VReP desktop file for Ubuntu. Logo (icon) from their twitter handle  @coppeliaRobotic · GitHub">
            <a:extLst>
              <a:ext uri="{FF2B5EF4-FFF2-40B4-BE49-F238E27FC236}">
                <a16:creationId xmlns:a16="http://schemas.microsoft.com/office/drawing/2014/main" id="{6D24E4CC-6783-DBD5-5E99-29BB978DE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9139" y="6694893"/>
            <a:ext cx="1715975" cy="1624048"/>
          </a:xfrm>
          <a:prstGeom prst="rect">
            <a:avLst/>
          </a:prstGeom>
        </p:spPr>
      </p:pic>
      <p:pic>
        <p:nvPicPr>
          <p:cNvPr id="12" name="Imagen 11" descr="Python (programming language) - Wikipedia">
            <a:extLst>
              <a:ext uri="{FF2B5EF4-FFF2-40B4-BE49-F238E27FC236}">
                <a16:creationId xmlns:a16="http://schemas.microsoft.com/office/drawing/2014/main" id="{4D459503-4C21-03FE-5696-B093F8B5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706" y="6694893"/>
            <a:ext cx="1409700" cy="1409700"/>
          </a:xfrm>
          <a:prstGeom prst="rect">
            <a:avLst/>
          </a:prstGeom>
        </p:spPr>
      </p:pic>
      <p:pic>
        <p:nvPicPr>
          <p:cNvPr id="13" name="Gráfico 12" descr="Lua - Wikipedia, la enciclopedia libre">
            <a:extLst>
              <a:ext uri="{FF2B5EF4-FFF2-40B4-BE49-F238E27FC236}">
                <a16:creationId xmlns:a16="http://schemas.microsoft.com/office/drawing/2014/main" id="{AFE2CFEA-F607-CAE2-4B55-5A7A2BE28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1600" y="3522988"/>
            <a:ext cx="1715975" cy="1715975"/>
          </a:xfrm>
          <a:prstGeom prst="rect">
            <a:avLst/>
          </a:prstGeom>
        </p:spPr>
      </p:pic>
      <p:pic>
        <p:nvPicPr>
          <p:cNvPr id="14" name="Imagen 13" descr="Visual Studio Code - Descargar e instalar en Windows | Microsoft Store">
            <a:extLst>
              <a:ext uri="{FF2B5EF4-FFF2-40B4-BE49-F238E27FC236}">
                <a16:creationId xmlns:a16="http://schemas.microsoft.com/office/drawing/2014/main" id="{4BF768BA-5823-D0B8-F35D-D54955943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4122" y="6826907"/>
            <a:ext cx="1467556" cy="1467556"/>
          </a:xfrm>
          <a:prstGeom prst="rect">
            <a:avLst/>
          </a:prstGeom>
        </p:spPr>
      </p:pic>
      <p:pic>
        <p:nvPicPr>
          <p:cNvPr id="15" name="Imagen 14" descr="Stable-Baselines3 Docs - Reliable Reinforcement Learning Implementations —  Stable Baselines3 2.9.0 documentation">
            <a:extLst>
              <a:ext uri="{FF2B5EF4-FFF2-40B4-BE49-F238E27FC236}">
                <a16:creationId xmlns:a16="http://schemas.microsoft.com/office/drawing/2014/main" id="{DF208B49-6599-F4D9-B795-9695FE7742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16127" y="3684394"/>
            <a:ext cx="2702297" cy="2355736"/>
          </a:xfrm>
          <a:prstGeom prst="rect">
            <a:avLst/>
          </a:prstGeom>
        </p:spPr>
      </p:pic>
      <p:pic>
        <p:nvPicPr>
          <p:cNvPr id="16" name="Imagen 15" descr="File:Pytorch logo.png - Wikimedia Commons">
            <a:extLst>
              <a:ext uri="{FF2B5EF4-FFF2-40B4-BE49-F238E27FC236}">
                <a16:creationId xmlns:a16="http://schemas.microsoft.com/office/drawing/2014/main" id="{3D61457C-98A0-B87C-9DD0-140FB40FBD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12515" y="2764736"/>
            <a:ext cx="3109520" cy="767602"/>
          </a:xfrm>
          <a:prstGeom prst="rect">
            <a:avLst/>
          </a:prstGeom>
        </p:spPr>
      </p:pic>
      <p:pic>
        <p:nvPicPr>
          <p:cNvPr id="17" name="Imagen 16" descr="Archivo:Matplotlib icon.svg - Wikipedia, la enciclopedia libre">
            <a:extLst>
              <a:ext uri="{FF2B5EF4-FFF2-40B4-BE49-F238E27FC236}">
                <a16:creationId xmlns:a16="http://schemas.microsoft.com/office/drawing/2014/main" id="{A5092763-D9AE-98CF-154D-A225FC0B22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97000" y="8210263"/>
            <a:ext cx="1572874" cy="15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3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429991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144000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1112" y="342900"/>
            <a:ext cx="7483288" cy="10964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54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4</a:t>
            </a:r>
            <a:r>
              <a:rPr lang="es-ES" sz="54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Arquitectura del sistema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7FB0CF8-DA95-DF3F-B5D8-C656943B3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9839" y="2115069"/>
            <a:ext cx="6553200" cy="63476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621B86-4EDF-B3EB-F515-65A9B0E91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4664"/>
            <a:ext cx="8200313" cy="4800600"/>
          </a:xfrm>
          <a:prstGeom prst="rect">
            <a:avLst/>
          </a:prstGeom>
        </p:spPr>
      </p:pic>
      <p:sp>
        <p:nvSpPr>
          <p:cNvPr id="8" name="TextBox 13">
            <a:extLst>
              <a:ext uri="{FF2B5EF4-FFF2-40B4-BE49-F238E27FC236}">
                <a16:creationId xmlns:a16="http://schemas.microsoft.com/office/drawing/2014/main" id="{814AA7AA-494B-E517-BA9C-BDA8D6D7E94B}"/>
              </a:ext>
            </a:extLst>
          </p:cNvPr>
          <p:cNvSpPr txBox="1"/>
          <p:nvPr/>
        </p:nvSpPr>
        <p:spPr>
          <a:xfrm>
            <a:off x="2520457" y="697534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Diagrama de sistema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9ABCFDC3-D156-1130-CA5E-737AD6DBDFEA}"/>
              </a:ext>
            </a:extLst>
          </p:cNvPr>
          <p:cNvSpPr txBox="1"/>
          <p:nvPr/>
        </p:nvSpPr>
        <p:spPr>
          <a:xfrm>
            <a:off x="11694896" y="859457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Entorno del sistema</a:t>
            </a:r>
            <a:endParaRPr lang="es-ES" sz="3200" noProof="0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B8E19F9-CA63-772C-56E6-6914B28949F0}"/>
              </a:ext>
            </a:extLst>
          </p:cNvPr>
          <p:cNvSpPr txBox="1"/>
          <p:nvPr/>
        </p:nvSpPr>
        <p:spPr>
          <a:xfrm>
            <a:off x="0" y="784860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1FD31-C30F-AA4C-9D30-F1F568F38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1945B5-CE60-2493-F1FB-99B745C6B97F}"/>
              </a:ext>
            </a:extLst>
          </p:cNvPr>
          <p:cNvSpPr/>
          <p:nvPr/>
        </p:nvSpPr>
        <p:spPr>
          <a:xfrm>
            <a:off x="-29785" y="15625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8B2D79-B12D-5931-E42F-805F0EF0AD6C}"/>
              </a:ext>
            </a:extLst>
          </p:cNvPr>
          <p:cNvGrpSpPr/>
          <p:nvPr/>
        </p:nvGrpSpPr>
        <p:grpSpPr>
          <a:xfrm>
            <a:off x="1" y="0"/>
            <a:ext cx="18288000" cy="1562504"/>
            <a:chOff x="0" y="0"/>
            <a:chExt cx="5186228" cy="99721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E776BFA-1528-C0FA-E11D-B5DBB37E36AF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38012C9-F6F7-AA1A-6123-0043EE17DCA6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4C5FA0F-E5BF-7A95-B6B8-02CAB0D49911}"/>
              </a:ext>
            </a:extLst>
          </p:cNvPr>
          <p:cNvSpPr txBox="1"/>
          <p:nvPr/>
        </p:nvSpPr>
        <p:spPr>
          <a:xfrm>
            <a:off x="1143000" y="324969"/>
            <a:ext cx="12573000" cy="115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5. Definición del problema RL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C063D9A-09BE-DA67-47CF-325319168AFE}"/>
              </a:ext>
            </a:extLst>
          </p:cNvPr>
          <p:cNvSpPr/>
          <p:nvPr/>
        </p:nvSpPr>
        <p:spPr>
          <a:xfrm>
            <a:off x="122614" y="2260945"/>
            <a:ext cx="8839200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572590-36F8-F367-3DC1-8F4FCBB1DD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8" t="8781" r="3949"/>
          <a:stretch>
            <a:fillRect/>
          </a:stretch>
        </p:blipFill>
        <p:spPr>
          <a:xfrm>
            <a:off x="261105" y="2804282"/>
            <a:ext cx="8608419" cy="324457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6728676-E30B-0AFB-36A5-C6312DFAD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6" t="16060" r="1006" b="27819"/>
          <a:stretch>
            <a:fillRect/>
          </a:stretch>
        </p:blipFill>
        <p:spPr>
          <a:xfrm>
            <a:off x="261106" y="2442283"/>
            <a:ext cx="8501894" cy="42144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CB6314D-63FB-2B9E-9133-9164C1BA4E6B}"/>
              </a:ext>
            </a:extLst>
          </p:cNvPr>
          <p:cNvSpPr/>
          <p:nvPr/>
        </p:nvSpPr>
        <p:spPr>
          <a:xfrm>
            <a:off x="4007340" y="6515100"/>
            <a:ext cx="9829800" cy="2971800"/>
          </a:xfrm>
          <a:prstGeom prst="roundRect">
            <a:avLst/>
          </a:prstGeom>
          <a:solidFill>
            <a:srgbClr val="F3F4F6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6CFF86-B2A8-6D28-1DC7-9696E8130E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71" t="16726" r="7778" b="13210"/>
          <a:stretch>
            <a:fillRect/>
          </a:stretch>
        </p:blipFill>
        <p:spPr>
          <a:xfrm>
            <a:off x="4191000" y="6743700"/>
            <a:ext cx="9417539" cy="25146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3C5B3505-1238-2DB6-CA86-B8BCAF70E9E0}"/>
              </a:ext>
            </a:extLst>
          </p:cNvPr>
          <p:cNvSpPr/>
          <p:nvPr/>
        </p:nvSpPr>
        <p:spPr>
          <a:xfrm>
            <a:off x="9144000" y="2247900"/>
            <a:ext cx="8961812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ED6D958-B6F6-7A10-5FF8-101151F1F1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624" t="4085" r="2133" b="3530"/>
          <a:stretch>
            <a:fillRect/>
          </a:stretch>
        </p:blipFill>
        <p:spPr>
          <a:xfrm>
            <a:off x="10995083" y="2337741"/>
            <a:ext cx="5684114" cy="3711116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5FD8670A-D3F9-27D1-86C5-EF6A6FC18FA9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140126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02FEE9-478B-2EBC-CED5-501E26BE4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247" y="2248095"/>
            <a:ext cx="9420225" cy="7680856"/>
          </a:xfrm>
          <a:prstGeom prst="rect">
            <a:avLst/>
          </a:prstGeom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A7E7A2A3-D8AB-39F7-A3AE-7051153C744D}"/>
              </a:ext>
            </a:extLst>
          </p:cNvPr>
          <p:cNvSpPr txBox="1"/>
          <p:nvPr/>
        </p:nvSpPr>
        <p:spPr>
          <a:xfrm>
            <a:off x="945777" y="3008279"/>
            <a:ext cx="775447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densa     señal en cada paso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 recibe +1 a la recompensa por visitar habitaciones poco visitadas y penalización -10 si agota la batería.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2A0E4F-6C66-A612-B99A-01C7C93C208D}"/>
              </a:ext>
            </a:extLst>
          </p:cNvPr>
          <p:cNvSpPr txBox="1"/>
          <p:nvPr/>
        </p:nvSpPr>
        <p:spPr>
          <a:xfrm>
            <a:off x="167528" y="7579116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E1E3509-48B2-81E0-1F8A-223DBCA22B24}"/>
              </a:ext>
            </a:extLst>
          </p:cNvPr>
          <p:cNvCxnSpPr>
            <a:cxnSpLocks/>
          </p:cNvCxnSpPr>
          <p:nvPr/>
        </p:nvCxnSpPr>
        <p:spPr>
          <a:xfrm>
            <a:off x="5257800" y="3314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6E9DE-B5C8-5927-F6AE-37D89E9F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CB1957-D0AC-471A-B45F-B86E802AF0BD}"/>
              </a:ext>
            </a:extLst>
          </p:cNvPr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D1E5786-30C3-9584-79F3-4E9C393EF62E}"/>
              </a:ext>
            </a:extLst>
          </p:cNvPr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044763-C4A6-023B-0D78-6A5BB6C1C3A2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626413-B2D5-8277-A703-75EE85355E9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6248F45-6431-C031-5805-8AA9B5D20740}"/>
              </a:ext>
            </a:extLst>
          </p:cNvPr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21F869-C9A6-D92E-BDAD-19B415E01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5" y="2338930"/>
            <a:ext cx="10146365" cy="418667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F078C42-6BD2-A0F7-8E71-576CB2EC0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248095"/>
            <a:ext cx="8269941" cy="6694714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FD5B98F3-562A-FEB2-98FA-18D9AE47111F}"/>
              </a:ext>
            </a:extLst>
          </p:cNvPr>
          <p:cNvSpPr txBox="1"/>
          <p:nvPr/>
        </p:nvSpPr>
        <p:spPr>
          <a:xfrm>
            <a:off x="182222" y="7531074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417891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635F8-B313-952A-474E-4561C6FE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600C8D6-4E22-0907-CB06-BB3FD05D98B6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B367E8-287A-3F02-322A-566D3E48052B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4832395-A8CB-993E-9212-4C1763EFE477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F32B5FF-5133-858F-A822-B590D5AB159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411E212-B94C-C238-AF4B-A4EBFB04F3AC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624A68-9AEB-A209-5E08-490889A5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0" y="1927351"/>
            <a:ext cx="10485704" cy="8091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BE66B8-CED5-6A93-2019-CE6295DC69CE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63F9FE83-A149-5B5D-891F-DB5E3E562947}"/>
              </a:ext>
            </a:extLst>
          </p:cNvPr>
          <p:cNvSpPr txBox="1"/>
          <p:nvPr/>
        </p:nvSpPr>
        <p:spPr>
          <a:xfrm>
            <a:off x="647443" y="2462034"/>
            <a:ext cx="6515357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dispersa     señal al final del episodio</a:t>
            </a:r>
            <a:endParaRPr lang="es-ES" sz="360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agente.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2D2B858-91DD-1864-51AC-AF789CB18571}"/>
              </a:ext>
            </a:extLst>
          </p:cNvPr>
          <p:cNvCxnSpPr>
            <a:cxnSpLocks/>
          </p:cNvCxnSpPr>
          <p:nvPr/>
        </p:nvCxnSpPr>
        <p:spPr>
          <a:xfrm>
            <a:off x="5410200" y="27813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585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62355-0D0F-EF54-F86A-D4ACE3B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0208AD-8867-B568-23BA-3317EA83A3FB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857699-01E5-B83D-714F-3352ACB2C322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369A34-0EDA-0FD7-A924-3FEF6359ED18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54BE02-A512-B1B5-A5BB-E32E605AF2D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2649BCD-51B9-4ACE-1FC5-077FB5A960A1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892AF52-BCB9-5D6E-526D-9FDD28AD1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960170"/>
            <a:ext cx="7975629" cy="636084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0BF7C79-3C8E-A5FC-420A-B66024F47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5525" y="2592656"/>
            <a:ext cx="7975629" cy="6358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D6766-E653-ACA5-11EF-557625EA67B2}"/>
              </a:ext>
            </a:extLst>
          </p:cNvPr>
          <p:cNvSpPr txBox="1"/>
          <p:nvPr/>
        </p:nvSpPr>
        <p:spPr>
          <a:xfrm>
            <a:off x="-152400" y="78191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13722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AC84E-0F8E-575C-7ECD-4904423C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E9D36E-6BF5-3CB9-6442-CC84D8DE801E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FA0299-68A9-E20C-2966-7CC9E39B5440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9ED070F-A40B-4576-8990-F4F6B722DDF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78BE8E1-0188-53AC-97A5-40F95A40E8C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DDACDE8-1C98-3562-2B37-DAF47EB520A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0788983-AEC4-2773-5C26-07BDC25F59C0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24CABD7-1849-292C-8AB7-8542122DE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2994333"/>
            <a:ext cx="8954060" cy="56429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88EB6B-BED6-9030-2A6A-4A19A5DB093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040675D-1515-9C21-71C3-0FC567419E09}"/>
              </a:ext>
            </a:extLst>
          </p:cNvPr>
          <p:cNvSpPr txBox="1"/>
          <p:nvPr/>
        </p:nvSpPr>
        <p:spPr>
          <a:xfrm>
            <a:off x="13963650" y="3786499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tablita</a:t>
            </a:r>
          </a:p>
        </p:txBody>
      </p:sp>
    </p:spTree>
    <p:extLst>
      <p:ext uri="{BB962C8B-B14F-4D97-AF65-F5344CB8AC3E}">
        <p14:creationId xmlns:p14="http://schemas.microsoft.com/office/powerpoint/2010/main" val="198687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4621D-FBDC-C6F1-DF32-9586C9D7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2546D0-9123-E59F-2592-4FAF0496610C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9CE1E35-365A-EF25-55AD-E1D26747582A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C2BA5AD-E77B-AF4B-DD6B-7D2CF760EF1B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223441E-A1AE-E3D9-0F40-F01AE9D023A6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D1DAE13-C1C7-5E4E-DB62-306B4D3EB27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B94063F-75F8-9982-54AF-B41D94AA0DAB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53EEED1-DC71-B5C9-ED98-BAE3222DB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007832"/>
            <a:ext cx="8954060" cy="564299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4030846-C4E0-6E91-50EC-80D74970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5200" y="4839132"/>
            <a:ext cx="7162800" cy="544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348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63215-26A2-D911-53DA-5C69611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0A4-3A4D-56F0-CB54-67B5D6BE0101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E5D1739-C475-B196-136A-64E457B730A5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58CD4C-21E0-D16D-FF81-EBD17EB142E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8908C46-9E74-E88B-B0D3-8B5FC5E9746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CDDACEF-0E9D-5841-0AE9-3A79DD462306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76EA6BD8-5F0D-DD79-6683-7E76AEFEC41E}"/>
              </a:ext>
            </a:extLst>
          </p:cNvPr>
          <p:cNvSpPr/>
          <p:nvPr/>
        </p:nvSpPr>
        <p:spPr>
          <a:xfrm>
            <a:off x="13258800" y="1485900"/>
            <a:ext cx="40005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9487F3-EB1E-C1E1-03DF-1215D160A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3289"/>
            <a:ext cx="6477000" cy="525795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9ABFCBC-F347-FFD8-BB3F-D06DD3919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705" y="3027951"/>
            <a:ext cx="10700108" cy="551313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155285A-4740-BED4-27B7-CE958F3F4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225" y="5290041"/>
            <a:ext cx="6012374" cy="473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372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DDE9-3898-3161-FC1A-515B70DEB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1656CB-4CFB-ED7A-82BA-C01285F4CDA3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58EE42F-E003-42EA-5B7C-3DA32D05EB1E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8C02EA5-56D1-BBA6-67F3-6BDF0B1BDA9D}"/>
              </a:ext>
            </a:extLst>
          </p:cNvPr>
          <p:cNvGrpSpPr/>
          <p:nvPr/>
        </p:nvGrpSpPr>
        <p:grpSpPr>
          <a:xfrm>
            <a:off x="-31711" y="2561029"/>
            <a:ext cx="18351422" cy="6198979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CE64299-CBB8-8378-F641-A640E56A4B05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FE2CD94-4692-B998-3DEB-76A186E792F7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45E71597-E611-1140-3C6F-BB58A8499713}"/>
              </a:ext>
            </a:extLst>
          </p:cNvPr>
          <p:cNvSpPr txBox="1"/>
          <p:nvPr/>
        </p:nvSpPr>
        <p:spPr>
          <a:xfrm>
            <a:off x="1447255" y="6773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10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Demostración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0EB81-0A7F-B764-3787-D9AF1C7D2F02}"/>
              </a:ext>
            </a:extLst>
          </p:cNvPr>
          <p:cNvSpPr txBox="1"/>
          <p:nvPr/>
        </p:nvSpPr>
        <p:spPr>
          <a:xfrm>
            <a:off x="-63422" y="63288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756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3491" y="0"/>
            <a:ext cx="8714509" cy="10287000"/>
            <a:chOff x="0" y="0"/>
            <a:chExt cx="2576410" cy="32554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3971925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6"/>
          <p:cNvSpPr txBox="1"/>
          <p:nvPr/>
        </p:nvSpPr>
        <p:spPr>
          <a:xfrm>
            <a:off x="3710312" y="4277879"/>
            <a:ext cx="3955526" cy="3708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Lorem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ipsum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dolor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consectetur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adipiscing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netus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nulla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non magna in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fermentum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faucibus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iaculis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sociosqu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hac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46555" y="3230384"/>
            <a:ext cx="3283039" cy="51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b="1" noProof="0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HIPÓTESIS A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672391" y="2311392"/>
            <a:ext cx="4995493" cy="5943600"/>
            <a:chOff x="0" y="0"/>
            <a:chExt cx="1113050" cy="10134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13050" cy="1013437"/>
            </a:xfrm>
            <a:custGeom>
              <a:avLst/>
              <a:gdLst/>
              <a:ahLst/>
              <a:cxnLst/>
              <a:rect l="l" t="t" r="r" b="b"/>
              <a:pathLst>
                <a:path w="1113050" h="1013437">
                  <a:moveTo>
                    <a:pt x="0" y="0"/>
                  </a:moveTo>
                  <a:lnTo>
                    <a:pt x="1113050" y="0"/>
                  </a:lnTo>
                  <a:lnTo>
                    <a:pt x="1113050" y="1013437"/>
                  </a:lnTo>
                  <a:lnTo>
                    <a:pt x="0" y="1013437"/>
                  </a:lnTo>
                  <a:close/>
                </a:path>
              </a:pathLst>
            </a:custGeom>
            <a:blipFill>
              <a:blip r:embed="rId3"/>
              <a:stretch>
                <a:fillRect l="-18287" r="-18287"/>
              </a:stretch>
            </a:blipFill>
          </p:spPr>
          <p:txBody>
            <a:bodyPr/>
            <a:lstStyle/>
            <a:p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15523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del tiempo en un proyecto creativo se dedica a la fase de exploración e ideación.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1423" y="1203152"/>
            <a:ext cx="7184389" cy="85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11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  <a:endParaRPr lang="es-ES" sz="7034" u="none" strike="noStrike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30%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5E421C1-742F-E218-ACBC-5307D8AEBF7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010150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782308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760862" y="2696707"/>
            <a:ext cx="3955526" cy="382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Lorem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ipsum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dolor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sit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consectetur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adipiscing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elit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diam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netus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nulla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dis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, non magna in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fermentum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faucibus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iaculis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sociosqu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hac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per.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02959" y="2237944"/>
            <a:ext cx="3283039" cy="51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b="1" noProof="0" dirty="0">
                <a:solidFill>
                  <a:schemeClr val="tx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HIPÓTESIS A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5715000" y="2716878"/>
            <a:ext cx="2498089" cy="3827157"/>
            <a:chOff x="0" y="0"/>
            <a:chExt cx="1113050" cy="10134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13050" cy="1013437"/>
            </a:xfrm>
            <a:custGeom>
              <a:avLst/>
              <a:gdLst/>
              <a:ahLst/>
              <a:cxnLst/>
              <a:rect l="l" t="t" r="r" b="b"/>
              <a:pathLst>
                <a:path w="1113050" h="1013437">
                  <a:moveTo>
                    <a:pt x="0" y="0"/>
                  </a:moveTo>
                  <a:lnTo>
                    <a:pt x="1113050" y="0"/>
                  </a:lnTo>
                  <a:lnTo>
                    <a:pt x="1113050" y="1013437"/>
                  </a:lnTo>
                  <a:lnTo>
                    <a:pt x="0" y="1013437"/>
                  </a:lnTo>
                  <a:close/>
                </a:path>
              </a:pathLst>
            </a:custGeom>
            <a:blipFill>
              <a:blip r:embed="rId3"/>
              <a:stretch>
                <a:fillRect l="-18599" r="-18599"/>
              </a:stretch>
            </a:blipFill>
          </p:spPr>
          <p:txBody>
            <a:bodyPr/>
            <a:lstStyle/>
            <a:p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9928" y="876260"/>
            <a:ext cx="6612922" cy="1154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03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12</a:t>
            </a:r>
            <a:r>
              <a:rPr lang="es-ES" sz="703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Líneas futuras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17%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33842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 las ideas generadas en una sesión creativa llegan a convertirse en un proyecto real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F256A27D-0466-32A4-84E0-2EE8E666975A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/>
          <p:cNvSpPr/>
          <p:nvPr/>
        </p:nvSpPr>
        <p:spPr>
          <a:xfrm>
            <a:off x="-63422" y="7801886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/>
          <p:cNvGrpSpPr/>
          <p:nvPr/>
        </p:nvGrpSpPr>
        <p:grpSpPr>
          <a:xfrm>
            <a:off x="-63422" y="2561029"/>
            <a:ext cx="18351422" cy="5684517"/>
            <a:chOff x="0" y="0"/>
            <a:chExt cx="5186228" cy="149715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677" y="408220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Muchas gracias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38472" y="6515940"/>
            <a:ext cx="6011057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s-ES" sz="4696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su atención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9D1A4-5D68-5411-EF4D-415224C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646DA72-C272-CD28-1414-68ADA018CB95}"/>
              </a:ext>
            </a:extLst>
          </p:cNvPr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61B59A-AA06-D9C8-1C72-9761F3152F67}"/>
              </a:ext>
            </a:extLst>
          </p:cNvPr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E8DC5F-EEC2-56B0-B31B-E364BA1561F2}"/>
              </a:ext>
            </a:extLst>
          </p:cNvPr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8D349B3-D5A0-7D00-0F6D-E6ED553C3D78}"/>
              </a:ext>
            </a:extLst>
          </p:cNvPr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6D58AB1-2375-0937-03FD-4B05251CBCA7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A4177D0-0C4A-57B8-8A02-C0C009E838EE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>
            <a:extLst>
              <a:ext uri="{FF2B5EF4-FFF2-40B4-BE49-F238E27FC236}">
                <a16:creationId xmlns:a16="http://schemas.microsoft.com/office/drawing/2014/main" id="{196E5196-A73B-3363-9536-968FE7022AFB}"/>
              </a:ext>
            </a:extLst>
          </p:cNvPr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05C34ED-1F92-E68D-5138-0FB28176D74E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D63B92-6563-66D5-1C17-98191BEA315D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395A38A6-57BA-EE7A-3007-A46B4A1C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CE0CCCB9-8481-D4E5-AD6A-669F7938EB61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  <p:extLst>
      <p:ext uri="{BB962C8B-B14F-4D97-AF65-F5344CB8AC3E}">
        <p14:creationId xmlns:p14="http://schemas.microsoft.com/office/powerpoint/2010/main" val="240249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658</Words>
  <Application>Microsoft Office PowerPoint</Application>
  <PresentationFormat>Personalizado</PresentationFormat>
  <Paragraphs>156</Paragraphs>
  <Slides>19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8" baseType="lpstr">
      <vt:lpstr>Open Sans Bold Italics</vt:lpstr>
      <vt:lpstr>Playfair Display</vt:lpstr>
      <vt:lpstr>Open Sans</vt:lpstr>
      <vt:lpstr>Arial</vt:lpstr>
      <vt:lpstr>Calibri</vt:lpstr>
      <vt:lpstr>Roboto Condensed</vt:lpstr>
      <vt:lpstr>Aptos</vt:lpstr>
      <vt:lpstr>Open Sans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Trabajo Final Tesis Profesional Moderna Sencilla Azul </dc:title>
  <cp:lastModifiedBy>David Solero Chicano</cp:lastModifiedBy>
  <cp:revision>30</cp:revision>
  <dcterms:created xsi:type="dcterms:W3CDTF">2006-08-16T00:00:00Z</dcterms:created>
  <dcterms:modified xsi:type="dcterms:W3CDTF">2026-06-23T20:30:01Z</dcterms:modified>
  <dc:identifier>DAHLam64Q-M</dc:identifier>
</cp:coreProperties>
</file>