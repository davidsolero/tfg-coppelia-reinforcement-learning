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lXDC4H_93laV1_eHHFT949fUipzkiFOBH3fAiZZUCdYojwUyX2aTonS1aIwMrx6NUIsHfUHSLzjGJFxxj7kCzMIlSC20SNjaJf9GmESvWFqgy6FNrwzWSIu2lzePyWSz8zg09RAX43OFexidzEE3_7l3auaKk4w9ktJdqg-&amp;format=source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62" r:id="rId5"/>
    <p:sldId id="278" r:id="rId6"/>
    <p:sldId id="260" r:id="rId7"/>
    <p:sldId id="274" r:id="rId8"/>
    <p:sldId id="263" r:id="rId9"/>
    <p:sldId id="276" r:id="rId10"/>
    <p:sldId id="272" r:id="rId11"/>
    <p:sldId id="277" r:id="rId12"/>
    <p:sldId id="279" r:id="rId13"/>
    <p:sldId id="271" r:id="rId14"/>
    <p:sldId id="280" r:id="rId15"/>
    <p:sldId id="273" r:id="rId16"/>
    <p:sldId id="281" r:id="rId17"/>
    <p:sldId id="275" r:id="rId18"/>
    <p:sldId id="265" r:id="rId19"/>
    <p:sldId id="266" r:id="rId20"/>
    <p:sldId id="269" r:id="rId21"/>
    <p:sldId id="270" r:id="rId22"/>
  </p:sldIdLst>
  <p:sldSz cx="18288000" cy="10287000"/>
  <p:notesSz cx="6858000" cy="9144000"/>
  <p:embeddedFontLst>
    <p:embeddedFont>
      <p:font typeface="Open Sans" panose="020B0606030504020204" pitchFamily="34" charset="0"/>
      <p:regular r:id="rId24"/>
      <p:bold r:id="rId25"/>
      <p:italic r:id="rId26"/>
      <p:boldItalic r:id="rId27"/>
    </p:embeddedFont>
    <p:embeddedFont>
      <p:font typeface="Open Sans Bold" panose="020B0806030504020204" charset="0"/>
      <p:regular r:id="rId28"/>
    </p:embeddedFont>
    <p:embeddedFont>
      <p:font typeface="Open Sans Bold Italics" panose="020B0604020202020204" charset="0"/>
      <p:regular r:id="rId29"/>
    </p:embeddedFont>
    <p:embeddedFont>
      <p:font typeface="Playfair Display" panose="00000500000000000000" pitchFamily="2" charset="0"/>
      <p:regular r:id="rId30"/>
    </p:embeddedFont>
    <p:embeddedFont>
      <p:font typeface="Roboto Condensed" panose="02000000000000000000" pitchFamily="2" charset="0"/>
      <p:regular r:id="rId31"/>
      <p:bold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63" autoAdjust="0"/>
    <p:restoredTop sz="94622" autoAdjust="0"/>
  </p:normalViewPr>
  <p:slideViewPr>
    <p:cSldViewPr>
      <p:cViewPr varScale="1">
        <p:scale>
          <a:sx n="71" d="100"/>
          <a:sy n="71" d="100"/>
        </p:scale>
        <p:origin x="79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2FB25D-F884-468F-A70A-BA48D5C74FC7}" type="datetimeFigureOut">
              <a:rPr lang="es-ES" smtClean="0"/>
              <a:t>26/06/2026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68A2CB-74A5-4546-B53C-5D8DBB6BE7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2877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8A2CB-74A5-4546-B53C-5D8DBB6BE761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7833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8A2CB-74A5-4546-B53C-5D8DBB6BE761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7622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8A2CB-74A5-4546-B53C-5D8DBB6BE761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650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8A2CB-74A5-4546-B53C-5D8DBB6BE761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20462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74E03-FDFA-26CD-BF24-AA7B6A6E6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C7456DB-6414-6947-1080-EA05BAE9DA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575308-C169-ADE4-DCC8-E943DA9B1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8F06AB5-E8BF-40D5-9E0F-B9C0D7AAF2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8A2CB-74A5-4546-B53C-5D8DBB6BE761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2742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lXDC4H_93laV1_eHHFT949fUipzkiFOBH3fAiZZUCdYojwUyX2aTonS1aIwMrx6NUIsHfUHSLzjGJFxxj7kCzMIlSC20SNjaJf9GmESvWFqgy6FNrwzWSIu2lzePyWSz8zg09RAX43OFexidzEE3_7l3auaKk4w9ktJdqg-&amp;format=source"/><Relationship Id="rId3" Type="http://schemas.openxmlformats.org/officeDocument/2006/relationships/image" Target="../media/image1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83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767060" y="1047750"/>
            <a:ext cx="649224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" name="TextBox 3"/>
          <p:cNvSpPr txBox="1"/>
          <p:nvPr/>
        </p:nvSpPr>
        <p:spPr>
          <a:xfrm>
            <a:off x="1858688" y="1595126"/>
            <a:ext cx="15667312" cy="4401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lang="es-ES" sz="6600" noProof="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APRENDIZAJE POR REFUERZO </a:t>
            </a:r>
          </a:p>
          <a:p>
            <a:pPr algn="r">
              <a:lnSpc>
                <a:spcPct val="150000"/>
              </a:lnSpc>
            </a:pPr>
            <a:r>
              <a:rPr lang="es-ES" sz="6600" noProof="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PARA EL CONTROL DE ALTO </a:t>
            </a:r>
          </a:p>
          <a:p>
            <a:pPr algn="r">
              <a:lnSpc>
                <a:spcPct val="150000"/>
              </a:lnSpc>
            </a:pPr>
            <a:r>
              <a:rPr lang="es-ES" sz="6600" noProof="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NIVEL DE ROBOTS MÓVILES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77852" y="7146633"/>
            <a:ext cx="10934701" cy="7324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563"/>
              </a:lnSpc>
            </a:pPr>
            <a:r>
              <a:rPr lang="es-ES" sz="6047" noProof="0" dirty="0">
                <a:solidFill>
                  <a:schemeClr val="tx2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Por David Solero Chicano</a:t>
            </a:r>
          </a:p>
        </p:txBody>
      </p:sp>
      <p:grpSp>
        <p:nvGrpSpPr>
          <p:cNvPr id="7" name="Group 7"/>
          <p:cNvGrpSpPr/>
          <p:nvPr/>
        </p:nvGrpSpPr>
        <p:grpSpPr>
          <a:xfrm rot="-5400000">
            <a:off x="-4214157" y="4214155"/>
            <a:ext cx="10287002" cy="1858688"/>
            <a:chOff x="0" y="0"/>
            <a:chExt cx="5186228" cy="9972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186228" cy="997214"/>
            </a:xfrm>
            <a:custGeom>
              <a:avLst/>
              <a:gdLst/>
              <a:ahLst/>
              <a:cxnLst/>
              <a:rect l="l" t="t" r="r" b="b"/>
              <a:pathLst>
                <a:path w="5186228" h="997214">
                  <a:moveTo>
                    <a:pt x="0" y="0"/>
                  </a:moveTo>
                  <a:lnTo>
                    <a:pt x="5186228" y="0"/>
                  </a:lnTo>
                  <a:lnTo>
                    <a:pt x="5186228" y="997214"/>
                  </a:lnTo>
                  <a:lnTo>
                    <a:pt x="0" y="9972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186228" cy="10353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10" name="Freeform 10"/>
          <p:cNvSpPr/>
          <p:nvPr/>
        </p:nvSpPr>
        <p:spPr>
          <a:xfrm rot="5400000">
            <a:off x="-3882315" y="4665083"/>
            <a:ext cx="10525172" cy="956834"/>
          </a:xfrm>
          <a:custGeom>
            <a:avLst/>
            <a:gdLst/>
            <a:ahLst/>
            <a:cxnLst/>
            <a:rect l="l" t="t" r="r" b="b"/>
            <a:pathLst>
              <a:path w="10525172" h="956834">
                <a:moveTo>
                  <a:pt x="0" y="0"/>
                </a:moveTo>
                <a:lnTo>
                  <a:pt x="10525172" y="0"/>
                </a:lnTo>
                <a:lnTo>
                  <a:pt x="10525172" y="956834"/>
                </a:lnTo>
                <a:lnTo>
                  <a:pt x="0" y="956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24400D64-A2C9-5ABB-20D6-BBBA10C756E5}"/>
              </a:ext>
            </a:extLst>
          </p:cNvPr>
          <p:cNvSpPr txBox="1"/>
          <p:nvPr/>
        </p:nvSpPr>
        <p:spPr>
          <a:xfrm>
            <a:off x="-990600" y="528581"/>
            <a:ext cx="10934701" cy="7324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563"/>
              </a:lnSpc>
            </a:pPr>
            <a:r>
              <a:rPr lang="es-ES" sz="4800" noProof="0" dirty="0">
                <a:solidFill>
                  <a:schemeClr val="tx2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Grado en Ingeniería informática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579909B-3389-B174-E0D5-7337C2B92B64}"/>
              </a:ext>
            </a:extLst>
          </p:cNvPr>
          <p:cNvSpPr/>
          <p:nvPr/>
        </p:nvSpPr>
        <p:spPr>
          <a:xfrm>
            <a:off x="2396197" y="7962900"/>
            <a:ext cx="3242603" cy="1797776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1" name="Imagen 10" descr="SERVICIO DE COMUNICACIÓN - Marcas Oficiales - Universidad de Málaga">
            <a:extLst>
              <a:ext uri="{FF2B5EF4-FFF2-40B4-BE49-F238E27FC236}">
                <a16:creationId xmlns:a16="http://schemas.microsoft.com/office/drawing/2014/main" id="{E3FB8202-5B9E-EB0D-1AB8-2BB379A5B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906" y="8306102"/>
            <a:ext cx="2907184" cy="1111371"/>
          </a:xfrm>
          <a:prstGeom prst="rect">
            <a:avLst/>
          </a:prstGeom>
        </p:spPr>
      </p:pic>
      <p:sp>
        <p:nvSpPr>
          <p:cNvPr id="13" name="TextBox 4">
            <a:extLst>
              <a:ext uri="{FF2B5EF4-FFF2-40B4-BE49-F238E27FC236}">
                <a16:creationId xmlns:a16="http://schemas.microsoft.com/office/drawing/2014/main" id="{A80B6589-2FA9-AD30-382D-8CE1C1EFC47D}"/>
              </a:ext>
            </a:extLst>
          </p:cNvPr>
          <p:cNvSpPr txBox="1"/>
          <p:nvPr/>
        </p:nvSpPr>
        <p:spPr>
          <a:xfrm>
            <a:off x="6591299" y="8381939"/>
            <a:ext cx="10934701" cy="1436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563"/>
              </a:lnSpc>
            </a:pPr>
            <a:r>
              <a:rPr lang="es-ES" sz="4400" dirty="0">
                <a:solidFill>
                  <a:schemeClr val="tx2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Tutorizado por</a:t>
            </a:r>
            <a:r>
              <a:rPr lang="es-ES" sz="4400" noProof="0" dirty="0">
                <a:solidFill>
                  <a:schemeClr val="tx2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 Ana María Cruz Martín y </a:t>
            </a:r>
          </a:p>
          <a:p>
            <a:pPr algn="r">
              <a:lnSpc>
                <a:spcPts val="5563"/>
              </a:lnSpc>
            </a:pPr>
            <a:r>
              <a:rPr lang="es-ES" sz="4400" noProof="0" dirty="0">
                <a:solidFill>
                  <a:schemeClr val="tx2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Juan Antonio Fernández Madrigal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8A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3972939" y="4784169"/>
            <a:ext cx="10525172" cy="956834"/>
          </a:xfrm>
          <a:custGeom>
            <a:avLst/>
            <a:gdLst/>
            <a:ahLst/>
            <a:cxnLst/>
            <a:rect l="l" t="t" r="r" b="b"/>
            <a:pathLst>
              <a:path w="10525172" h="956834">
                <a:moveTo>
                  <a:pt x="0" y="0"/>
                </a:moveTo>
                <a:lnTo>
                  <a:pt x="10525172" y="0"/>
                </a:lnTo>
                <a:lnTo>
                  <a:pt x="10525172" y="956834"/>
                </a:lnTo>
                <a:lnTo>
                  <a:pt x="0" y="956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9586635" y="1"/>
            <a:ext cx="8701365" cy="10287000"/>
            <a:chOff x="0" y="0"/>
            <a:chExt cx="2403141" cy="28347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03141" cy="2834790"/>
            </a:xfrm>
            <a:custGeom>
              <a:avLst/>
              <a:gdLst/>
              <a:ahLst/>
              <a:cxnLst/>
              <a:rect l="l" t="t" r="r" b="b"/>
              <a:pathLst>
                <a:path w="2403141" h="2834790">
                  <a:moveTo>
                    <a:pt x="0" y="0"/>
                  </a:moveTo>
                  <a:lnTo>
                    <a:pt x="2403141" y="0"/>
                  </a:lnTo>
                  <a:lnTo>
                    <a:pt x="2403141" y="2834790"/>
                  </a:lnTo>
                  <a:lnTo>
                    <a:pt x="0" y="28347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03141" cy="2872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es-ES" noProof="0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29882" y="2009728"/>
            <a:ext cx="6189026" cy="907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1"/>
              </a:lnSpc>
            </a:pPr>
            <a:r>
              <a:rPr lang="es-ES" sz="8800" noProof="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CONTENIDOS</a:t>
            </a:r>
            <a:endParaRPr lang="es-ES" sz="7034" noProof="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Playfair Display"/>
              <a:sym typeface="Playfair Display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809971" y="477959"/>
            <a:ext cx="8382000" cy="9331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39494" lvl="1" indent="-469747" algn="l">
              <a:lnSpc>
                <a:spcPts val="6092"/>
              </a:lnSpc>
              <a:buAutoNum type="arabicPeriod"/>
            </a:pPr>
            <a:r>
              <a:rPr lang="es-ES" sz="4351" noProof="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Motivación y contexto</a:t>
            </a:r>
          </a:p>
          <a:p>
            <a:pPr marL="939494" lvl="1" indent="-469747" algn="l">
              <a:lnSpc>
                <a:spcPts val="6092"/>
              </a:lnSpc>
              <a:buAutoNum type="arabicPeriod"/>
            </a:pPr>
            <a:r>
              <a:rPr lang="es-ES" sz="4351" noProof="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Objetivos</a:t>
            </a:r>
          </a:p>
          <a:p>
            <a:pPr marL="939494" lvl="1" indent="-469747" algn="l">
              <a:lnSpc>
                <a:spcPts val="6092"/>
              </a:lnSpc>
              <a:buAutoNum type="arabicPeriod"/>
            </a:pPr>
            <a:r>
              <a:rPr lang="es-ES" sz="4351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Tecnologías usadas</a:t>
            </a:r>
            <a:endParaRPr lang="es-ES" sz="4351" noProof="0" dirty="0">
              <a:solidFill>
                <a:srgbClr val="1A216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Playfair Display"/>
              <a:sym typeface="Playfair Display"/>
            </a:endParaRPr>
          </a:p>
          <a:p>
            <a:pPr marL="939494" lvl="1" indent="-469747" algn="l">
              <a:lnSpc>
                <a:spcPts val="6092"/>
              </a:lnSpc>
              <a:buAutoNum type="arabicPeriod"/>
            </a:pPr>
            <a:r>
              <a:rPr lang="es-ES" sz="4351" noProof="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Arquitectura del sistema</a:t>
            </a:r>
          </a:p>
          <a:p>
            <a:pPr marL="939494" lvl="1" indent="-469747" algn="l">
              <a:lnSpc>
                <a:spcPts val="6092"/>
              </a:lnSpc>
              <a:buAutoNum type="arabicPeriod"/>
            </a:pPr>
            <a:r>
              <a:rPr lang="es-ES" sz="4351" noProof="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Definición del problema RL</a:t>
            </a:r>
          </a:p>
          <a:p>
            <a:pPr marL="939494" lvl="1" indent="-469747" algn="l">
              <a:lnSpc>
                <a:spcPts val="6092"/>
              </a:lnSpc>
              <a:buAutoNum type="arabicPeriod"/>
            </a:pPr>
            <a:r>
              <a:rPr lang="es-ES" sz="4351" noProof="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1: recompensa densa</a:t>
            </a:r>
          </a:p>
          <a:p>
            <a:pPr marL="939494" lvl="1" indent="-469747" algn="l">
              <a:lnSpc>
                <a:spcPts val="6092"/>
              </a:lnSpc>
              <a:buAutoNum type="arabicPeriod"/>
            </a:pPr>
            <a:r>
              <a:rPr lang="es-ES" sz="4351" noProof="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2: recompensa dispersa</a:t>
            </a:r>
          </a:p>
          <a:p>
            <a:pPr marL="939494" lvl="1" indent="-469747" algn="l">
              <a:lnSpc>
                <a:spcPts val="6092"/>
              </a:lnSpc>
              <a:buAutoNum type="arabicPeriod"/>
            </a:pPr>
            <a:r>
              <a:rPr lang="es-ES" sz="4351" noProof="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3: acción stop </a:t>
            </a:r>
          </a:p>
          <a:p>
            <a:pPr marL="939494" lvl="1" indent="-469747" algn="l">
              <a:lnSpc>
                <a:spcPts val="6092"/>
              </a:lnSpc>
              <a:buAutoNum type="arabicPeriod"/>
            </a:pPr>
            <a:r>
              <a:rPr lang="es-ES" sz="4351" noProof="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4: información temporal</a:t>
            </a:r>
          </a:p>
          <a:p>
            <a:pPr marL="939494" lvl="1" indent="-469747" algn="l">
              <a:lnSpc>
                <a:spcPts val="6092"/>
              </a:lnSpc>
              <a:buAutoNum type="arabicPeriod"/>
            </a:pPr>
            <a:r>
              <a:rPr lang="es-ES" sz="4351" noProof="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Demostración</a:t>
            </a:r>
          </a:p>
          <a:p>
            <a:pPr marL="939494" lvl="1" indent="-469747" algn="l">
              <a:lnSpc>
                <a:spcPts val="6092"/>
              </a:lnSpc>
              <a:buAutoNum type="arabicPeriod"/>
            </a:pPr>
            <a:r>
              <a:rPr lang="es-ES" sz="4351" noProof="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Conclusiones</a:t>
            </a:r>
          </a:p>
          <a:p>
            <a:pPr marL="939494" lvl="1" indent="-469747" algn="l">
              <a:lnSpc>
                <a:spcPts val="6092"/>
              </a:lnSpc>
              <a:buAutoNum type="arabicPeriod"/>
            </a:pPr>
            <a:r>
              <a:rPr lang="es-ES" sz="4351" noProof="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Líneas futuras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934C1551-5EB8-0A19-9F7C-7B1BBCB43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652" y="3238500"/>
            <a:ext cx="5571486" cy="5981377"/>
          </a:xfrm>
          <a:prstGeom prst="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tx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8A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4712303" y="4784169"/>
            <a:ext cx="10525172" cy="956834"/>
          </a:xfrm>
          <a:custGeom>
            <a:avLst/>
            <a:gdLst/>
            <a:ahLst/>
            <a:cxnLst/>
            <a:rect l="l" t="t" r="r" b="b"/>
            <a:pathLst>
              <a:path w="10525172" h="956834">
                <a:moveTo>
                  <a:pt x="0" y="0"/>
                </a:moveTo>
                <a:lnTo>
                  <a:pt x="10525172" y="0"/>
                </a:lnTo>
                <a:lnTo>
                  <a:pt x="10525172" y="956834"/>
                </a:lnTo>
                <a:lnTo>
                  <a:pt x="0" y="9568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1028701" y="1"/>
            <a:ext cx="17259300" cy="10287000"/>
            <a:chOff x="0" y="0"/>
            <a:chExt cx="4667029" cy="28347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667029" cy="2834790"/>
            </a:xfrm>
            <a:custGeom>
              <a:avLst/>
              <a:gdLst/>
              <a:ahLst/>
              <a:cxnLst/>
              <a:rect l="l" t="t" r="r" b="b"/>
              <a:pathLst>
                <a:path w="4667029" h="2834790">
                  <a:moveTo>
                    <a:pt x="0" y="0"/>
                  </a:moveTo>
                  <a:lnTo>
                    <a:pt x="4667029" y="0"/>
                  </a:lnTo>
                  <a:lnTo>
                    <a:pt x="4667029" y="2834790"/>
                  </a:lnTo>
                  <a:lnTo>
                    <a:pt x="0" y="28347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667029" cy="2872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10767060" y="1028700"/>
            <a:ext cx="736854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9" name="TextBox 9"/>
          <p:cNvSpPr txBox="1"/>
          <p:nvPr/>
        </p:nvSpPr>
        <p:spPr>
          <a:xfrm>
            <a:off x="1150529" y="345008"/>
            <a:ext cx="9494703" cy="2353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484477" lvl="1" indent="-742238">
              <a:lnSpc>
                <a:spcPts val="9626"/>
              </a:lnSpc>
              <a:buFontTx/>
              <a:buAutoNum type="arabicPeriod"/>
            </a:pPr>
            <a:r>
              <a:rPr lang="es-ES" sz="720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Motivación y contexto</a:t>
            </a:r>
          </a:p>
          <a:p>
            <a:pPr marL="1484477" lvl="1" indent="-742238" algn="l">
              <a:lnSpc>
                <a:spcPts val="9626"/>
              </a:lnSpc>
              <a:buAutoNum type="arabicPeriod"/>
            </a:pPr>
            <a:endParaRPr lang="es-ES" sz="6875" noProof="0" dirty="0">
              <a:solidFill>
                <a:srgbClr val="1A216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148170" y="2178139"/>
            <a:ext cx="9299536" cy="10410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64"/>
              </a:lnSpc>
              <a:spcBef>
                <a:spcPct val="0"/>
              </a:spcBef>
            </a:pPr>
            <a:r>
              <a:rPr lang="es-ES" sz="2974" b="1" i="1" noProof="0" dirty="0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¿Cómo decide un robot cuándo patrullar y cuándo recargar?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48170" y="3393669"/>
            <a:ext cx="9053230" cy="3773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Robots móviles en vigilancia, hospitales y almacenes</a:t>
            </a:r>
          </a:p>
          <a:p>
            <a:pPr marL="45720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Decisiones de alto nivel: qué zona visitar, cuándo recargar</a:t>
            </a:r>
          </a:p>
          <a:p>
            <a:pPr marL="45720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Enfoques clásicos: reglas fijas → poca adaptabilidad</a:t>
            </a:r>
          </a:p>
          <a:p>
            <a:pPr marL="45720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774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Aprendizaje por refuerzo: el agente aprende por experiencia</a:t>
            </a: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462A9AFC-AB12-A7B4-6CC5-F775420EB051}"/>
              </a:ext>
            </a:extLst>
          </p:cNvPr>
          <p:cNvSpPr txBox="1"/>
          <p:nvPr/>
        </p:nvSpPr>
        <p:spPr>
          <a:xfrm>
            <a:off x="840899" y="7791691"/>
            <a:ext cx="3574219" cy="21749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Motivación y contexto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Objetivos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Tecnologías usadas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Arquitectura del sistema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Definición del problema RL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1: recompensa densa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246FE023-F543-3CBF-04A0-C23E5E6C9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3087" y="1759324"/>
            <a:ext cx="5149532" cy="78161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8A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Código fuente: qué es, cómo verlo y cómo funciona - La Biznaga Digital">
            <a:extLst>
              <a:ext uri="{FF2B5EF4-FFF2-40B4-BE49-F238E27FC236}">
                <a16:creationId xmlns:a16="http://schemas.microsoft.com/office/drawing/2014/main" id="{AC2641AA-3F03-B0BF-B092-289A7DAE2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403" y="5659096"/>
            <a:ext cx="3073145" cy="23018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Freeform 2"/>
          <p:cNvSpPr/>
          <p:nvPr/>
        </p:nvSpPr>
        <p:spPr>
          <a:xfrm>
            <a:off x="0" y="2375818"/>
            <a:ext cx="18288000" cy="1662545"/>
          </a:xfrm>
          <a:custGeom>
            <a:avLst/>
            <a:gdLst/>
            <a:ahLst/>
            <a:cxnLst/>
            <a:rect l="l" t="t" r="r" b="b"/>
            <a:pathLst>
              <a:path w="18288000" h="1662545">
                <a:moveTo>
                  <a:pt x="0" y="0"/>
                </a:moveTo>
                <a:lnTo>
                  <a:pt x="18288000" y="0"/>
                </a:lnTo>
                <a:lnTo>
                  <a:pt x="18288000" y="1662545"/>
                </a:lnTo>
                <a:lnTo>
                  <a:pt x="0" y="16625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1" y="0"/>
            <a:ext cx="18288000" cy="2377902"/>
            <a:chOff x="0" y="0"/>
            <a:chExt cx="5186228" cy="9972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86228" cy="997214"/>
            </a:xfrm>
            <a:custGeom>
              <a:avLst/>
              <a:gdLst/>
              <a:ahLst/>
              <a:cxnLst/>
              <a:rect l="l" t="t" r="r" b="b"/>
              <a:pathLst>
                <a:path w="5186228" h="997214">
                  <a:moveTo>
                    <a:pt x="0" y="0"/>
                  </a:moveTo>
                  <a:lnTo>
                    <a:pt x="5186228" y="0"/>
                  </a:lnTo>
                  <a:lnTo>
                    <a:pt x="5186228" y="997214"/>
                  </a:lnTo>
                  <a:lnTo>
                    <a:pt x="0" y="9972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186228" cy="10353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876260"/>
            <a:ext cx="7529484" cy="1143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26"/>
              </a:lnSpc>
            </a:pPr>
            <a:r>
              <a:rPr lang="es-ES" sz="720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2</a:t>
            </a:r>
            <a:r>
              <a:rPr lang="es-ES" sz="7200" noProof="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. </a:t>
            </a:r>
            <a:r>
              <a:rPr lang="es-ES" sz="7200" noProof="0" dirty="0" err="1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Ob</a:t>
            </a:r>
            <a:r>
              <a:rPr lang="es-ES" sz="7200" dirty="0" err="1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jetivos</a:t>
            </a:r>
            <a:endParaRPr lang="es-ES" sz="7200" noProof="0" dirty="0">
              <a:solidFill>
                <a:srgbClr val="1A216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Playfair Display"/>
              <a:sym typeface="Playfair Display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D6C4E6A1-3851-AA5C-5989-900BA0D71F8F}"/>
              </a:ext>
            </a:extLst>
          </p:cNvPr>
          <p:cNvSpPr/>
          <p:nvPr/>
        </p:nvSpPr>
        <p:spPr>
          <a:xfrm>
            <a:off x="8458200" y="1601008"/>
            <a:ext cx="8686800" cy="3269509"/>
          </a:xfrm>
          <a:prstGeom prst="roundRect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CA7AA03-E4EC-E6A5-28EF-DE6B23FECEFA}"/>
              </a:ext>
            </a:extLst>
          </p:cNvPr>
          <p:cNvSpPr txBox="1"/>
          <p:nvPr/>
        </p:nvSpPr>
        <p:spPr>
          <a:xfrm>
            <a:off x="9158316" y="1930860"/>
            <a:ext cx="726007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3200" dirty="0">
                <a:solidFill>
                  <a:schemeClr val="tx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Análisis del a</a:t>
            </a:r>
            <a:r>
              <a:rPr lang="es-ES" sz="3200" b="0" i="0" dirty="0">
                <a:solidFill>
                  <a:schemeClr val="tx2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prendizaje de alto nivel para un robot móvil simulado basada en aprendizaje por refuerzo, maximizando la cobertura y gestionando su autonomía.</a:t>
            </a:r>
            <a:endParaRPr lang="es-ES" sz="3200" dirty="0">
              <a:solidFill>
                <a:schemeClr val="tx2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Diagrama de flujo: conector 16">
            <a:extLst>
              <a:ext uri="{FF2B5EF4-FFF2-40B4-BE49-F238E27FC236}">
                <a16:creationId xmlns:a16="http://schemas.microsoft.com/office/drawing/2014/main" id="{643B1AB3-BBDB-F0D1-6609-3B4108634E20}"/>
              </a:ext>
            </a:extLst>
          </p:cNvPr>
          <p:cNvSpPr/>
          <p:nvPr/>
        </p:nvSpPr>
        <p:spPr>
          <a:xfrm>
            <a:off x="16418396" y="778055"/>
            <a:ext cx="1426720" cy="1434764"/>
          </a:xfrm>
          <a:prstGeom prst="flowChartConnector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4800" dirty="0">
                <a:solidFill>
                  <a:schemeClr val="tx2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1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C46CFFF6-EAF2-7995-ADA0-0CEDDA8EB6F7}"/>
              </a:ext>
            </a:extLst>
          </p:cNvPr>
          <p:cNvSpPr/>
          <p:nvPr/>
        </p:nvSpPr>
        <p:spPr>
          <a:xfrm>
            <a:off x="8458200" y="6163200"/>
            <a:ext cx="8686800" cy="3595508"/>
          </a:xfrm>
          <a:prstGeom prst="roundRect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8F5B45A3-AE88-B7C6-6FAE-013522AE362E}"/>
              </a:ext>
            </a:extLst>
          </p:cNvPr>
          <p:cNvSpPr txBox="1"/>
          <p:nvPr/>
        </p:nvSpPr>
        <p:spPr>
          <a:xfrm>
            <a:off x="8895229" y="6489199"/>
            <a:ext cx="81534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tx2">
                    <a:lumMod val="50000"/>
                  </a:schemeClr>
                </a:solidFill>
                <a:latin typeface="Open Sans Bold" panose="020B0806030504020204" charset="0"/>
                <a:ea typeface="Open Sans Bold" panose="020B0806030504020204" charset="0"/>
                <a:cs typeface="Open Sans Bold" panose="020B0806030504020204" charset="0"/>
              </a:rPr>
              <a:t>Diseño del entorno en CoppeliaSim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tx2">
                    <a:lumMod val="50000"/>
                  </a:schemeClr>
                </a:solidFill>
                <a:latin typeface="Open Sans Bold" panose="020B0806030504020204" charset="0"/>
                <a:ea typeface="Open Sans Bold" panose="020B0806030504020204" charset="0"/>
                <a:cs typeface="Open Sans Bold" panose="020B0806030504020204" charset="0"/>
              </a:rPr>
              <a:t>Integración con Python y ZeroMQ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tx2">
                    <a:lumMod val="50000"/>
                  </a:schemeClr>
                </a:solidFill>
                <a:latin typeface="Open Sans Bold" panose="020B0806030504020204" charset="0"/>
                <a:ea typeface="Open Sans Bold" panose="020B0806030504020204" charset="0"/>
                <a:cs typeface="Open Sans Bold" panose="020B0806030504020204" charset="0"/>
              </a:rPr>
              <a:t>Definición del problema como entorno Gymnasium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tx2">
                    <a:lumMod val="50000"/>
                  </a:schemeClr>
                </a:solidFill>
                <a:latin typeface="Open Sans Bold" panose="020B0806030504020204" charset="0"/>
                <a:ea typeface="Open Sans Bold" panose="020B0806030504020204" charset="0"/>
                <a:cs typeface="Open Sans Bold" panose="020B0806030504020204" charset="0"/>
              </a:rPr>
              <a:t>Entrenamiento y evaluación con PPO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tx2">
                    <a:lumMod val="50000"/>
                  </a:schemeClr>
                </a:solidFill>
                <a:latin typeface="Open Sans Bold" panose="020B0806030504020204" charset="0"/>
                <a:ea typeface="Open Sans Bold" panose="020B0806030504020204" charset="0"/>
                <a:cs typeface="Open Sans Bold" panose="020B0806030504020204" charset="0"/>
              </a:rPr>
              <a:t>Estudio del efecto de información temporal</a:t>
            </a:r>
          </a:p>
        </p:txBody>
      </p:sp>
      <p:sp>
        <p:nvSpPr>
          <p:cNvPr id="35" name="Diagrama de flujo: conector 34">
            <a:extLst>
              <a:ext uri="{FF2B5EF4-FFF2-40B4-BE49-F238E27FC236}">
                <a16:creationId xmlns:a16="http://schemas.microsoft.com/office/drawing/2014/main" id="{C01D61BD-ABAC-A661-5866-3072081F782E}"/>
              </a:ext>
            </a:extLst>
          </p:cNvPr>
          <p:cNvSpPr/>
          <p:nvPr/>
        </p:nvSpPr>
        <p:spPr>
          <a:xfrm>
            <a:off x="16099279" y="5647410"/>
            <a:ext cx="1479273" cy="1487613"/>
          </a:xfrm>
          <a:prstGeom prst="flowChartConnector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4800" dirty="0">
                <a:solidFill>
                  <a:schemeClr val="tx2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2</a:t>
            </a:r>
          </a:p>
        </p:txBody>
      </p:sp>
      <p:sp>
        <p:nvSpPr>
          <p:cNvPr id="37" name="TextBox 9">
            <a:extLst>
              <a:ext uri="{FF2B5EF4-FFF2-40B4-BE49-F238E27FC236}">
                <a16:creationId xmlns:a16="http://schemas.microsoft.com/office/drawing/2014/main" id="{CFD1EE64-692F-D1A8-1CF4-C62BFF012B3E}"/>
              </a:ext>
            </a:extLst>
          </p:cNvPr>
          <p:cNvSpPr txBox="1"/>
          <p:nvPr/>
        </p:nvSpPr>
        <p:spPr>
          <a:xfrm>
            <a:off x="0" y="7734300"/>
            <a:ext cx="3962400" cy="21749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bg1">
                    <a:lumMod val="8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Motivación y contexto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Objetivos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bg1">
                    <a:lumMod val="8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Tecnologías usadas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bg1">
                    <a:lumMod val="8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Arquitectura del sistema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bg1">
                    <a:lumMod val="8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Definición del problema RL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bg1">
                    <a:lumMod val="8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1: recompensa densa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FF11371-1C2C-4A3B-1DA9-62FDDBC88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6647" y="2778646"/>
            <a:ext cx="5731738" cy="290749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AA2A316-2CBD-F5C9-97E7-541146EBF1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8652" y="4437143"/>
            <a:ext cx="3304798" cy="26146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50A41-6546-8A25-ACA1-CF3E4A46A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5A1C020-4BEC-26A2-92C2-0845AABDFDB6}"/>
              </a:ext>
            </a:extLst>
          </p:cNvPr>
          <p:cNvSpPr/>
          <p:nvPr/>
        </p:nvSpPr>
        <p:spPr>
          <a:xfrm rot="-10800000">
            <a:off x="0" y="1420722"/>
            <a:ext cx="18288000" cy="1662545"/>
          </a:xfrm>
          <a:custGeom>
            <a:avLst/>
            <a:gdLst/>
            <a:ahLst/>
            <a:cxnLst/>
            <a:rect l="l" t="t" r="r" b="b"/>
            <a:pathLst>
              <a:path w="18288000" h="1662545">
                <a:moveTo>
                  <a:pt x="0" y="0"/>
                </a:moveTo>
                <a:lnTo>
                  <a:pt x="18288000" y="0"/>
                </a:lnTo>
                <a:lnTo>
                  <a:pt x="18288000" y="1662545"/>
                </a:lnTo>
                <a:lnTo>
                  <a:pt x="0" y="16625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C64070C-BD46-1EFB-5597-BF35D2ACB200}"/>
              </a:ext>
            </a:extLst>
          </p:cNvPr>
          <p:cNvSpPr/>
          <p:nvPr/>
        </p:nvSpPr>
        <p:spPr>
          <a:xfrm>
            <a:off x="-31711" y="8760008"/>
            <a:ext cx="18288000" cy="1662545"/>
          </a:xfrm>
          <a:custGeom>
            <a:avLst/>
            <a:gdLst/>
            <a:ahLst/>
            <a:cxnLst/>
            <a:rect l="l" t="t" r="r" b="b"/>
            <a:pathLst>
              <a:path w="18288000" h="1662545">
                <a:moveTo>
                  <a:pt x="0" y="0"/>
                </a:moveTo>
                <a:lnTo>
                  <a:pt x="18288000" y="0"/>
                </a:lnTo>
                <a:lnTo>
                  <a:pt x="18288000" y="1662546"/>
                </a:lnTo>
                <a:lnTo>
                  <a:pt x="0" y="1662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C209AAE-1DF3-41BA-5C42-C2A5AB0D5E60}"/>
              </a:ext>
            </a:extLst>
          </p:cNvPr>
          <p:cNvGrpSpPr/>
          <p:nvPr/>
        </p:nvGrpSpPr>
        <p:grpSpPr>
          <a:xfrm>
            <a:off x="-63422" y="2561029"/>
            <a:ext cx="18351422" cy="8221271"/>
            <a:chOff x="0" y="0"/>
            <a:chExt cx="5186228" cy="1497157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2795CF5-ADEE-3D32-6B39-0ACA223825E7}"/>
                </a:ext>
              </a:extLst>
            </p:cNvPr>
            <p:cNvSpPr/>
            <p:nvPr/>
          </p:nvSpPr>
          <p:spPr>
            <a:xfrm>
              <a:off x="0" y="0"/>
              <a:ext cx="5186228" cy="1497157"/>
            </a:xfrm>
            <a:custGeom>
              <a:avLst/>
              <a:gdLst/>
              <a:ahLst/>
              <a:cxnLst/>
              <a:rect l="l" t="t" r="r" b="b"/>
              <a:pathLst>
                <a:path w="5186228" h="1497157">
                  <a:moveTo>
                    <a:pt x="0" y="0"/>
                  </a:moveTo>
                  <a:lnTo>
                    <a:pt x="5186228" y="0"/>
                  </a:lnTo>
                  <a:lnTo>
                    <a:pt x="5186228" y="1497157"/>
                  </a:lnTo>
                  <a:lnTo>
                    <a:pt x="0" y="1497157"/>
                  </a:lnTo>
                  <a:close/>
                </a:path>
              </a:pathLst>
            </a:custGeom>
            <a:solidFill>
              <a:srgbClr val="4F83B3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509A97F-EB3A-995D-983B-E106E99AA826}"/>
                </a:ext>
              </a:extLst>
            </p:cNvPr>
            <p:cNvSpPr txBox="1"/>
            <p:nvPr/>
          </p:nvSpPr>
          <p:spPr>
            <a:xfrm>
              <a:off x="0" y="-38100"/>
              <a:ext cx="5186228" cy="15352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F43E0387-1302-B84E-B141-6AE31D8E3D4A}"/>
              </a:ext>
            </a:extLst>
          </p:cNvPr>
          <p:cNvSpPr txBox="1"/>
          <p:nvPr/>
        </p:nvSpPr>
        <p:spPr>
          <a:xfrm>
            <a:off x="0" y="67736"/>
            <a:ext cx="17983199" cy="19877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523"/>
              </a:lnSpc>
            </a:pPr>
            <a:r>
              <a:rPr lang="es-ES" sz="14000" dirty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 Bold"/>
                <a:sym typeface="Playfair Display Bold"/>
              </a:rPr>
              <a:t>3</a:t>
            </a:r>
            <a:r>
              <a:rPr lang="es-ES" sz="14000" noProof="0" dirty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 Bold"/>
                <a:sym typeface="Playfair Display Bold"/>
              </a:rPr>
              <a:t>. Tecnologías usadas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252863F-4330-8584-0428-AB07189B4C66}"/>
              </a:ext>
            </a:extLst>
          </p:cNvPr>
          <p:cNvSpPr txBox="1"/>
          <p:nvPr/>
        </p:nvSpPr>
        <p:spPr>
          <a:xfrm>
            <a:off x="0" y="7734300"/>
            <a:ext cx="3962400" cy="21749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bg1">
                    <a:lumMod val="8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Motivación y contexto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bg1">
                    <a:lumMod val="8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Objetivos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Tecnologías usadas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bg1">
                    <a:lumMod val="8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Arquitectura del sistema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bg1">
                    <a:lumMod val="8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Definición del problema RL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bg1">
                    <a:lumMod val="8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1: recompensa densa</a:t>
            </a:r>
          </a:p>
        </p:txBody>
      </p:sp>
      <p:pic>
        <p:nvPicPr>
          <p:cNvPr id="8" name="Imagen 7" descr="Documents_on_github">
            <a:extLst>
              <a:ext uri="{FF2B5EF4-FFF2-40B4-BE49-F238E27FC236}">
                <a16:creationId xmlns:a16="http://schemas.microsoft.com/office/drawing/2014/main" id="{8CAA2E01-CF5C-BA26-1CA1-DD7AAE158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91" y="3568033"/>
            <a:ext cx="2887196" cy="1624048"/>
          </a:xfrm>
          <a:prstGeom prst="rect">
            <a:avLst/>
          </a:prstGeom>
        </p:spPr>
      </p:pic>
      <p:pic>
        <p:nvPicPr>
          <p:cNvPr id="11" name="Imagen 10" descr="VReP desktop file for Ubuntu. Logo (icon) from their twitter handle  @coppeliaRobotic · GitHub">
            <a:extLst>
              <a:ext uri="{FF2B5EF4-FFF2-40B4-BE49-F238E27FC236}">
                <a16:creationId xmlns:a16="http://schemas.microsoft.com/office/drawing/2014/main" id="{6D24E4CC-6783-DBD5-5E99-29BB978DE6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11400" y="5128585"/>
            <a:ext cx="1715975" cy="1624048"/>
          </a:xfrm>
          <a:prstGeom prst="rect">
            <a:avLst/>
          </a:prstGeom>
        </p:spPr>
      </p:pic>
      <p:pic>
        <p:nvPicPr>
          <p:cNvPr id="12" name="Imagen 11" descr="Python (programming language) - Wikipedia">
            <a:extLst>
              <a:ext uri="{FF2B5EF4-FFF2-40B4-BE49-F238E27FC236}">
                <a16:creationId xmlns:a16="http://schemas.microsoft.com/office/drawing/2014/main" id="{4D459503-4C21-03FE-5696-B093F8B5F3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9782" y="3423941"/>
            <a:ext cx="1409700" cy="1409700"/>
          </a:xfrm>
          <a:prstGeom prst="rect">
            <a:avLst/>
          </a:prstGeom>
        </p:spPr>
      </p:pic>
      <p:pic>
        <p:nvPicPr>
          <p:cNvPr id="13" name="Gráfico 12" descr="Lua - Wikipedia, la enciclopedia libre">
            <a:extLst>
              <a:ext uri="{FF2B5EF4-FFF2-40B4-BE49-F238E27FC236}">
                <a16:creationId xmlns:a16="http://schemas.microsoft.com/office/drawing/2014/main" id="{AFE2CFEA-F607-CAE2-4B55-5A7A2BE289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52765" y="5307876"/>
            <a:ext cx="1715975" cy="1715975"/>
          </a:xfrm>
          <a:prstGeom prst="rect">
            <a:avLst/>
          </a:prstGeom>
        </p:spPr>
      </p:pic>
      <p:pic>
        <p:nvPicPr>
          <p:cNvPr id="14" name="Imagen 13" descr="Visual Studio Code - Descargar e instalar en Windows | Microsoft Store">
            <a:extLst>
              <a:ext uri="{FF2B5EF4-FFF2-40B4-BE49-F238E27FC236}">
                <a16:creationId xmlns:a16="http://schemas.microsoft.com/office/drawing/2014/main" id="{4BF768BA-5823-D0B8-F35D-D54955943A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7633" y="5105017"/>
            <a:ext cx="1524000" cy="1524000"/>
          </a:xfrm>
          <a:prstGeom prst="rect">
            <a:avLst/>
          </a:prstGeom>
        </p:spPr>
      </p:pic>
      <p:pic>
        <p:nvPicPr>
          <p:cNvPr id="15" name="Imagen 14" descr="Stable-Baselines3 Docs - Reliable Reinforcement Learning Implementations —  Stable Baselines3 2.9.0 documentation">
            <a:extLst>
              <a:ext uri="{FF2B5EF4-FFF2-40B4-BE49-F238E27FC236}">
                <a16:creationId xmlns:a16="http://schemas.microsoft.com/office/drawing/2014/main" id="{DF208B49-6599-F4D9-B795-9695FE7742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49495" y="4511058"/>
            <a:ext cx="2702297" cy="2355736"/>
          </a:xfrm>
          <a:prstGeom prst="rect">
            <a:avLst/>
          </a:prstGeom>
        </p:spPr>
      </p:pic>
      <p:pic>
        <p:nvPicPr>
          <p:cNvPr id="16" name="Imagen 15" descr="File:Pytorch logo.png - Wikimedia Commons">
            <a:extLst>
              <a:ext uri="{FF2B5EF4-FFF2-40B4-BE49-F238E27FC236}">
                <a16:creationId xmlns:a16="http://schemas.microsoft.com/office/drawing/2014/main" id="{3D61457C-98A0-B87C-9DD0-140FB40FBD7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00643" y="3416261"/>
            <a:ext cx="3109520" cy="767602"/>
          </a:xfrm>
          <a:prstGeom prst="rect">
            <a:avLst/>
          </a:prstGeom>
        </p:spPr>
      </p:pic>
      <p:pic>
        <p:nvPicPr>
          <p:cNvPr id="17" name="Imagen 16" descr="Archivo:Matplotlib icon.svg - Wikipedia, la enciclopedia libre">
            <a:extLst>
              <a:ext uri="{FF2B5EF4-FFF2-40B4-BE49-F238E27FC236}">
                <a16:creationId xmlns:a16="http://schemas.microsoft.com/office/drawing/2014/main" id="{A5092763-D9AE-98CF-154D-A225FC0B22F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30737" y="5246985"/>
            <a:ext cx="1572874" cy="157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332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8A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429991" y="4675909"/>
            <a:ext cx="10287000" cy="935182"/>
          </a:xfrm>
          <a:custGeom>
            <a:avLst/>
            <a:gdLst/>
            <a:ahLst/>
            <a:cxnLst/>
            <a:rect l="l" t="t" r="r" b="b"/>
            <a:pathLst>
              <a:path w="10287000" h="935182">
                <a:moveTo>
                  <a:pt x="0" y="0"/>
                </a:moveTo>
                <a:lnTo>
                  <a:pt x="10287000" y="0"/>
                </a:lnTo>
                <a:lnTo>
                  <a:pt x="10287000" y="935182"/>
                </a:lnTo>
                <a:lnTo>
                  <a:pt x="0" y="9351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9144000" cy="10287000"/>
            <a:chOff x="0" y="0"/>
            <a:chExt cx="2576410" cy="32554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76410" cy="3255440"/>
            </a:xfrm>
            <a:custGeom>
              <a:avLst/>
              <a:gdLst/>
              <a:ahLst/>
              <a:cxnLst/>
              <a:rect l="l" t="t" r="r" b="b"/>
              <a:pathLst>
                <a:path w="2576410" h="3255440">
                  <a:moveTo>
                    <a:pt x="0" y="0"/>
                  </a:moveTo>
                  <a:lnTo>
                    <a:pt x="2576410" y="0"/>
                  </a:lnTo>
                  <a:lnTo>
                    <a:pt x="2576410" y="3255440"/>
                  </a:lnTo>
                  <a:lnTo>
                    <a:pt x="0" y="32554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576410" cy="32935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51112" y="342900"/>
            <a:ext cx="7483288" cy="10964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26"/>
              </a:lnSpc>
            </a:pPr>
            <a:r>
              <a:rPr lang="es-ES" sz="540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4</a:t>
            </a:r>
            <a:r>
              <a:rPr lang="es-ES" sz="5400" noProof="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. Arquitectura del sistema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767060" y="1047750"/>
            <a:ext cx="649224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 noProof="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7FB0CF8-DA95-DF3F-B5D8-C656943B3E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9839" y="2115069"/>
            <a:ext cx="6553200" cy="634769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4621B86-4EDF-B3EB-F515-65A9B0E91A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004664"/>
            <a:ext cx="8200313" cy="4800600"/>
          </a:xfrm>
          <a:prstGeom prst="rect">
            <a:avLst/>
          </a:prstGeom>
        </p:spPr>
      </p:pic>
      <p:sp>
        <p:nvSpPr>
          <p:cNvPr id="8" name="TextBox 13">
            <a:extLst>
              <a:ext uri="{FF2B5EF4-FFF2-40B4-BE49-F238E27FC236}">
                <a16:creationId xmlns:a16="http://schemas.microsoft.com/office/drawing/2014/main" id="{814AA7AA-494B-E517-BA9C-BDA8D6D7E94B}"/>
              </a:ext>
            </a:extLst>
          </p:cNvPr>
          <p:cNvSpPr txBox="1"/>
          <p:nvPr/>
        </p:nvSpPr>
        <p:spPr>
          <a:xfrm>
            <a:off x="2520457" y="6975343"/>
            <a:ext cx="4103085" cy="6830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01"/>
              </a:lnSpc>
              <a:spcBef>
                <a:spcPct val="0"/>
              </a:spcBef>
            </a:pPr>
            <a:r>
              <a:rPr lang="es-ES" sz="3200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Diagrama de sistema</a:t>
            </a:r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9ABCFDC3-D156-1130-CA5E-737AD6DBDFEA}"/>
              </a:ext>
            </a:extLst>
          </p:cNvPr>
          <p:cNvSpPr txBox="1"/>
          <p:nvPr/>
        </p:nvSpPr>
        <p:spPr>
          <a:xfrm>
            <a:off x="11694896" y="8594573"/>
            <a:ext cx="4103085" cy="6830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01"/>
              </a:lnSpc>
              <a:spcBef>
                <a:spcPct val="0"/>
              </a:spcBef>
            </a:pPr>
            <a:r>
              <a:rPr lang="es-ES" sz="32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Entorno del sistema</a:t>
            </a:r>
            <a:endParaRPr lang="es-ES" sz="3200" noProof="0" dirty="0">
              <a:solidFill>
                <a:schemeClr val="bg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1B8E19F9-CA63-772C-56E6-6914B28949F0}"/>
              </a:ext>
            </a:extLst>
          </p:cNvPr>
          <p:cNvSpPr txBox="1"/>
          <p:nvPr/>
        </p:nvSpPr>
        <p:spPr>
          <a:xfrm>
            <a:off x="0" y="7848600"/>
            <a:ext cx="3574219" cy="21749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Motivación y contexto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Objetivos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Tecnologías usadas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Arquitectura del sistema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Definición del problema RL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1: recompensa densa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8A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21FD31-C30F-AA4C-9D30-F1F568F38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D1945B5-CE60-2493-F1FB-99B745C6B97F}"/>
              </a:ext>
            </a:extLst>
          </p:cNvPr>
          <p:cNvSpPr/>
          <p:nvPr/>
        </p:nvSpPr>
        <p:spPr>
          <a:xfrm>
            <a:off x="-29785" y="1562503"/>
            <a:ext cx="18288000" cy="1662545"/>
          </a:xfrm>
          <a:custGeom>
            <a:avLst/>
            <a:gdLst/>
            <a:ahLst/>
            <a:cxnLst/>
            <a:rect l="l" t="t" r="r" b="b"/>
            <a:pathLst>
              <a:path w="18288000" h="1662545">
                <a:moveTo>
                  <a:pt x="0" y="0"/>
                </a:moveTo>
                <a:lnTo>
                  <a:pt x="18288000" y="0"/>
                </a:lnTo>
                <a:lnTo>
                  <a:pt x="18288000" y="1662545"/>
                </a:lnTo>
                <a:lnTo>
                  <a:pt x="0" y="16625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E8B2D79-B12D-5931-E42F-805F0EF0AD6C}"/>
              </a:ext>
            </a:extLst>
          </p:cNvPr>
          <p:cNvGrpSpPr/>
          <p:nvPr/>
        </p:nvGrpSpPr>
        <p:grpSpPr>
          <a:xfrm>
            <a:off x="1" y="0"/>
            <a:ext cx="18288000" cy="1562504"/>
            <a:chOff x="0" y="0"/>
            <a:chExt cx="5186228" cy="99721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E776BFA-1528-C0FA-E11D-B5DBB37E36AF}"/>
                </a:ext>
              </a:extLst>
            </p:cNvPr>
            <p:cNvSpPr/>
            <p:nvPr/>
          </p:nvSpPr>
          <p:spPr>
            <a:xfrm>
              <a:off x="0" y="0"/>
              <a:ext cx="5186228" cy="997214"/>
            </a:xfrm>
            <a:custGeom>
              <a:avLst/>
              <a:gdLst/>
              <a:ahLst/>
              <a:cxnLst/>
              <a:rect l="l" t="t" r="r" b="b"/>
              <a:pathLst>
                <a:path w="5186228" h="997214">
                  <a:moveTo>
                    <a:pt x="0" y="0"/>
                  </a:moveTo>
                  <a:lnTo>
                    <a:pt x="5186228" y="0"/>
                  </a:lnTo>
                  <a:lnTo>
                    <a:pt x="5186228" y="997214"/>
                  </a:lnTo>
                  <a:lnTo>
                    <a:pt x="0" y="9972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38012C9-F6F7-AA1A-6123-0043EE17DCA6}"/>
                </a:ext>
              </a:extLst>
            </p:cNvPr>
            <p:cNvSpPr txBox="1"/>
            <p:nvPr/>
          </p:nvSpPr>
          <p:spPr>
            <a:xfrm>
              <a:off x="0" y="-38100"/>
              <a:ext cx="5186228" cy="10353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34C5FA0F-E5BF-7A95-B6B8-02CAB0D49911}"/>
              </a:ext>
            </a:extLst>
          </p:cNvPr>
          <p:cNvSpPr txBox="1"/>
          <p:nvPr/>
        </p:nvSpPr>
        <p:spPr>
          <a:xfrm>
            <a:off x="1143000" y="324969"/>
            <a:ext cx="12573000" cy="1154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26"/>
              </a:lnSpc>
            </a:pPr>
            <a:r>
              <a:rPr lang="es-ES" sz="720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5. Definición del problema RL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C063D9A-09BE-DA67-47CF-325319168AFE}"/>
              </a:ext>
            </a:extLst>
          </p:cNvPr>
          <p:cNvSpPr/>
          <p:nvPr/>
        </p:nvSpPr>
        <p:spPr>
          <a:xfrm>
            <a:off x="122614" y="2260945"/>
            <a:ext cx="8839200" cy="39349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1572590-36F8-F367-3DC1-8F4FCBB1DD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08" t="8781" r="3949"/>
          <a:stretch>
            <a:fillRect/>
          </a:stretch>
        </p:blipFill>
        <p:spPr>
          <a:xfrm>
            <a:off x="261105" y="2804282"/>
            <a:ext cx="8608419" cy="324457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86728676-E30B-0AFB-36A5-C6312DFADA3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06" t="16060" r="1006" b="27819"/>
          <a:stretch>
            <a:fillRect/>
          </a:stretch>
        </p:blipFill>
        <p:spPr>
          <a:xfrm>
            <a:off x="261106" y="2442283"/>
            <a:ext cx="8501894" cy="421444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6CB6314D-63FB-2B9E-9133-9164C1BA4E6B}"/>
              </a:ext>
            </a:extLst>
          </p:cNvPr>
          <p:cNvSpPr/>
          <p:nvPr/>
        </p:nvSpPr>
        <p:spPr>
          <a:xfrm>
            <a:off x="4007340" y="6515100"/>
            <a:ext cx="9829800" cy="2971800"/>
          </a:xfrm>
          <a:prstGeom prst="roundRect">
            <a:avLst/>
          </a:prstGeom>
          <a:solidFill>
            <a:srgbClr val="F3F4F6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06CFF86-B2A8-6D28-1DC7-9696E8130E9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571" t="16726" r="7778" b="13210"/>
          <a:stretch>
            <a:fillRect/>
          </a:stretch>
        </p:blipFill>
        <p:spPr>
          <a:xfrm>
            <a:off x="4191000" y="6743700"/>
            <a:ext cx="9417539" cy="2514600"/>
          </a:xfrm>
          <a:prstGeom prst="rect">
            <a:avLst/>
          </a:prstGeom>
        </p:spPr>
      </p:pic>
      <p:sp>
        <p:nvSpPr>
          <p:cNvPr id="20" name="Rectángulo 19">
            <a:extLst>
              <a:ext uri="{FF2B5EF4-FFF2-40B4-BE49-F238E27FC236}">
                <a16:creationId xmlns:a16="http://schemas.microsoft.com/office/drawing/2014/main" id="{3C5B3505-1238-2DB6-CA86-B8BCAF70E9E0}"/>
              </a:ext>
            </a:extLst>
          </p:cNvPr>
          <p:cNvSpPr/>
          <p:nvPr/>
        </p:nvSpPr>
        <p:spPr>
          <a:xfrm>
            <a:off x="9144000" y="2247900"/>
            <a:ext cx="8961812" cy="39349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3ED6D958-B6F6-7A10-5FF8-101151F1F18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624" t="4085" r="2133" b="3530"/>
          <a:stretch>
            <a:fillRect/>
          </a:stretch>
        </p:blipFill>
        <p:spPr>
          <a:xfrm>
            <a:off x="10995083" y="2337741"/>
            <a:ext cx="5684114" cy="3711116"/>
          </a:xfrm>
          <a:prstGeom prst="rect">
            <a:avLst/>
          </a:prstGeom>
        </p:spPr>
      </p:pic>
      <p:sp>
        <p:nvSpPr>
          <p:cNvPr id="22" name="TextBox 9">
            <a:extLst>
              <a:ext uri="{FF2B5EF4-FFF2-40B4-BE49-F238E27FC236}">
                <a16:creationId xmlns:a16="http://schemas.microsoft.com/office/drawing/2014/main" id="{5FD8670A-D3F9-27D1-86C5-EF6A6FC18FA9}"/>
              </a:ext>
            </a:extLst>
          </p:cNvPr>
          <p:cNvSpPr txBox="1"/>
          <p:nvPr/>
        </p:nvSpPr>
        <p:spPr>
          <a:xfrm>
            <a:off x="0" y="7734300"/>
            <a:ext cx="3962400" cy="21749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bg1">
                    <a:lumMod val="8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Motivación y contexto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bg1">
                    <a:lumMod val="8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Objetivos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bg1">
                    <a:lumMod val="8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Tecnologías usadas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bg1">
                    <a:lumMod val="8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Arquitectura del sistema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Definición del problema RL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bg1">
                    <a:lumMod val="8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1: recompensa densa</a:t>
            </a:r>
          </a:p>
        </p:txBody>
      </p:sp>
    </p:spTree>
    <p:extLst>
      <p:ext uri="{BB962C8B-B14F-4D97-AF65-F5344CB8AC3E}">
        <p14:creationId xmlns:p14="http://schemas.microsoft.com/office/powerpoint/2010/main" val="140126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8A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04775" y="1104998"/>
            <a:ext cx="18078450" cy="1643495"/>
          </a:xfrm>
          <a:custGeom>
            <a:avLst/>
            <a:gdLst/>
            <a:ahLst/>
            <a:cxnLst/>
            <a:rect l="l" t="t" r="r" b="b"/>
            <a:pathLst>
              <a:path w="18078450" h="1643495">
                <a:moveTo>
                  <a:pt x="0" y="0"/>
                </a:moveTo>
                <a:lnTo>
                  <a:pt x="18078450" y="0"/>
                </a:lnTo>
                <a:lnTo>
                  <a:pt x="18078450" y="1643495"/>
                </a:lnTo>
                <a:lnTo>
                  <a:pt x="0" y="16434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2248095"/>
            <a:ext cx="18288000" cy="7667945"/>
            <a:chOff x="0" y="0"/>
            <a:chExt cx="5186228" cy="18500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86228" cy="1850054"/>
            </a:xfrm>
            <a:custGeom>
              <a:avLst/>
              <a:gdLst/>
              <a:ahLst/>
              <a:cxnLst/>
              <a:rect l="l" t="t" r="r" b="b"/>
              <a:pathLst>
                <a:path w="5186228" h="1850054">
                  <a:moveTo>
                    <a:pt x="0" y="0"/>
                  </a:moveTo>
                  <a:lnTo>
                    <a:pt x="5186228" y="0"/>
                  </a:lnTo>
                  <a:lnTo>
                    <a:pt x="5186228" y="1850054"/>
                  </a:lnTo>
                  <a:lnTo>
                    <a:pt x="0" y="18500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186228" cy="18881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580972"/>
            <a:ext cx="13982700" cy="1667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471"/>
              </a:lnSpc>
              <a:spcBef>
                <a:spcPct val="0"/>
              </a:spcBef>
            </a:pPr>
            <a:r>
              <a:rPr lang="es-ES" sz="7034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6</a:t>
            </a:r>
            <a:r>
              <a:rPr lang="es-ES" sz="7034" u="none" strike="noStrike" noProof="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. Línea 1: recompensa densa</a:t>
            </a:r>
          </a:p>
          <a:p>
            <a:pPr marL="0" lvl="0" indent="0" algn="ctr">
              <a:lnSpc>
                <a:spcPts val="6471"/>
              </a:lnSpc>
              <a:spcBef>
                <a:spcPct val="0"/>
              </a:spcBef>
            </a:pPr>
            <a:endParaRPr lang="es-ES" sz="7034" u="none" strike="noStrike" noProof="0" dirty="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402FEE9-478B-2EBC-CED5-501E26BE4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0247" y="2248095"/>
            <a:ext cx="9420225" cy="7680856"/>
          </a:xfrm>
          <a:prstGeom prst="rect">
            <a:avLst/>
          </a:prstGeom>
        </p:spPr>
      </p:pic>
      <p:sp>
        <p:nvSpPr>
          <p:cNvPr id="15" name="TextBox 13">
            <a:extLst>
              <a:ext uri="{FF2B5EF4-FFF2-40B4-BE49-F238E27FC236}">
                <a16:creationId xmlns:a16="http://schemas.microsoft.com/office/drawing/2014/main" id="{A7E7A2A3-D8AB-39F7-A3AE-7051153C744D}"/>
              </a:ext>
            </a:extLst>
          </p:cNvPr>
          <p:cNvSpPr txBox="1"/>
          <p:nvPr/>
        </p:nvSpPr>
        <p:spPr>
          <a:xfrm>
            <a:off x="945777" y="3008279"/>
            <a:ext cx="7754470" cy="3877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s-ES" sz="3600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Recompensa densa     señal en cada paso</a:t>
            </a:r>
          </a:p>
          <a:p>
            <a:pPr>
              <a:spcBef>
                <a:spcPct val="0"/>
              </a:spcBef>
            </a:pPr>
            <a:endParaRPr lang="es-ES" sz="3600" noProof="0" dirty="0">
              <a:solidFill>
                <a:srgbClr val="1A216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spcBef>
                <a:spcPct val="0"/>
              </a:spcBef>
            </a:pPr>
            <a:r>
              <a:rPr lang="es-ES" sz="3600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El agente recibe +1 a la recompensa por visitar habitaciones poco visitadas y penalización -10 si agota la batería.</a:t>
            </a:r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272A0E4F-6C66-A612-B99A-01C7C93C208D}"/>
              </a:ext>
            </a:extLst>
          </p:cNvPr>
          <p:cNvSpPr txBox="1"/>
          <p:nvPr/>
        </p:nvSpPr>
        <p:spPr>
          <a:xfrm>
            <a:off x="167528" y="7579116"/>
            <a:ext cx="3574219" cy="21749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Motivación y contexto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Objetivos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Tecnologías usadas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Arquitectura del sistema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Definición del problema RL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1: recompensa densa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EE1E3509-48B2-81E0-1F8A-223DBCA22B24}"/>
              </a:ext>
            </a:extLst>
          </p:cNvPr>
          <p:cNvCxnSpPr>
            <a:cxnSpLocks/>
          </p:cNvCxnSpPr>
          <p:nvPr/>
        </p:nvCxnSpPr>
        <p:spPr>
          <a:xfrm>
            <a:off x="5257800" y="3314700"/>
            <a:ext cx="381000" cy="0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8A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96E9DE-B5C8-5927-F6AE-37D89E9F8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ECB1957-D0AC-471A-B45F-B86E802AF0BD}"/>
              </a:ext>
            </a:extLst>
          </p:cNvPr>
          <p:cNvSpPr/>
          <p:nvPr/>
        </p:nvSpPr>
        <p:spPr>
          <a:xfrm rot="-10800000">
            <a:off x="104775" y="1104998"/>
            <a:ext cx="18078450" cy="1643495"/>
          </a:xfrm>
          <a:custGeom>
            <a:avLst/>
            <a:gdLst/>
            <a:ahLst/>
            <a:cxnLst/>
            <a:rect l="l" t="t" r="r" b="b"/>
            <a:pathLst>
              <a:path w="18078450" h="1643495">
                <a:moveTo>
                  <a:pt x="0" y="0"/>
                </a:moveTo>
                <a:lnTo>
                  <a:pt x="18078450" y="0"/>
                </a:lnTo>
                <a:lnTo>
                  <a:pt x="18078450" y="1643495"/>
                </a:lnTo>
                <a:lnTo>
                  <a:pt x="0" y="16434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D1E5786-30C3-9584-79F3-4E9C393EF62E}"/>
              </a:ext>
            </a:extLst>
          </p:cNvPr>
          <p:cNvGrpSpPr/>
          <p:nvPr/>
        </p:nvGrpSpPr>
        <p:grpSpPr>
          <a:xfrm>
            <a:off x="0" y="2248095"/>
            <a:ext cx="18288000" cy="7667945"/>
            <a:chOff x="0" y="0"/>
            <a:chExt cx="5186228" cy="185005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7044763-C4A6-023B-0D78-6A5BB6C1C3A2}"/>
                </a:ext>
              </a:extLst>
            </p:cNvPr>
            <p:cNvSpPr/>
            <p:nvPr/>
          </p:nvSpPr>
          <p:spPr>
            <a:xfrm>
              <a:off x="0" y="0"/>
              <a:ext cx="5186228" cy="1850054"/>
            </a:xfrm>
            <a:custGeom>
              <a:avLst/>
              <a:gdLst/>
              <a:ahLst/>
              <a:cxnLst/>
              <a:rect l="l" t="t" r="r" b="b"/>
              <a:pathLst>
                <a:path w="5186228" h="1850054">
                  <a:moveTo>
                    <a:pt x="0" y="0"/>
                  </a:moveTo>
                  <a:lnTo>
                    <a:pt x="5186228" y="0"/>
                  </a:lnTo>
                  <a:lnTo>
                    <a:pt x="5186228" y="1850054"/>
                  </a:lnTo>
                  <a:lnTo>
                    <a:pt x="0" y="18500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3626413-B2D5-8277-A703-75EE85355E94}"/>
                </a:ext>
              </a:extLst>
            </p:cNvPr>
            <p:cNvSpPr txBox="1"/>
            <p:nvPr/>
          </p:nvSpPr>
          <p:spPr>
            <a:xfrm>
              <a:off x="0" y="-38100"/>
              <a:ext cx="5186228" cy="18881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96248F45-6431-C031-5805-8AA9B5D20740}"/>
              </a:ext>
            </a:extLst>
          </p:cNvPr>
          <p:cNvSpPr txBox="1"/>
          <p:nvPr/>
        </p:nvSpPr>
        <p:spPr>
          <a:xfrm>
            <a:off x="1028700" y="580972"/>
            <a:ext cx="13982700" cy="1667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471"/>
              </a:lnSpc>
              <a:spcBef>
                <a:spcPct val="0"/>
              </a:spcBef>
            </a:pPr>
            <a:r>
              <a:rPr lang="es-ES" sz="7034" u="none" strike="noStrike" noProof="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6. Línea 1: recompensa densa</a:t>
            </a:r>
          </a:p>
          <a:p>
            <a:pPr marL="0" lvl="0" indent="0" algn="ctr">
              <a:lnSpc>
                <a:spcPts val="6471"/>
              </a:lnSpc>
              <a:spcBef>
                <a:spcPct val="0"/>
              </a:spcBef>
            </a:pPr>
            <a:endParaRPr lang="es-ES" sz="7034" u="none" strike="noStrike" noProof="0" dirty="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0721F869-C9A6-D92E-BDAD-19B415E010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5" y="2338930"/>
            <a:ext cx="10146365" cy="4186678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F078C42-6BD2-A0F7-8E71-576CB2EC0F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0" y="2248095"/>
            <a:ext cx="8269941" cy="6694714"/>
          </a:xfrm>
          <a:prstGeom prst="rect">
            <a:avLst/>
          </a:prstGeom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FD5B98F3-562A-FEB2-98FA-18D9AE47111F}"/>
              </a:ext>
            </a:extLst>
          </p:cNvPr>
          <p:cNvSpPr txBox="1"/>
          <p:nvPr/>
        </p:nvSpPr>
        <p:spPr>
          <a:xfrm>
            <a:off x="182222" y="7531074"/>
            <a:ext cx="3574219" cy="21749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Motivación y contexto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Objetivos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Tecnologías usadas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Arquitectura del sistema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Definición del problema RL</a:t>
            </a:r>
          </a:p>
          <a:p>
            <a:pPr marL="939494" lvl="1" indent="-469747" algn="l">
              <a:lnSpc>
                <a:spcPct val="150000"/>
              </a:lnSpc>
              <a:buAutoNum type="arabicPeriod"/>
            </a:pPr>
            <a:r>
              <a:rPr lang="es-ES" sz="1600" noProof="0" dirty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1: recompensa densa</a:t>
            </a:r>
          </a:p>
        </p:txBody>
      </p:sp>
    </p:spTree>
    <p:extLst>
      <p:ext uri="{BB962C8B-B14F-4D97-AF65-F5344CB8AC3E}">
        <p14:creationId xmlns:p14="http://schemas.microsoft.com/office/powerpoint/2010/main" val="4178918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8A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1635F8-B313-952A-474E-4561C6FE4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600C8D6-4E22-0907-CB06-BB3FD05D98B6}"/>
              </a:ext>
            </a:extLst>
          </p:cNvPr>
          <p:cNvSpPr/>
          <p:nvPr/>
        </p:nvSpPr>
        <p:spPr>
          <a:xfrm rot="-10800000">
            <a:off x="104775" y="818538"/>
            <a:ext cx="18078450" cy="1643495"/>
          </a:xfrm>
          <a:custGeom>
            <a:avLst/>
            <a:gdLst/>
            <a:ahLst/>
            <a:cxnLst/>
            <a:rect l="l" t="t" r="r" b="b"/>
            <a:pathLst>
              <a:path w="18078450" h="1643495">
                <a:moveTo>
                  <a:pt x="0" y="0"/>
                </a:moveTo>
                <a:lnTo>
                  <a:pt x="18078450" y="0"/>
                </a:lnTo>
                <a:lnTo>
                  <a:pt x="18078450" y="1643495"/>
                </a:lnTo>
                <a:lnTo>
                  <a:pt x="0" y="16434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3B367E8-287A-3F02-322A-566D3E48052B}"/>
              </a:ext>
            </a:extLst>
          </p:cNvPr>
          <p:cNvGrpSpPr/>
          <p:nvPr/>
        </p:nvGrpSpPr>
        <p:grpSpPr>
          <a:xfrm>
            <a:off x="0" y="1927350"/>
            <a:ext cx="18288000" cy="8091407"/>
            <a:chOff x="0" y="0"/>
            <a:chExt cx="5186228" cy="185005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4832395-A8CB-993E-9212-4C1763EFE477}"/>
                </a:ext>
              </a:extLst>
            </p:cNvPr>
            <p:cNvSpPr/>
            <p:nvPr/>
          </p:nvSpPr>
          <p:spPr>
            <a:xfrm>
              <a:off x="0" y="0"/>
              <a:ext cx="5186228" cy="1850054"/>
            </a:xfrm>
            <a:custGeom>
              <a:avLst/>
              <a:gdLst/>
              <a:ahLst/>
              <a:cxnLst/>
              <a:rect l="l" t="t" r="r" b="b"/>
              <a:pathLst>
                <a:path w="5186228" h="1850054">
                  <a:moveTo>
                    <a:pt x="0" y="0"/>
                  </a:moveTo>
                  <a:lnTo>
                    <a:pt x="5186228" y="0"/>
                  </a:lnTo>
                  <a:lnTo>
                    <a:pt x="5186228" y="1850054"/>
                  </a:lnTo>
                  <a:lnTo>
                    <a:pt x="0" y="18500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F32B5FF-5133-858F-A822-B590D5AB1599}"/>
                </a:ext>
              </a:extLst>
            </p:cNvPr>
            <p:cNvSpPr txBox="1"/>
            <p:nvPr/>
          </p:nvSpPr>
          <p:spPr>
            <a:xfrm>
              <a:off x="0" y="-38100"/>
              <a:ext cx="5186228" cy="18881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0411E212-B94C-C238-AF4B-A4EBFB04F3AC}"/>
              </a:ext>
            </a:extLst>
          </p:cNvPr>
          <p:cNvSpPr txBox="1"/>
          <p:nvPr/>
        </p:nvSpPr>
        <p:spPr>
          <a:xfrm>
            <a:off x="990600" y="613287"/>
            <a:ext cx="13982700" cy="846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471"/>
              </a:lnSpc>
              <a:spcBef>
                <a:spcPct val="0"/>
              </a:spcBef>
            </a:pPr>
            <a:r>
              <a:rPr lang="es-ES" sz="7034" u="none" strike="noStrike" noProof="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7. Línea 2: recompensa dispersa</a:t>
            </a:r>
            <a:endParaRPr lang="es-ES" sz="7034" u="none" strike="noStrike" noProof="0" dirty="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B624A68-9AEB-A209-5E08-490889A55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0" y="1927351"/>
            <a:ext cx="10485704" cy="80914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FBE66B8-CED5-6A93-2019-CE6295DC69CE}"/>
              </a:ext>
            </a:extLst>
          </p:cNvPr>
          <p:cNvSpPr txBox="1"/>
          <p:nvPr/>
        </p:nvSpPr>
        <p:spPr>
          <a:xfrm>
            <a:off x="172010" y="7753997"/>
            <a:ext cx="3574219" cy="21749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39494" lvl="1" indent="-469747" algn="l">
              <a:lnSpc>
                <a:spcPct val="150000"/>
              </a:lnSpc>
              <a:buFont typeface="+mj-lt"/>
              <a:buAutoNum type="arabicPeriod" startAt="7"/>
            </a:pPr>
            <a:r>
              <a:rPr lang="es-ES" sz="1600" noProof="0" dirty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2: recompensa dispersa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3: acción stop 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4: información temporal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Demostración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Conclusiones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Líneas futuras</a:t>
            </a: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3692B310-678E-DB42-58A4-07CFFFEF1409}"/>
              </a:ext>
            </a:extLst>
          </p:cNvPr>
          <p:cNvSpPr txBox="1"/>
          <p:nvPr/>
        </p:nvSpPr>
        <p:spPr>
          <a:xfrm>
            <a:off x="617084" y="2644356"/>
            <a:ext cx="6545716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s-ES" sz="3600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Recompensa dispersa     señal al final del episodio</a:t>
            </a:r>
          </a:p>
          <a:p>
            <a:pPr>
              <a:spcBef>
                <a:spcPct val="0"/>
              </a:spcBef>
            </a:pPr>
            <a:endParaRPr lang="es-ES" sz="3600" noProof="0" dirty="0">
              <a:solidFill>
                <a:srgbClr val="1A216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spcBef>
                <a:spcPct val="0"/>
              </a:spcBef>
            </a:pPr>
            <a:r>
              <a:rPr lang="es-ES" sz="3600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Balance final de visitas y penalización cuadrática del uso de C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E2D2B858-91DD-1864-51AC-AF789CB18571}"/>
              </a:ext>
            </a:extLst>
          </p:cNvPr>
          <p:cNvCxnSpPr>
            <a:cxnSpLocks/>
          </p:cNvCxnSpPr>
          <p:nvPr/>
        </p:nvCxnSpPr>
        <p:spPr>
          <a:xfrm>
            <a:off x="5410200" y="2933700"/>
            <a:ext cx="381000" cy="0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585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8A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162355-0D0F-EF54-F86A-D4ACE3B65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D0208AD-8867-B568-23BA-3317EA83A3FB}"/>
              </a:ext>
            </a:extLst>
          </p:cNvPr>
          <p:cNvSpPr/>
          <p:nvPr/>
        </p:nvSpPr>
        <p:spPr>
          <a:xfrm rot="-10800000">
            <a:off x="104775" y="818538"/>
            <a:ext cx="18078450" cy="1643495"/>
          </a:xfrm>
          <a:custGeom>
            <a:avLst/>
            <a:gdLst/>
            <a:ahLst/>
            <a:cxnLst/>
            <a:rect l="l" t="t" r="r" b="b"/>
            <a:pathLst>
              <a:path w="18078450" h="1643495">
                <a:moveTo>
                  <a:pt x="0" y="0"/>
                </a:moveTo>
                <a:lnTo>
                  <a:pt x="18078450" y="0"/>
                </a:lnTo>
                <a:lnTo>
                  <a:pt x="18078450" y="1643495"/>
                </a:lnTo>
                <a:lnTo>
                  <a:pt x="0" y="16434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F857699-01E5-B83D-714F-3352ACB2C322}"/>
              </a:ext>
            </a:extLst>
          </p:cNvPr>
          <p:cNvGrpSpPr/>
          <p:nvPr/>
        </p:nvGrpSpPr>
        <p:grpSpPr>
          <a:xfrm>
            <a:off x="0" y="1927350"/>
            <a:ext cx="18288000" cy="8091407"/>
            <a:chOff x="0" y="0"/>
            <a:chExt cx="5186228" cy="185005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5369A34-0EDA-0FD7-A924-3FEF6359ED18}"/>
                </a:ext>
              </a:extLst>
            </p:cNvPr>
            <p:cNvSpPr/>
            <p:nvPr/>
          </p:nvSpPr>
          <p:spPr>
            <a:xfrm>
              <a:off x="0" y="0"/>
              <a:ext cx="5186228" cy="1850054"/>
            </a:xfrm>
            <a:custGeom>
              <a:avLst/>
              <a:gdLst/>
              <a:ahLst/>
              <a:cxnLst/>
              <a:rect l="l" t="t" r="r" b="b"/>
              <a:pathLst>
                <a:path w="5186228" h="1850054">
                  <a:moveTo>
                    <a:pt x="0" y="0"/>
                  </a:moveTo>
                  <a:lnTo>
                    <a:pt x="5186228" y="0"/>
                  </a:lnTo>
                  <a:lnTo>
                    <a:pt x="5186228" y="1850054"/>
                  </a:lnTo>
                  <a:lnTo>
                    <a:pt x="0" y="18500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154BE02-A512-B1B5-A5BB-E32E605AF2D9}"/>
                </a:ext>
              </a:extLst>
            </p:cNvPr>
            <p:cNvSpPr txBox="1"/>
            <p:nvPr/>
          </p:nvSpPr>
          <p:spPr>
            <a:xfrm>
              <a:off x="0" y="-38100"/>
              <a:ext cx="5186228" cy="18881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62649BCD-51B9-4ACE-1FC5-077FB5A960A1}"/>
              </a:ext>
            </a:extLst>
          </p:cNvPr>
          <p:cNvSpPr txBox="1"/>
          <p:nvPr/>
        </p:nvSpPr>
        <p:spPr>
          <a:xfrm>
            <a:off x="990600" y="613287"/>
            <a:ext cx="13982700" cy="846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471"/>
              </a:lnSpc>
              <a:spcBef>
                <a:spcPct val="0"/>
              </a:spcBef>
            </a:pPr>
            <a:r>
              <a:rPr lang="es-ES" sz="7034" u="none" strike="noStrike" noProof="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7. Línea 2: recompensa dispersa</a:t>
            </a:r>
            <a:endParaRPr lang="es-ES" sz="7034" u="none" strike="noStrike" noProof="0" dirty="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892AF52-BCB9-5D6E-526D-9FDD28AD1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967" y="1999714"/>
            <a:ext cx="7975629" cy="636084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0BF7C79-3C8E-A5FC-420A-B66024F47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200" y="2140500"/>
            <a:ext cx="7975629" cy="63584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BD6766-E653-ACA5-11EF-557625EA67B2}"/>
              </a:ext>
            </a:extLst>
          </p:cNvPr>
          <p:cNvSpPr txBox="1"/>
          <p:nvPr/>
        </p:nvSpPr>
        <p:spPr>
          <a:xfrm>
            <a:off x="-152400" y="7819150"/>
            <a:ext cx="3574219" cy="21749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39494" lvl="1" indent="-469747" algn="l">
              <a:lnSpc>
                <a:spcPct val="150000"/>
              </a:lnSpc>
              <a:buFont typeface="+mj-lt"/>
              <a:buAutoNum type="arabicPeriod" startAt="7"/>
            </a:pPr>
            <a:r>
              <a:rPr lang="es-ES" sz="1600" noProof="0" dirty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2: recompensa dispersa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3: acción stop 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4: información temporal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Demostración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Conclusiones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Líneas futuras</a:t>
            </a: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D7D6FA61-419F-2579-2838-A75CCED83FC4}"/>
              </a:ext>
            </a:extLst>
          </p:cNvPr>
          <p:cNvSpPr txBox="1"/>
          <p:nvPr/>
        </p:nvSpPr>
        <p:spPr>
          <a:xfrm>
            <a:off x="4965729" y="8806740"/>
            <a:ext cx="10896600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s-ES" sz="3600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Mejora energética, pero persiste el desbalance</a:t>
            </a:r>
          </a:p>
        </p:txBody>
      </p:sp>
    </p:spTree>
    <p:extLst>
      <p:ext uri="{BB962C8B-B14F-4D97-AF65-F5344CB8AC3E}">
        <p14:creationId xmlns:p14="http://schemas.microsoft.com/office/powerpoint/2010/main" val="3413722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8A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8AC84E-0F8E-575C-7ECD-4904423C0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6E9D36E-6BF5-3CB9-6442-CC84D8DE801E}"/>
              </a:ext>
            </a:extLst>
          </p:cNvPr>
          <p:cNvSpPr/>
          <p:nvPr/>
        </p:nvSpPr>
        <p:spPr>
          <a:xfrm rot="-10800000">
            <a:off x="104775" y="1745916"/>
            <a:ext cx="18078450" cy="1643495"/>
          </a:xfrm>
          <a:custGeom>
            <a:avLst/>
            <a:gdLst/>
            <a:ahLst/>
            <a:cxnLst/>
            <a:rect l="l" t="t" r="r" b="b"/>
            <a:pathLst>
              <a:path w="18078450" h="1643495">
                <a:moveTo>
                  <a:pt x="0" y="0"/>
                </a:moveTo>
                <a:lnTo>
                  <a:pt x="18078450" y="0"/>
                </a:lnTo>
                <a:lnTo>
                  <a:pt x="18078450" y="1643495"/>
                </a:lnTo>
                <a:lnTo>
                  <a:pt x="0" y="16434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CFA0299-68A9-E20C-2966-7CC9E39B5440}"/>
              </a:ext>
            </a:extLst>
          </p:cNvPr>
          <p:cNvGrpSpPr/>
          <p:nvPr/>
        </p:nvGrpSpPr>
        <p:grpSpPr>
          <a:xfrm>
            <a:off x="0" y="2994333"/>
            <a:ext cx="18288000" cy="7024424"/>
            <a:chOff x="0" y="0"/>
            <a:chExt cx="5186228" cy="185005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9ED070F-A40B-4576-8990-F4F6B722DDF1}"/>
                </a:ext>
              </a:extLst>
            </p:cNvPr>
            <p:cNvSpPr/>
            <p:nvPr/>
          </p:nvSpPr>
          <p:spPr>
            <a:xfrm>
              <a:off x="0" y="0"/>
              <a:ext cx="5186228" cy="1850054"/>
            </a:xfrm>
            <a:custGeom>
              <a:avLst/>
              <a:gdLst/>
              <a:ahLst/>
              <a:cxnLst/>
              <a:rect l="l" t="t" r="r" b="b"/>
              <a:pathLst>
                <a:path w="5186228" h="1850054">
                  <a:moveTo>
                    <a:pt x="0" y="0"/>
                  </a:moveTo>
                  <a:lnTo>
                    <a:pt x="5186228" y="0"/>
                  </a:lnTo>
                  <a:lnTo>
                    <a:pt x="5186228" y="1850054"/>
                  </a:lnTo>
                  <a:lnTo>
                    <a:pt x="0" y="18500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78BE8E1-0188-53AC-97A5-40F95A40E8C4}"/>
                </a:ext>
              </a:extLst>
            </p:cNvPr>
            <p:cNvSpPr txBox="1"/>
            <p:nvPr/>
          </p:nvSpPr>
          <p:spPr>
            <a:xfrm>
              <a:off x="0" y="-38100"/>
              <a:ext cx="5186228" cy="18881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5DDACDE8-1C98-3562-2B37-DAF47EB520AC}"/>
              </a:ext>
            </a:extLst>
          </p:cNvPr>
          <p:cNvSpPr txBox="1"/>
          <p:nvPr/>
        </p:nvSpPr>
        <p:spPr>
          <a:xfrm>
            <a:off x="1028700" y="1200110"/>
            <a:ext cx="13982700" cy="850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471"/>
              </a:lnSpc>
              <a:spcBef>
                <a:spcPct val="0"/>
              </a:spcBef>
            </a:pPr>
            <a:r>
              <a:rPr lang="es-ES" sz="7034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8</a:t>
            </a:r>
            <a:r>
              <a:rPr lang="es-ES" sz="7034" u="none" strike="noStrike" noProof="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. Línea 3: acción stop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88EB6B-BED6-9030-2A6A-4A19A5DB0935}"/>
              </a:ext>
            </a:extLst>
          </p:cNvPr>
          <p:cNvSpPr txBox="1"/>
          <p:nvPr/>
        </p:nvSpPr>
        <p:spPr>
          <a:xfrm>
            <a:off x="172010" y="7753997"/>
            <a:ext cx="3574219" cy="21749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39494" lvl="1" indent="-469747" algn="l">
              <a:lnSpc>
                <a:spcPct val="150000"/>
              </a:lnSpc>
              <a:buFont typeface="+mj-lt"/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2: recompensa dispersa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3: acción stop 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4: información temporal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Demostración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Conclusiones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Líneas futuras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552681DB-9A7A-F753-38E2-3AE1F14B9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0288" y="3355794"/>
            <a:ext cx="9988467" cy="5806767"/>
          </a:xfrm>
          <a:prstGeom prst="rect">
            <a:avLst/>
          </a:prstGeom>
        </p:spPr>
      </p:pic>
      <p:sp>
        <p:nvSpPr>
          <p:cNvPr id="16" name="TextBox 13">
            <a:extLst>
              <a:ext uri="{FF2B5EF4-FFF2-40B4-BE49-F238E27FC236}">
                <a16:creationId xmlns:a16="http://schemas.microsoft.com/office/drawing/2014/main" id="{CA99B198-EDF9-2632-46F3-94F6A55A2ADB}"/>
              </a:ext>
            </a:extLst>
          </p:cNvPr>
          <p:cNvSpPr txBox="1"/>
          <p:nvPr/>
        </p:nvSpPr>
        <p:spPr>
          <a:xfrm>
            <a:off x="762000" y="3534073"/>
            <a:ext cx="7193513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s-ES" sz="3600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Permite pausar la navegación durante el episodio</a:t>
            </a:r>
          </a:p>
          <a:p>
            <a:pPr>
              <a:spcBef>
                <a:spcPct val="0"/>
              </a:spcBef>
            </a:pPr>
            <a:endParaRPr lang="es-ES" sz="3600" dirty="0">
              <a:solidFill>
                <a:srgbClr val="1A216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spcBef>
                <a:spcPct val="0"/>
              </a:spcBef>
            </a:pPr>
            <a:r>
              <a:rPr lang="es-ES" sz="3600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Extiende el espacio de acciones Discrete(4) a MultiDiscrete([5,51])</a:t>
            </a:r>
          </a:p>
        </p:txBody>
      </p:sp>
    </p:spTree>
    <p:extLst>
      <p:ext uri="{BB962C8B-B14F-4D97-AF65-F5344CB8AC3E}">
        <p14:creationId xmlns:p14="http://schemas.microsoft.com/office/powerpoint/2010/main" val="1986872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8A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C4621D-FBDC-C6F1-DF32-9586C9D77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02546D0-9123-E59F-2592-4FAF0496610C}"/>
              </a:ext>
            </a:extLst>
          </p:cNvPr>
          <p:cNvSpPr/>
          <p:nvPr/>
        </p:nvSpPr>
        <p:spPr>
          <a:xfrm rot="-10800000">
            <a:off x="104775" y="1745916"/>
            <a:ext cx="18078450" cy="1643495"/>
          </a:xfrm>
          <a:custGeom>
            <a:avLst/>
            <a:gdLst/>
            <a:ahLst/>
            <a:cxnLst/>
            <a:rect l="l" t="t" r="r" b="b"/>
            <a:pathLst>
              <a:path w="18078450" h="1643495">
                <a:moveTo>
                  <a:pt x="0" y="0"/>
                </a:moveTo>
                <a:lnTo>
                  <a:pt x="18078450" y="0"/>
                </a:lnTo>
                <a:lnTo>
                  <a:pt x="18078450" y="1643495"/>
                </a:lnTo>
                <a:lnTo>
                  <a:pt x="0" y="16434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9CE1E35-365A-EF25-55AD-E1D26747582A}"/>
              </a:ext>
            </a:extLst>
          </p:cNvPr>
          <p:cNvGrpSpPr/>
          <p:nvPr/>
        </p:nvGrpSpPr>
        <p:grpSpPr>
          <a:xfrm>
            <a:off x="0" y="2994333"/>
            <a:ext cx="18288000" cy="7024424"/>
            <a:chOff x="0" y="0"/>
            <a:chExt cx="5186228" cy="185005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C2BA5AD-E77B-AF4B-DD6B-7D2CF760EF1B}"/>
                </a:ext>
              </a:extLst>
            </p:cNvPr>
            <p:cNvSpPr/>
            <p:nvPr/>
          </p:nvSpPr>
          <p:spPr>
            <a:xfrm>
              <a:off x="0" y="0"/>
              <a:ext cx="5186228" cy="1850054"/>
            </a:xfrm>
            <a:custGeom>
              <a:avLst/>
              <a:gdLst/>
              <a:ahLst/>
              <a:cxnLst/>
              <a:rect l="l" t="t" r="r" b="b"/>
              <a:pathLst>
                <a:path w="5186228" h="1850054">
                  <a:moveTo>
                    <a:pt x="0" y="0"/>
                  </a:moveTo>
                  <a:lnTo>
                    <a:pt x="5186228" y="0"/>
                  </a:lnTo>
                  <a:lnTo>
                    <a:pt x="5186228" y="1850054"/>
                  </a:lnTo>
                  <a:lnTo>
                    <a:pt x="0" y="18500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223441E-A1AE-E3D9-0F40-F01AE9D023A6}"/>
                </a:ext>
              </a:extLst>
            </p:cNvPr>
            <p:cNvSpPr txBox="1"/>
            <p:nvPr/>
          </p:nvSpPr>
          <p:spPr>
            <a:xfrm>
              <a:off x="0" y="-38100"/>
              <a:ext cx="5186228" cy="18881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ED1DAE13-C1C7-5E4E-DB62-306B4D3EB27C}"/>
              </a:ext>
            </a:extLst>
          </p:cNvPr>
          <p:cNvSpPr txBox="1"/>
          <p:nvPr/>
        </p:nvSpPr>
        <p:spPr>
          <a:xfrm>
            <a:off x="1028700" y="1200110"/>
            <a:ext cx="13982700" cy="850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471"/>
              </a:lnSpc>
              <a:spcBef>
                <a:spcPct val="0"/>
              </a:spcBef>
            </a:pPr>
            <a:r>
              <a:rPr lang="es-ES" sz="7034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8</a:t>
            </a:r>
            <a:r>
              <a:rPr lang="es-ES" sz="7034" u="none" strike="noStrike" noProof="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. Línea 3: acción stop 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4030846-C4E0-6E91-50EC-80D749708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3318963"/>
            <a:ext cx="8382000" cy="63751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DB5D2F-5540-FE8B-CAEE-AE504857D780}"/>
              </a:ext>
            </a:extLst>
          </p:cNvPr>
          <p:cNvSpPr txBox="1"/>
          <p:nvPr/>
        </p:nvSpPr>
        <p:spPr>
          <a:xfrm>
            <a:off x="172010" y="7753997"/>
            <a:ext cx="3574219" cy="21749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39494" lvl="1" indent="-469747" algn="l">
              <a:lnSpc>
                <a:spcPct val="150000"/>
              </a:lnSpc>
              <a:buFont typeface="+mj-lt"/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2: recompensa dispersa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3: acción stop 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4: información temporal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Demostración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Conclusiones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Líneas futuras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1064723-A722-7F4E-484C-509EAE035B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906"/>
          <a:stretch>
            <a:fillRect/>
          </a:stretch>
        </p:blipFill>
        <p:spPr>
          <a:xfrm>
            <a:off x="727381" y="2972155"/>
            <a:ext cx="7292669" cy="4733504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F9B9B144-9B1F-C969-01C2-7A82CE565DFD}"/>
              </a:ext>
            </a:extLst>
          </p:cNvPr>
          <p:cNvSpPr txBox="1"/>
          <p:nvPr/>
        </p:nvSpPr>
        <p:spPr>
          <a:xfrm>
            <a:off x="4102493" y="7850320"/>
            <a:ext cx="5270108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s-ES" sz="360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Velocidad nominal del robot </a:t>
            </a:r>
            <a:r>
              <a:rPr lang="es-ES" sz="3600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determinada</a:t>
            </a:r>
          </a:p>
        </p:txBody>
      </p:sp>
    </p:spTree>
    <p:extLst>
      <p:ext uri="{BB962C8B-B14F-4D97-AF65-F5344CB8AC3E}">
        <p14:creationId xmlns:p14="http://schemas.microsoft.com/office/powerpoint/2010/main" val="1747348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8A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172C76-BB2B-5FD7-115D-EB7C7F722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051EBA8-5F47-9719-EE42-CDE24FE9E5D3}"/>
              </a:ext>
            </a:extLst>
          </p:cNvPr>
          <p:cNvSpPr/>
          <p:nvPr/>
        </p:nvSpPr>
        <p:spPr>
          <a:xfrm rot="-10800000">
            <a:off x="0" y="824101"/>
            <a:ext cx="18078450" cy="1643495"/>
          </a:xfrm>
          <a:custGeom>
            <a:avLst/>
            <a:gdLst/>
            <a:ahLst/>
            <a:cxnLst/>
            <a:rect l="l" t="t" r="r" b="b"/>
            <a:pathLst>
              <a:path w="18078450" h="1643495">
                <a:moveTo>
                  <a:pt x="0" y="0"/>
                </a:moveTo>
                <a:lnTo>
                  <a:pt x="18078450" y="0"/>
                </a:lnTo>
                <a:lnTo>
                  <a:pt x="18078450" y="1643495"/>
                </a:lnTo>
                <a:lnTo>
                  <a:pt x="0" y="16434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4EC2972-6F44-3EE6-A2D8-3C0DCBF48157}"/>
              </a:ext>
            </a:extLst>
          </p:cNvPr>
          <p:cNvGrpSpPr/>
          <p:nvPr/>
        </p:nvGrpSpPr>
        <p:grpSpPr>
          <a:xfrm>
            <a:off x="0" y="2456390"/>
            <a:ext cx="18288000" cy="7562367"/>
            <a:chOff x="0" y="0"/>
            <a:chExt cx="5186228" cy="185005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6C18D57-368D-848E-3D55-F1BFBF1BBBC4}"/>
                </a:ext>
              </a:extLst>
            </p:cNvPr>
            <p:cNvSpPr/>
            <p:nvPr/>
          </p:nvSpPr>
          <p:spPr>
            <a:xfrm>
              <a:off x="0" y="0"/>
              <a:ext cx="5186228" cy="1850054"/>
            </a:xfrm>
            <a:custGeom>
              <a:avLst/>
              <a:gdLst/>
              <a:ahLst/>
              <a:cxnLst/>
              <a:rect l="l" t="t" r="r" b="b"/>
              <a:pathLst>
                <a:path w="5186228" h="1850054">
                  <a:moveTo>
                    <a:pt x="0" y="0"/>
                  </a:moveTo>
                  <a:lnTo>
                    <a:pt x="5186228" y="0"/>
                  </a:lnTo>
                  <a:lnTo>
                    <a:pt x="5186228" y="1850054"/>
                  </a:lnTo>
                  <a:lnTo>
                    <a:pt x="0" y="18500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E646AA6-83A0-FCDF-6488-7470296BFB52}"/>
                </a:ext>
              </a:extLst>
            </p:cNvPr>
            <p:cNvSpPr txBox="1"/>
            <p:nvPr/>
          </p:nvSpPr>
          <p:spPr>
            <a:xfrm>
              <a:off x="0" y="-38100"/>
              <a:ext cx="5186228" cy="18881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pic>
        <p:nvPicPr>
          <p:cNvPr id="10" name="Imagen 9">
            <a:extLst>
              <a:ext uri="{FF2B5EF4-FFF2-40B4-BE49-F238E27FC236}">
                <a16:creationId xmlns:a16="http://schemas.microsoft.com/office/drawing/2014/main" id="{53748225-942B-EA2E-FCEE-6B321C3AD3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936"/>
          <a:stretch>
            <a:fillRect/>
          </a:stretch>
        </p:blipFill>
        <p:spPr>
          <a:xfrm>
            <a:off x="9248775" y="3292851"/>
            <a:ext cx="9023537" cy="2476443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75F71C22-2C58-3DBD-4FBC-D796402A33D8}"/>
              </a:ext>
            </a:extLst>
          </p:cNvPr>
          <p:cNvSpPr txBox="1"/>
          <p:nvPr/>
        </p:nvSpPr>
        <p:spPr>
          <a:xfrm>
            <a:off x="9895239" y="7048500"/>
            <a:ext cx="7730607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s-ES" sz="360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Reducción significativa del tiempo de entrenamiento y evaluación</a:t>
            </a:r>
          </a:p>
          <a:p>
            <a:pPr>
              <a:spcBef>
                <a:spcPct val="0"/>
              </a:spcBef>
            </a:pPr>
            <a:endParaRPr lang="es-ES" sz="3600" noProof="0" dirty="0">
              <a:solidFill>
                <a:srgbClr val="1A216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spcBef>
                <a:spcPct val="0"/>
              </a:spcBef>
            </a:pPr>
            <a:r>
              <a:rPr lang="es-ES" sz="360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Validación de x3 de aceleración</a:t>
            </a:r>
            <a:endParaRPr lang="es-ES" sz="3600" noProof="0" dirty="0">
              <a:solidFill>
                <a:srgbClr val="1A216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E67C0E0A-F65C-53EB-A3D4-9C4B7AB86992}"/>
              </a:ext>
            </a:extLst>
          </p:cNvPr>
          <p:cNvSpPr txBox="1"/>
          <p:nvPr/>
        </p:nvSpPr>
        <p:spPr>
          <a:xfrm>
            <a:off x="172010" y="7753997"/>
            <a:ext cx="3574219" cy="21749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39494" lvl="1" indent="-469747" algn="l">
              <a:lnSpc>
                <a:spcPct val="150000"/>
              </a:lnSpc>
              <a:buFont typeface="+mj-lt"/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2: recompensa dispersa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3: acción stop 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4: información temporal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Demostración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Conclusiones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Líneas futuras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BA1590E-5883-FD7C-0809-2240090F8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010" y="2799979"/>
            <a:ext cx="8992939" cy="379132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F22D15D-03B6-F1E6-A9EB-CEDEA7EE79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6657596"/>
            <a:ext cx="6203118" cy="532171"/>
          </a:xfrm>
          <a:prstGeom prst="rect">
            <a:avLst/>
          </a:prstGeom>
        </p:spPr>
      </p:pic>
      <p:sp>
        <p:nvSpPr>
          <p:cNvPr id="8" name="TextBox 6">
            <a:extLst>
              <a:ext uri="{FF2B5EF4-FFF2-40B4-BE49-F238E27FC236}">
                <a16:creationId xmlns:a16="http://schemas.microsoft.com/office/drawing/2014/main" id="{E1CB968B-6999-BFAF-B525-2ED7361A497B}"/>
              </a:ext>
            </a:extLst>
          </p:cNvPr>
          <p:cNvSpPr txBox="1"/>
          <p:nvPr/>
        </p:nvSpPr>
        <p:spPr>
          <a:xfrm>
            <a:off x="1028700" y="1200110"/>
            <a:ext cx="13982700" cy="850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471"/>
              </a:lnSpc>
              <a:spcBef>
                <a:spcPct val="0"/>
              </a:spcBef>
            </a:pPr>
            <a:r>
              <a:rPr lang="es-ES" sz="7034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8</a:t>
            </a:r>
            <a:r>
              <a:rPr lang="es-ES" sz="7034" u="none" strike="noStrike" noProof="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. Línea 3: acción stop </a:t>
            </a:r>
          </a:p>
        </p:txBody>
      </p:sp>
    </p:spTree>
    <p:extLst>
      <p:ext uri="{BB962C8B-B14F-4D97-AF65-F5344CB8AC3E}">
        <p14:creationId xmlns:p14="http://schemas.microsoft.com/office/powerpoint/2010/main" val="3096553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8A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C63215-26A2-D911-53DA-5C6961125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99B80A4-3A4D-56F0-CB54-67B5D6BE0101}"/>
              </a:ext>
            </a:extLst>
          </p:cNvPr>
          <p:cNvSpPr/>
          <p:nvPr/>
        </p:nvSpPr>
        <p:spPr>
          <a:xfrm rot="-10800000">
            <a:off x="104775" y="1745916"/>
            <a:ext cx="18078450" cy="1643495"/>
          </a:xfrm>
          <a:custGeom>
            <a:avLst/>
            <a:gdLst/>
            <a:ahLst/>
            <a:cxnLst/>
            <a:rect l="l" t="t" r="r" b="b"/>
            <a:pathLst>
              <a:path w="18078450" h="1643495">
                <a:moveTo>
                  <a:pt x="0" y="0"/>
                </a:moveTo>
                <a:lnTo>
                  <a:pt x="18078450" y="0"/>
                </a:lnTo>
                <a:lnTo>
                  <a:pt x="18078450" y="1643495"/>
                </a:lnTo>
                <a:lnTo>
                  <a:pt x="0" y="16434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E5D1739-C475-B196-136A-64E457B730A5}"/>
              </a:ext>
            </a:extLst>
          </p:cNvPr>
          <p:cNvGrpSpPr/>
          <p:nvPr/>
        </p:nvGrpSpPr>
        <p:grpSpPr>
          <a:xfrm>
            <a:off x="0" y="2994333"/>
            <a:ext cx="18288000" cy="7024424"/>
            <a:chOff x="0" y="0"/>
            <a:chExt cx="5186228" cy="185005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A58CD4C-21E0-D16D-FF81-EBD17EB142E1}"/>
                </a:ext>
              </a:extLst>
            </p:cNvPr>
            <p:cNvSpPr/>
            <p:nvPr/>
          </p:nvSpPr>
          <p:spPr>
            <a:xfrm>
              <a:off x="0" y="0"/>
              <a:ext cx="5186228" cy="1850054"/>
            </a:xfrm>
            <a:custGeom>
              <a:avLst/>
              <a:gdLst/>
              <a:ahLst/>
              <a:cxnLst/>
              <a:rect l="l" t="t" r="r" b="b"/>
              <a:pathLst>
                <a:path w="5186228" h="1850054">
                  <a:moveTo>
                    <a:pt x="0" y="0"/>
                  </a:moveTo>
                  <a:lnTo>
                    <a:pt x="5186228" y="0"/>
                  </a:lnTo>
                  <a:lnTo>
                    <a:pt x="5186228" y="1850054"/>
                  </a:lnTo>
                  <a:lnTo>
                    <a:pt x="0" y="18500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8908C46-9E74-E88B-B0D3-8B5FC5E97464}"/>
                </a:ext>
              </a:extLst>
            </p:cNvPr>
            <p:cNvSpPr txBox="1"/>
            <p:nvPr/>
          </p:nvSpPr>
          <p:spPr>
            <a:xfrm>
              <a:off x="0" y="-38100"/>
              <a:ext cx="5186228" cy="18881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DCDDACEF-0E9D-5841-0AE9-3A79DD462306}"/>
              </a:ext>
            </a:extLst>
          </p:cNvPr>
          <p:cNvSpPr txBox="1"/>
          <p:nvPr/>
        </p:nvSpPr>
        <p:spPr>
          <a:xfrm>
            <a:off x="989760" y="527266"/>
            <a:ext cx="7810500" cy="25006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471"/>
              </a:lnSpc>
              <a:spcBef>
                <a:spcPct val="0"/>
              </a:spcBef>
            </a:pPr>
            <a:r>
              <a:rPr lang="es-ES" sz="7034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9</a:t>
            </a:r>
            <a:r>
              <a:rPr lang="es-ES" sz="7034" u="none" strike="noStrike" noProof="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. Línea 4: información temporal</a:t>
            </a:r>
          </a:p>
          <a:p>
            <a:pPr marL="0" lvl="0" indent="0" algn="ctr">
              <a:lnSpc>
                <a:spcPts val="6471"/>
              </a:lnSpc>
              <a:spcBef>
                <a:spcPct val="0"/>
              </a:spcBef>
            </a:pPr>
            <a:endParaRPr lang="es-ES" sz="7034" u="none" strike="noStrike" noProof="0" dirty="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9ABFCBC-F347-FFD8-BB3F-D06DD3919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5967" y="3421824"/>
            <a:ext cx="12300864" cy="6337909"/>
          </a:xfrm>
          <a:prstGeom prst="rect">
            <a:avLst/>
          </a:prstGeom>
        </p:spPr>
      </p:pic>
      <p:sp>
        <p:nvSpPr>
          <p:cNvPr id="8" name="TextBox 9">
            <a:extLst>
              <a:ext uri="{FF2B5EF4-FFF2-40B4-BE49-F238E27FC236}">
                <a16:creationId xmlns:a16="http://schemas.microsoft.com/office/drawing/2014/main" id="{60D724EF-18EF-B0F4-2251-2BB618A38C5F}"/>
              </a:ext>
            </a:extLst>
          </p:cNvPr>
          <p:cNvSpPr txBox="1"/>
          <p:nvPr/>
        </p:nvSpPr>
        <p:spPr>
          <a:xfrm>
            <a:off x="172010" y="7753997"/>
            <a:ext cx="3574219" cy="21749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39494" lvl="1" indent="-469747" algn="l">
              <a:lnSpc>
                <a:spcPct val="150000"/>
              </a:lnSpc>
              <a:buFont typeface="+mj-lt"/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2: recompensa dispersa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3: acción stop 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4: información temporal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Demostración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Conclusiones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Líneas futuras</a:t>
            </a: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47ED5CD1-2A45-DE7C-DEF0-748B64397786}"/>
              </a:ext>
            </a:extLst>
          </p:cNvPr>
          <p:cNvSpPr txBox="1"/>
          <p:nvPr/>
        </p:nvSpPr>
        <p:spPr>
          <a:xfrm>
            <a:off x="533401" y="3695700"/>
            <a:ext cx="5562600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s-ES" sz="360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Información temporal </a:t>
            </a:r>
          </a:p>
          <a:p>
            <a:pPr>
              <a:spcBef>
                <a:spcPct val="0"/>
              </a:spcBef>
            </a:pPr>
            <a:r>
              <a:rPr lang="es-ES" sz="3600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Mayor contexto para la toma de decisiones</a:t>
            </a:r>
          </a:p>
        </p:txBody>
      </p:sp>
      <p:cxnSp>
        <p:nvCxnSpPr>
          <p:cNvPr id="13" name="Conector recto de flecha 11">
            <a:extLst>
              <a:ext uri="{FF2B5EF4-FFF2-40B4-BE49-F238E27FC236}">
                <a16:creationId xmlns:a16="http://schemas.microsoft.com/office/drawing/2014/main" id="{1DC6D616-0CA6-57F5-6E55-C5DE945DCF93}"/>
              </a:ext>
            </a:extLst>
          </p:cNvPr>
          <p:cNvCxnSpPr>
            <a:cxnSpLocks/>
          </p:cNvCxnSpPr>
          <p:nvPr/>
        </p:nvCxnSpPr>
        <p:spPr>
          <a:xfrm>
            <a:off x="5334000" y="4000500"/>
            <a:ext cx="381000" cy="0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5372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8A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71097E-E8CD-D84E-B21D-DCF80DF56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A5AD7BB-EDBF-F630-9B48-50E9CD9CC73D}"/>
              </a:ext>
            </a:extLst>
          </p:cNvPr>
          <p:cNvSpPr/>
          <p:nvPr/>
        </p:nvSpPr>
        <p:spPr>
          <a:xfrm rot="-10800000">
            <a:off x="104775" y="878535"/>
            <a:ext cx="18078450" cy="1643495"/>
          </a:xfrm>
          <a:custGeom>
            <a:avLst/>
            <a:gdLst/>
            <a:ahLst/>
            <a:cxnLst/>
            <a:rect l="l" t="t" r="r" b="b"/>
            <a:pathLst>
              <a:path w="18078450" h="1643495">
                <a:moveTo>
                  <a:pt x="0" y="0"/>
                </a:moveTo>
                <a:lnTo>
                  <a:pt x="18078450" y="0"/>
                </a:lnTo>
                <a:lnTo>
                  <a:pt x="18078450" y="1643495"/>
                </a:lnTo>
                <a:lnTo>
                  <a:pt x="0" y="16434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F6A0470-9C2C-8CFA-0280-180075D4BB66}"/>
              </a:ext>
            </a:extLst>
          </p:cNvPr>
          <p:cNvGrpSpPr/>
          <p:nvPr/>
        </p:nvGrpSpPr>
        <p:grpSpPr>
          <a:xfrm>
            <a:off x="0" y="2324100"/>
            <a:ext cx="18288000" cy="7694657"/>
            <a:chOff x="0" y="0"/>
            <a:chExt cx="5186228" cy="185005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E9DC861-FA74-5857-F80E-C1BF63328654}"/>
                </a:ext>
              </a:extLst>
            </p:cNvPr>
            <p:cNvSpPr/>
            <p:nvPr/>
          </p:nvSpPr>
          <p:spPr>
            <a:xfrm>
              <a:off x="0" y="0"/>
              <a:ext cx="5186228" cy="1850054"/>
            </a:xfrm>
            <a:custGeom>
              <a:avLst/>
              <a:gdLst/>
              <a:ahLst/>
              <a:cxnLst/>
              <a:rect l="l" t="t" r="r" b="b"/>
              <a:pathLst>
                <a:path w="5186228" h="1850054">
                  <a:moveTo>
                    <a:pt x="0" y="0"/>
                  </a:moveTo>
                  <a:lnTo>
                    <a:pt x="5186228" y="0"/>
                  </a:lnTo>
                  <a:lnTo>
                    <a:pt x="5186228" y="1850054"/>
                  </a:lnTo>
                  <a:lnTo>
                    <a:pt x="0" y="18500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D471451-590F-8E5F-2843-E13D31470D33}"/>
                </a:ext>
              </a:extLst>
            </p:cNvPr>
            <p:cNvSpPr txBox="1"/>
            <p:nvPr/>
          </p:nvSpPr>
          <p:spPr>
            <a:xfrm>
              <a:off x="0" y="-38100"/>
              <a:ext cx="5186228" cy="18881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ADA293D8-0888-1CBA-9072-E7F5E1E883FF}"/>
              </a:ext>
            </a:extLst>
          </p:cNvPr>
          <p:cNvSpPr txBox="1"/>
          <p:nvPr/>
        </p:nvSpPr>
        <p:spPr>
          <a:xfrm>
            <a:off x="990600" y="780256"/>
            <a:ext cx="13335840" cy="1667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471"/>
              </a:lnSpc>
              <a:spcBef>
                <a:spcPct val="0"/>
              </a:spcBef>
            </a:pPr>
            <a:r>
              <a:rPr lang="es-ES" sz="7034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9</a:t>
            </a:r>
            <a:r>
              <a:rPr lang="es-ES" sz="7034" u="none" strike="noStrike" noProof="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. Línea 4: información temporal</a:t>
            </a:r>
          </a:p>
          <a:p>
            <a:pPr marL="0" lvl="0" indent="0" algn="ctr">
              <a:lnSpc>
                <a:spcPts val="6471"/>
              </a:lnSpc>
              <a:spcBef>
                <a:spcPct val="0"/>
              </a:spcBef>
            </a:pPr>
            <a:endParaRPr lang="es-ES" sz="7034" u="none" strike="noStrike" noProof="0" dirty="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BE84D60-DD7A-5BA4-9359-C38E81B67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2447380"/>
            <a:ext cx="7032922" cy="570925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0F5198B-BD36-5C35-A6E5-865EFEEEA1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9522" y="2504000"/>
            <a:ext cx="7871428" cy="6195257"/>
          </a:xfrm>
          <a:prstGeom prst="rect">
            <a:avLst/>
          </a:prstGeom>
        </p:spPr>
      </p:pic>
      <p:sp>
        <p:nvSpPr>
          <p:cNvPr id="9" name="TextBox 13">
            <a:extLst>
              <a:ext uri="{FF2B5EF4-FFF2-40B4-BE49-F238E27FC236}">
                <a16:creationId xmlns:a16="http://schemas.microsoft.com/office/drawing/2014/main" id="{3C699FE2-4E26-D931-8514-43AC3E414A8F}"/>
              </a:ext>
            </a:extLst>
          </p:cNvPr>
          <p:cNvSpPr txBox="1"/>
          <p:nvPr/>
        </p:nvSpPr>
        <p:spPr>
          <a:xfrm>
            <a:off x="2667000" y="8830530"/>
            <a:ext cx="16036407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s-ES" sz="3600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La presión temporal no mejora el balance, pero induce recargas más conservadoras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D8BC8EF5-925B-71C6-27FF-6F553991521D}"/>
              </a:ext>
            </a:extLst>
          </p:cNvPr>
          <p:cNvSpPr txBox="1"/>
          <p:nvPr/>
        </p:nvSpPr>
        <p:spPr>
          <a:xfrm>
            <a:off x="172010" y="7753997"/>
            <a:ext cx="3574219" cy="21749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39494" lvl="1" indent="-469747" algn="l">
              <a:lnSpc>
                <a:spcPct val="150000"/>
              </a:lnSpc>
              <a:buFont typeface="+mj-lt"/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2: recompensa dispersa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3: acción stop 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4: información temporal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Demostración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Conclusiones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Líneas futuras</a:t>
            </a:r>
          </a:p>
        </p:txBody>
      </p:sp>
    </p:spTree>
    <p:extLst>
      <p:ext uri="{BB962C8B-B14F-4D97-AF65-F5344CB8AC3E}">
        <p14:creationId xmlns:p14="http://schemas.microsoft.com/office/powerpoint/2010/main" val="620701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2DDE9-3898-3161-FC1A-515B70DEB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F1656CB-4CFB-ED7A-82BA-C01285F4CDA3}"/>
              </a:ext>
            </a:extLst>
          </p:cNvPr>
          <p:cNvSpPr/>
          <p:nvPr/>
        </p:nvSpPr>
        <p:spPr>
          <a:xfrm rot="-10800000">
            <a:off x="0" y="1420722"/>
            <a:ext cx="18288000" cy="1662545"/>
          </a:xfrm>
          <a:custGeom>
            <a:avLst/>
            <a:gdLst/>
            <a:ahLst/>
            <a:cxnLst/>
            <a:rect l="l" t="t" r="r" b="b"/>
            <a:pathLst>
              <a:path w="18288000" h="1662545">
                <a:moveTo>
                  <a:pt x="0" y="0"/>
                </a:moveTo>
                <a:lnTo>
                  <a:pt x="18288000" y="0"/>
                </a:lnTo>
                <a:lnTo>
                  <a:pt x="18288000" y="1662545"/>
                </a:lnTo>
                <a:lnTo>
                  <a:pt x="0" y="1662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58EE42F-E003-42EA-5B7C-3DA32D05EB1E}"/>
              </a:ext>
            </a:extLst>
          </p:cNvPr>
          <p:cNvSpPr/>
          <p:nvPr/>
        </p:nvSpPr>
        <p:spPr>
          <a:xfrm>
            <a:off x="-31711" y="8760008"/>
            <a:ext cx="18288000" cy="1662545"/>
          </a:xfrm>
          <a:custGeom>
            <a:avLst/>
            <a:gdLst/>
            <a:ahLst/>
            <a:cxnLst/>
            <a:rect l="l" t="t" r="r" b="b"/>
            <a:pathLst>
              <a:path w="18288000" h="1662545">
                <a:moveTo>
                  <a:pt x="0" y="0"/>
                </a:moveTo>
                <a:lnTo>
                  <a:pt x="18288000" y="0"/>
                </a:lnTo>
                <a:lnTo>
                  <a:pt x="18288000" y="1662546"/>
                </a:lnTo>
                <a:lnTo>
                  <a:pt x="0" y="1662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8C02EA5-56D1-BBA6-67F3-6BDF0B1BDA9D}"/>
              </a:ext>
            </a:extLst>
          </p:cNvPr>
          <p:cNvGrpSpPr/>
          <p:nvPr/>
        </p:nvGrpSpPr>
        <p:grpSpPr>
          <a:xfrm>
            <a:off x="-31711" y="2561029"/>
            <a:ext cx="18351422" cy="6198979"/>
            <a:chOff x="0" y="0"/>
            <a:chExt cx="5186228" cy="1497157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CE64299-CBB8-8378-F641-A640E56A4B05}"/>
                </a:ext>
              </a:extLst>
            </p:cNvPr>
            <p:cNvSpPr/>
            <p:nvPr/>
          </p:nvSpPr>
          <p:spPr>
            <a:xfrm>
              <a:off x="0" y="0"/>
              <a:ext cx="5186228" cy="1497157"/>
            </a:xfrm>
            <a:custGeom>
              <a:avLst/>
              <a:gdLst/>
              <a:ahLst/>
              <a:cxnLst/>
              <a:rect l="l" t="t" r="r" b="b"/>
              <a:pathLst>
                <a:path w="5186228" h="1497157">
                  <a:moveTo>
                    <a:pt x="0" y="0"/>
                  </a:moveTo>
                  <a:lnTo>
                    <a:pt x="5186228" y="0"/>
                  </a:lnTo>
                  <a:lnTo>
                    <a:pt x="5186228" y="1497157"/>
                  </a:lnTo>
                  <a:lnTo>
                    <a:pt x="0" y="1497157"/>
                  </a:lnTo>
                  <a:close/>
                </a:path>
              </a:pathLst>
            </a:custGeom>
            <a:solidFill>
              <a:srgbClr val="4F83B3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FE2CD94-4692-B998-3DEB-76A186E792F7}"/>
                </a:ext>
              </a:extLst>
            </p:cNvPr>
            <p:cNvSpPr txBox="1"/>
            <p:nvPr/>
          </p:nvSpPr>
          <p:spPr>
            <a:xfrm>
              <a:off x="0" y="-38100"/>
              <a:ext cx="5186228" cy="15352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45E71597-E611-1140-3C6F-BB58A8499713}"/>
              </a:ext>
            </a:extLst>
          </p:cNvPr>
          <p:cNvSpPr txBox="1"/>
          <p:nvPr/>
        </p:nvSpPr>
        <p:spPr>
          <a:xfrm>
            <a:off x="1447255" y="67736"/>
            <a:ext cx="15266646" cy="1987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23"/>
              </a:lnSpc>
            </a:pPr>
            <a:r>
              <a:rPr lang="es-ES" sz="14000" dirty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 Bold"/>
                <a:sym typeface="Playfair Display Bold"/>
              </a:rPr>
              <a:t>10</a:t>
            </a:r>
            <a:r>
              <a:rPr lang="es-ES" sz="14000" noProof="0" dirty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 Bold"/>
                <a:sym typeface="Playfair Display Bold"/>
              </a:rPr>
              <a:t>. Demostración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D10EB81-0A7F-B764-3787-D9AF1C7D2F02}"/>
              </a:ext>
            </a:extLst>
          </p:cNvPr>
          <p:cNvSpPr txBox="1"/>
          <p:nvPr/>
        </p:nvSpPr>
        <p:spPr>
          <a:xfrm>
            <a:off x="-63422" y="6328850"/>
            <a:ext cx="3574219" cy="21749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39494" lvl="1" indent="-469747" algn="l">
              <a:lnSpc>
                <a:spcPct val="150000"/>
              </a:lnSpc>
              <a:buFont typeface="+mj-lt"/>
              <a:buAutoNum type="arabicPeriod" startAt="7"/>
            </a:pPr>
            <a:r>
              <a:rPr lang="es-ES" sz="1600" noProof="0" dirty="0">
                <a:solidFill>
                  <a:schemeClr val="bg1">
                    <a:lumMod val="8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2: recompensa dispersa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bg1">
                    <a:lumMod val="8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3: acción stop 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bg1">
                    <a:lumMod val="8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4: información temporal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Demostración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bg1">
                    <a:lumMod val="8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Conclusiones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bg1">
                    <a:lumMod val="8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Líneas futuras</a:t>
            </a:r>
          </a:p>
        </p:txBody>
      </p:sp>
    </p:spTree>
    <p:extLst>
      <p:ext uri="{BB962C8B-B14F-4D97-AF65-F5344CB8AC3E}">
        <p14:creationId xmlns:p14="http://schemas.microsoft.com/office/powerpoint/2010/main" val="34756571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8A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73491" y="0"/>
            <a:ext cx="8714509" cy="10287000"/>
            <a:chOff x="0" y="0"/>
            <a:chExt cx="2576410" cy="32554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76410" cy="3255440"/>
            </a:xfrm>
            <a:custGeom>
              <a:avLst/>
              <a:gdLst/>
              <a:ahLst/>
              <a:cxnLst/>
              <a:rect l="l" t="t" r="r" b="b"/>
              <a:pathLst>
                <a:path w="2576410" h="3255440">
                  <a:moveTo>
                    <a:pt x="0" y="0"/>
                  </a:moveTo>
                  <a:lnTo>
                    <a:pt x="2576410" y="0"/>
                  </a:lnTo>
                  <a:lnTo>
                    <a:pt x="2576410" y="3255440"/>
                  </a:lnTo>
                  <a:lnTo>
                    <a:pt x="0" y="32554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76410" cy="32935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5" name="Freeform 5"/>
          <p:cNvSpPr/>
          <p:nvPr/>
        </p:nvSpPr>
        <p:spPr>
          <a:xfrm rot="5400000">
            <a:off x="3971925" y="4675909"/>
            <a:ext cx="10287000" cy="935182"/>
          </a:xfrm>
          <a:custGeom>
            <a:avLst/>
            <a:gdLst/>
            <a:ahLst/>
            <a:cxnLst/>
            <a:rect l="l" t="t" r="r" b="b"/>
            <a:pathLst>
              <a:path w="10287000" h="935182">
                <a:moveTo>
                  <a:pt x="0" y="0"/>
                </a:moveTo>
                <a:lnTo>
                  <a:pt x="10287000" y="0"/>
                </a:lnTo>
                <a:lnTo>
                  <a:pt x="10287000" y="935182"/>
                </a:lnTo>
                <a:lnTo>
                  <a:pt x="0" y="9351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sp>
        <p:nvSpPr>
          <p:cNvPr id="10" name="AutoShape 10"/>
          <p:cNvSpPr/>
          <p:nvPr/>
        </p:nvSpPr>
        <p:spPr>
          <a:xfrm>
            <a:off x="10767060" y="1531875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1" name="TextBox 11"/>
          <p:cNvSpPr txBox="1"/>
          <p:nvPr/>
        </p:nvSpPr>
        <p:spPr>
          <a:xfrm>
            <a:off x="10407112" y="2053834"/>
            <a:ext cx="7195088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3200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Entorno RL completo desarrollado en CoppeliaSim + Python + PPO.</a:t>
            </a:r>
          </a:p>
          <a:p>
            <a:pPr algn="l">
              <a:spcBef>
                <a:spcPct val="0"/>
              </a:spcBef>
            </a:pPr>
            <a:endParaRPr lang="es-ES" sz="3200" noProof="0" dirty="0">
              <a:solidFill>
                <a:srgbClr val="1A216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71500" indent="-57150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3200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Las recompensas densas superaron claramente a las recompensas dispersas.</a:t>
            </a:r>
          </a:p>
          <a:p>
            <a:pPr algn="l">
              <a:spcBef>
                <a:spcPct val="0"/>
              </a:spcBef>
            </a:pPr>
            <a:endParaRPr lang="es-ES" sz="3200" noProof="0" dirty="0">
              <a:solidFill>
                <a:srgbClr val="1A216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71500" indent="-57150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320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s-ES" sz="3200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xp_006 obtuvo el mejor equilibrio global: cobertura, energía y balance.</a:t>
            </a:r>
          </a:p>
          <a:p>
            <a:pPr algn="l">
              <a:spcBef>
                <a:spcPct val="0"/>
              </a:spcBef>
            </a:pPr>
            <a:endParaRPr lang="es-ES" sz="3200" noProof="0" dirty="0">
              <a:solidFill>
                <a:srgbClr val="1A216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71500" indent="-57150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3200" noProof="0" dirty="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La información temporal modificó la estrategia energética, pero no resolvió el desequilibrio entre habitaciones.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1423" y="1203152"/>
            <a:ext cx="7184389" cy="850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6471"/>
              </a:lnSpc>
              <a:spcBef>
                <a:spcPct val="0"/>
              </a:spcBef>
            </a:pPr>
            <a:r>
              <a:rPr lang="es-ES" sz="7034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11</a:t>
            </a:r>
            <a:r>
              <a:rPr lang="es-ES" sz="7034" u="none" strike="noStrike" noProof="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. </a:t>
            </a:r>
            <a:r>
              <a:rPr lang="es-ES" sz="7034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Conclusiones</a:t>
            </a:r>
            <a:endParaRPr lang="es-ES" sz="7034" u="none" strike="noStrike" noProof="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Playfair Display"/>
              <a:sym typeface="Playfair Display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95E421C1-742F-E218-ACBC-5307D8AEBF75}"/>
              </a:ext>
            </a:extLst>
          </p:cNvPr>
          <p:cNvSpPr txBox="1"/>
          <p:nvPr/>
        </p:nvSpPr>
        <p:spPr>
          <a:xfrm>
            <a:off x="172010" y="7753997"/>
            <a:ext cx="3574219" cy="21749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39494" lvl="1" indent="-469747" algn="l">
              <a:lnSpc>
                <a:spcPct val="150000"/>
              </a:lnSpc>
              <a:buFont typeface="+mj-lt"/>
              <a:buAutoNum type="arabicPeriod" startAt="7"/>
            </a:pPr>
            <a:r>
              <a:rPr lang="es-ES" sz="1600" noProof="0" dirty="0">
                <a:solidFill>
                  <a:schemeClr val="bg1">
                    <a:lumMod val="8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2: recompensa dispersa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bg1">
                    <a:lumMod val="8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3: acción stop 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bg1">
                    <a:lumMod val="8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4: información temporal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bg1">
                    <a:lumMod val="8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Demostración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Conclusiones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bg1">
                    <a:lumMod val="8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Líneas futuras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8A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5010150" y="4675909"/>
            <a:ext cx="10287000" cy="935182"/>
          </a:xfrm>
          <a:custGeom>
            <a:avLst/>
            <a:gdLst/>
            <a:ahLst/>
            <a:cxnLst/>
            <a:rect l="l" t="t" r="r" b="b"/>
            <a:pathLst>
              <a:path w="10287000" h="935182">
                <a:moveTo>
                  <a:pt x="0" y="0"/>
                </a:moveTo>
                <a:lnTo>
                  <a:pt x="10287000" y="0"/>
                </a:lnTo>
                <a:lnTo>
                  <a:pt x="10287000" y="935182"/>
                </a:lnTo>
                <a:lnTo>
                  <a:pt x="0" y="9351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9782308" cy="10287000"/>
            <a:chOff x="0" y="0"/>
            <a:chExt cx="2576410" cy="32554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76410" cy="3255440"/>
            </a:xfrm>
            <a:custGeom>
              <a:avLst/>
              <a:gdLst/>
              <a:ahLst/>
              <a:cxnLst/>
              <a:rect l="l" t="t" r="r" b="b"/>
              <a:pathLst>
                <a:path w="2576410" h="3255440">
                  <a:moveTo>
                    <a:pt x="0" y="0"/>
                  </a:moveTo>
                  <a:lnTo>
                    <a:pt x="2576410" y="0"/>
                  </a:lnTo>
                  <a:lnTo>
                    <a:pt x="2576410" y="3255440"/>
                  </a:lnTo>
                  <a:lnTo>
                    <a:pt x="0" y="32554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576410" cy="32935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0767060" y="1531875"/>
            <a:ext cx="649224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1" name="TextBox 11"/>
          <p:cNvSpPr txBox="1"/>
          <p:nvPr/>
        </p:nvSpPr>
        <p:spPr>
          <a:xfrm>
            <a:off x="1099928" y="876260"/>
            <a:ext cx="6612922" cy="1154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26"/>
              </a:lnSpc>
            </a:pPr>
            <a:r>
              <a:rPr lang="es-ES" sz="703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12</a:t>
            </a:r>
            <a:r>
              <a:rPr lang="es-ES" sz="7030" noProof="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. Líneas futuras</a:t>
            </a: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F256A27D-0466-32A4-84E0-2EE8E666975A}"/>
              </a:ext>
            </a:extLst>
          </p:cNvPr>
          <p:cNvSpPr txBox="1"/>
          <p:nvPr/>
        </p:nvSpPr>
        <p:spPr>
          <a:xfrm>
            <a:off x="172010" y="7753997"/>
            <a:ext cx="3574219" cy="21749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39494" lvl="1" indent="-469747" algn="l">
              <a:lnSpc>
                <a:spcPct val="150000"/>
              </a:lnSpc>
              <a:buFont typeface="+mj-lt"/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2: recompensa dispersa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3: acción stop 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 4: información temporal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Demostración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>
                    <a:lumMod val="40000"/>
                    <a:lumOff val="6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Conclusiones</a:t>
            </a:r>
          </a:p>
          <a:p>
            <a:pPr marL="939494" lvl="1" indent="-469747" algn="l">
              <a:lnSpc>
                <a:spcPct val="150000"/>
              </a:lnSpc>
              <a:buAutoNum type="arabicPeriod" startAt="7"/>
            </a:pPr>
            <a:r>
              <a:rPr lang="es-ES" sz="1600" noProof="0" dirty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Líneas futuras</a:t>
            </a: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045BF988-3DD9-DF94-454F-A764E66BA7E4}"/>
              </a:ext>
            </a:extLst>
          </p:cNvPr>
          <p:cNvSpPr txBox="1"/>
          <p:nvPr/>
        </p:nvSpPr>
        <p:spPr>
          <a:xfrm>
            <a:off x="10415636" y="2196644"/>
            <a:ext cx="7195088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s-ES" sz="3200" b="1" noProof="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Complejidad del entorno</a:t>
            </a:r>
          </a:p>
          <a:p>
            <a:pPr marL="1028700" lvl="1" indent="-5715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3200" noProof="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Más habitaciones.</a:t>
            </a:r>
          </a:p>
          <a:p>
            <a:pPr marL="1028700" lvl="1" indent="-5715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3200" noProof="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Obstáculos dinámicos.</a:t>
            </a:r>
          </a:p>
          <a:p>
            <a:pPr marL="1028700" lvl="1" indent="-5715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3200" noProof="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Varias estaciones de carga.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98D710BF-AA18-299A-EA73-711ED084A867}"/>
              </a:ext>
            </a:extLst>
          </p:cNvPr>
          <p:cNvSpPr txBox="1"/>
          <p:nvPr/>
        </p:nvSpPr>
        <p:spPr>
          <a:xfrm>
            <a:off x="10415636" y="4610100"/>
            <a:ext cx="7195088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s-ES" sz="3200" b="1" noProof="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Mejoras en RL</a:t>
            </a:r>
          </a:p>
          <a:p>
            <a:pPr marL="914400" lvl="1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3200" noProof="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Algoritmos alternativos a PPO.</a:t>
            </a:r>
          </a:p>
          <a:p>
            <a:pPr marL="914400" lvl="1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3200" noProof="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Memoria temporal.</a:t>
            </a:r>
          </a:p>
          <a:p>
            <a:pPr marL="914400" lvl="1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3200" noProof="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Reward</a:t>
            </a:r>
            <a:r>
              <a:rPr lang="es-ES" sz="3200" noProof="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3200" noProof="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shaping</a:t>
            </a:r>
            <a:r>
              <a:rPr lang="es-ES" sz="3200" noProof="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multiobjetivo.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B478E624-EBD5-7BBC-7CE7-ED5605F3157E}"/>
              </a:ext>
            </a:extLst>
          </p:cNvPr>
          <p:cNvSpPr txBox="1"/>
          <p:nvPr/>
        </p:nvSpPr>
        <p:spPr>
          <a:xfrm>
            <a:off x="10415636" y="7105471"/>
            <a:ext cx="7195088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s-ES" sz="3200" b="1" noProof="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Escalado del sistema</a:t>
            </a:r>
          </a:p>
          <a:p>
            <a:pPr marL="914400" lvl="1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3200" noProof="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Transferencia a robot real.</a:t>
            </a:r>
          </a:p>
          <a:p>
            <a:pPr marL="914400" lvl="1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3200" noProof="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Patrullaje </a:t>
            </a:r>
            <a:r>
              <a:rPr lang="es-ES" sz="3200" noProof="0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multiagente</a:t>
            </a:r>
            <a:r>
              <a:rPr lang="es-ES" sz="3200" noProof="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1420722"/>
            <a:ext cx="18288000" cy="1662545"/>
          </a:xfrm>
          <a:custGeom>
            <a:avLst/>
            <a:gdLst/>
            <a:ahLst/>
            <a:cxnLst/>
            <a:rect l="l" t="t" r="r" b="b"/>
            <a:pathLst>
              <a:path w="18288000" h="1662545">
                <a:moveTo>
                  <a:pt x="0" y="0"/>
                </a:moveTo>
                <a:lnTo>
                  <a:pt x="18288000" y="0"/>
                </a:lnTo>
                <a:lnTo>
                  <a:pt x="18288000" y="1662545"/>
                </a:lnTo>
                <a:lnTo>
                  <a:pt x="0" y="1662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sp>
        <p:nvSpPr>
          <p:cNvPr id="3" name="Freeform 3"/>
          <p:cNvSpPr/>
          <p:nvPr/>
        </p:nvSpPr>
        <p:spPr>
          <a:xfrm>
            <a:off x="-63422" y="7801886"/>
            <a:ext cx="18288000" cy="1662545"/>
          </a:xfrm>
          <a:custGeom>
            <a:avLst/>
            <a:gdLst/>
            <a:ahLst/>
            <a:cxnLst/>
            <a:rect l="l" t="t" r="r" b="b"/>
            <a:pathLst>
              <a:path w="18288000" h="1662545">
                <a:moveTo>
                  <a:pt x="0" y="0"/>
                </a:moveTo>
                <a:lnTo>
                  <a:pt x="18288000" y="0"/>
                </a:lnTo>
                <a:lnTo>
                  <a:pt x="18288000" y="1662546"/>
                </a:lnTo>
                <a:lnTo>
                  <a:pt x="0" y="1662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grpSp>
        <p:nvGrpSpPr>
          <p:cNvPr id="4" name="Group 4"/>
          <p:cNvGrpSpPr/>
          <p:nvPr/>
        </p:nvGrpSpPr>
        <p:grpSpPr>
          <a:xfrm>
            <a:off x="-63422" y="2561029"/>
            <a:ext cx="18351422" cy="5684517"/>
            <a:chOff x="0" y="0"/>
            <a:chExt cx="5186228" cy="149715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86228" cy="1497157"/>
            </a:xfrm>
            <a:custGeom>
              <a:avLst/>
              <a:gdLst/>
              <a:ahLst/>
              <a:cxnLst/>
              <a:rect l="l" t="t" r="r" b="b"/>
              <a:pathLst>
                <a:path w="5186228" h="1497157">
                  <a:moveTo>
                    <a:pt x="0" y="0"/>
                  </a:moveTo>
                  <a:lnTo>
                    <a:pt x="5186228" y="0"/>
                  </a:lnTo>
                  <a:lnTo>
                    <a:pt x="5186228" y="1497157"/>
                  </a:lnTo>
                  <a:lnTo>
                    <a:pt x="0" y="1497157"/>
                  </a:lnTo>
                  <a:close/>
                </a:path>
              </a:pathLst>
            </a:custGeom>
            <a:solidFill>
              <a:srgbClr val="4F83B3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186228" cy="15352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10677" y="4082206"/>
            <a:ext cx="15266646" cy="1987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23"/>
              </a:lnSpc>
            </a:pPr>
            <a:r>
              <a:rPr lang="es-ES" sz="14000" noProof="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 Bold"/>
                <a:sym typeface="Playfair Display Bold"/>
              </a:rPr>
              <a:t>Muchas gracias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138472" y="6515940"/>
            <a:ext cx="6011057" cy="56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s-ES" sz="4696" noProof="0" dirty="0">
                <a:solidFill>
                  <a:srgbClr val="1A216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Por su atención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83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E9D1A4-5D68-5411-EF4D-415224C59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646DA72-C272-CD28-1414-68ADA018CB95}"/>
              </a:ext>
            </a:extLst>
          </p:cNvPr>
          <p:cNvSpPr/>
          <p:nvPr/>
        </p:nvSpPr>
        <p:spPr>
          <a:xfrm>
            <a:off x="10767060" y="1047750"/>
            <a:ext cx="649224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F61B59A-AA06-D9C8-1C72-9761F3152F67}"/>
              </a:ext>
            </a:extLst>
          </p:cNvPr>
          <p:cNvSpPr txBox="1"/>
          <p:nvPr/>
        </p:nvSpPr>
        <p:spPr>
          <a:xfrm>
            <a:off x="1858688" y="1595126"/>
            <a:ext cx="15667312" cy="4401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lang="es-ES" sz="6600" noProof="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APRENDIZAJE POR REFUERZO </a:t>
            </a:r>
          </a:p>
          <a:p>
            <a:pPr algn="r">
              <a:lnSpc>
                <a:spcPct val="150000"/>
              </a:lnSpc>
            </a:pPr>
            <a:r>
              <a:rPr lang="es-ES" sz="6600" noProof="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PARA EL CONTROL DE ALTO </a:t>
            </a:r>
          </a:p>
          <a:p>
            <a:pPr algn="r">
              <a:lnSpc>
                <a:spcPct val="150000"/>
              </a:lnSpc>
            </a:pPr>
            <a:r>
              <a:rPr lang="es-ES" sz="6600" noProof="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NIVEL DE ROBOTS MÓVILES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BE8DC5F-EEC2-56B0-B31B-E364BA1561F2}"/>
              </a:ext>
            </a:extLst>
          </p:cNvPr>
          <p:cNvSpPr txBox="1"/>
          <p:nvPr/>
        </p:nvSpPr>
        <p:spPr>
          <a:xfrm>
            <a:off x="6577852" y="7146633"/>
            <a:ext cx="10934701" cy="7324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563"/>
              </a:lnSpc>
            </a:pPr>
            <a:r>
              <a:rPr lang="es-ES" sz="6047" noProof="0" dirty="0">
                <a:solidFill>
                  <a:schemeClr val="tx2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Por David Solero Chicano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38D349B3-D5A0-7D00-0F6D-E6ED553C3D78}"/>
              </a:ext>
            </a:extLst>
          </p:cNvPr>
          <p:cNvGrpSpPr/>
          <p:nvPr/>
        </p:nvGrpSpPr>
        <p:grpSpPr>
          <a:xfrm rot="-5400000">
            <a:off x="-4214157" y="4214155"/>
            <a:ext cx="10287002" cy="1858688"/>
            <a:chOff x="0" y="0"/>
            <a:chExt cx="5186228" cy="997214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6D58AB1-2375-0937-03FD-4B05251CBCA7}"/>
                </a:ext>
              </a:extLst>
            </p:cNvPr>
            <p:cNvSpPr/>
            <p:nvPr/>
          </p:nvSpPr>
          <p:spPr>
            <a:xfrm>
              <a:off x="0" y="0"/>
              <a:ext cx="5186228" cy="997214"/>
            </a:xfrm>
            <a:custGeom>
              <a:avLst/>
              <a:gdLst/>
              <a:ahLst/>
              <a:cxnLst/>
              <a:rect l="l" t="t" r="r" b="b"/>
              <a:pathLst>
                <a:path w="5186228" h="997214">
                  <a:moveTo>
                    <a:pt x="0" y="0"/>
                  </a:moveTo>
                  <a:lnTo>
                    <a:pt x="5186228" y="0"/>
                  </a:lnTo>
                  <a:lnTo>
                    <a:pt x="5186228" y="997214"/>
                  </a:lnTo>
                  <a:lnTo>
                    <a:pt x="0" y="9972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 noProof="0" dirty="0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A4177D0-0C4A-57B8-8A02-C0C009E838EE}"/>
                </a:ext>
              </a:extLst>
            </p:cNvPr>
            <p:cNvSpPr txBox="1"/>
            <p:nvPr/>
          </p:nvSpPr>
          <p:spPr>
            <a:xfrm>
              <a:off x="0" y="-38100"/>
              <a:ext cx="5186228" cy="10353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s-ES" noProof="0" dirty="0"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196E5196-A73B-3363-9536-968FE7022AFB}"/>
              </a:ext>
            </a:extLst>
          </p:cNvPr>
          <p:cNvSpPr/>
          <p:nvPr/>
        </p:nvSpPr>
        <p:spPr>
          <a:xfrm rot="5400000">
            <a:off x="-3882315" y="4665083"/>
            <a:ext cx="10525172" cy="956834"/>
          </a:xfrm>
          <a:custGeom>
            <a:avLst/>
            <a:gdLst/>
            <a:ahLst/>
            <a:cxnLst/>
            <a:rect l="l" t="t" r="r" b="b"/>
            <a:pathLst>
              <a:path w="10525172" h="956834">
                <a:moveTo>
                  <a:pt x="0" y="0"/>
                </a:moveTo>
                <a:lnTo>
                  <a:pt x="10525172" y="0"/>
                </a:lnTo>
                <a:lnTo>
                  <a:pt x="10525172" y="956834"/>
                </a:lnTo>
                <a:lnTo>
                  <a:pt x="0" y="956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 noProof="0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905C34ED-1F92-E68D-5138-0FB28176D74E}"/>
              </a:ext>
            </a:extLst>
          </p:cNvPr>
          <p:cNvSpPr txBox="1"/>
          <p:nvPr/>
        </p:nvSpPr>
        <p:spPr>
          <a:xfrm>
            <a:off x="-990600" y="528581"/>
            <a:ext cx="10934701" cy="7324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563"/>
              </a:lnSpc>
            </a:pPr>
            <a:r>
              <a:rPr lang="es-ES" sz="4800" noProof="0" dirty="0">
                <a:solidFill>
                  <a:schemeClr val="tx2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Grado en Ingeniería informática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2D63B92-6563-66D5-1C17-98191BEA315D}"/>
              </a:ext>
            </a:extLst>
          </p:cNvPr>
          <p:cNvSpPr/>
          <p:nvPr/>
        </p:nvSpPr>
        <p:spPr>
          <a:xfrm>
            <a:off x="2396197" y="7962900"/>
            <a:ext cx="3242603" cy="1797776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Imagen 10" descr="SERVICIO DE COMUNICACIÓN - Marcas Oficiales - Universidad de Málaga">
            <a:extLst>
              <a:ext uri="{FF2B5EF4-FFF2-40B4-BE49-F238E27FC236}">
                <a16:creationId xmlns:a16="http://schemas.microsoft.com/office/drawing/2014/main" id="{395A38A6-57BA-EE7A-3007-A46B4A1CD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906" y="8306102"/>
            <a:ext cx="2907184" cy="1111371"/>
          </a:xfrm>
          <a:prstGeom prst="rect">
            <a:avLst/>
          </a:prstGeom>
        </p:spPr>
      </p:pic>
      <p:sp>
        <p:nvSpPr>
          <p:cNvPr id="13" name="TextBox 4">
            <a:extLst>
              <a:ext uri="{FF2B5EF4-FFF2-40B4-BE49-F238E27FC236}">
                <a16:creationId xmlns:a16="http://schemas.microsoft.com/office/drawing/2014/main" id="{CE0CCCB9-8481-D4E5-AD6A-669F7938EB61}"/>
              </a:ext>
            </a:extLst>
          </p:cNvPr>
          <p:cNvSpPr txBox="1"/>
          <p:nvPr/>
        </p:nvSpPr>
        <p:spPr>
          <a:xfrm>
            <a:off x="6591299" y="8381939"/>
            <a:ext cx="10934701" cy="1436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563"/>
              </a:lnSpc>
            </a:pPr>
            <a:r>
              <a:rPr lang="es-ES" sz="4400" dirty="0">
                <a:solidFill>
                  <a:schemeClr val="tx2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Tutorizado por</a:t>
            </a:r>
            <a:r>
              <a:rPr lang="es-ES" sz="4400" noProof="0" dirty="0">
                <a:solidFill>
                  <a:schemeClr val="tx2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 Ana María Cruz Martín y </a:t>
            </a:r>
          </a:p>
          <a:p>
            <a:pPr algn="r">
              <a:lnSpc>
                <a:spcPts val="5563"/>
              </a:lnSpc>
            </a:pPr>
            <a:r>
              <a:rPr lang="es-ES" sz="4400" noProof="0" dirty="0">
                <a:solidFill>
                  <a:schemeClr val="tx2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Playfair Display"/>
                <a:sym typeface="Playfair Display"/>
              </a:rPr>
              <a:t>Juan Antonio Fernández Madrigal  </a:t>
            </a:r>
          </a:p>
        </p:txBody>
      </p:sp>
    </p:spTree>
    <p:extLst>
      <p:ext uri="{BB962C8B-B14F-4D97-AF65-F5344CB8AC3E}">
        <p14:creationId xmlns:p14="http://schemas.microsoft.com/office/powerpoint/2010/main" val="2402494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833</Words>
  <Application>Microsoft Office PowerPoint</Application>
  <PresentationFormat>Personalizado</PresentationFormat>
  <Paragraphs>203</Paragraphs>
  <Slides>21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30" baseType="lpstr">
      <vt:lpstr>Open Sans</vt:lpstr>
      <vt:lpstr>Open Sans Bold Italics</vt:lpstr>
      <vt:lpstr>Playfair Display</vt:lpstr>
      <vt:lpstr>Open Sans Bold</vt:lpstr>
      <vt:lpstr>Arial</vt:lpstr>
      <vt:lpstr>Roboto Condensed</vt:lpstr>
      <vt:lpstr>Calibri</vt:lpstr>
      <vt:lpstr>Aptos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Trabajo Final Tesis Profesional Moderna Sencilla Azul </dc:title>
  <cp:lastModifiedBy>David Solero Chicano</cp:lastModifiedBy>
  <cp:revision>43</cp:revision>
  <dcterms:created xsi:type="dcterms:W3CDTF">2006-08-16T00:00:00Z</dcterms:created>
  <dcterms:modified xsi:type="dcterms:W3CDTF">2026-06-26T16:43:31Z</dcterms:modified>
  <dc:identifier>DAHLam64Q-M</dc:identifier>
</cp:coreProperties>
</file>