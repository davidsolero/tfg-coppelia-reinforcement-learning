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62" r:id="rId5"/>
    <p:sldId id="278" r:id="rId6"/>
    <p:sldId id="260" r:id="rId7"/>
    <p:sldId id="274" r:id="rId8"/>
    <p:sldId id="263" r:id="rId9"/>
    <p:sldId id="276" r:id="rId10"/>
    <p:sldId id="272" r:id="rId11"/>
    <p:sldId id="277" r:id="rId12"/>
    <p:sldId id="279" r:id="rId13"/>
    <p:sldId id="271" r:id="rId14"/>
    <p:sldId id="273" r:id="rId15"/>
    <p:sldId id="275" r:id="rId16"/>
    <p:sldId id="265" r:id="rId17"/>
    <p:sldId id="266" r:id="rId18"/>
    <p:sldId id="269" r:id="rId19"/>
    <p:sldId id="270" r:id="rId20"/>
  </p:sldIdLst>
  <p:sldSz cx="18288000" cy="10287000"/>
  <p:notesSz cx="6858000" cy="9144000"/>
  <p:embeddedFontLst>
    <p:embeddedFont>
      <p:font typeface="Open Sans" panose="020B0606030504020204" pitchFamily="34" charset="0"/>
      <p:regular r:id="rId22"/>
      <p:bold r:id="rId23"/>
      <p:italic r:id="rId24"/>
      <p:boldItalic r:id="rId25"/>
    </p:embeddedFont>
    <p:embeddedFont>
      <p:font typeface="Open Sans Bold" panose="020B0806030504020204" charset="0"/>
      <p:regular r:id="rId26"/>
    </p:embeddedFont>
    <p:embeddedFont>
      <p:font typeface="Open Sans Bold Italics" panose="020B0604020202020204" charset="0"/>
      <p:regular r:id="rId27"/>
    </p:embeddedFont>
    <p:embeddedFont>
      <p:font typeface="Playfair Display" panose="00000500000000000000" pitchFamily="2" charset="0"/>
      <p:regular r:id="rId28"/>
    </p:embeddedFont>
    <p:embeddedFont>
      <p:font typeface="Roboto Condensed" panose="02000000000000000000" pitchFamily="2" charset="0"/>
      <p:regular r:id="rId29"/>
      <p:bold r:id="rId3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3F4F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1" d="100"/>
          <a:sy n="71" d="100"/>
        </p:scale>
        <p:origin x="714" y="7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5.fntdata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4.fntdata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8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3.fntdata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2.fntdata"/><Relationship Id="rId28" Type="http://schemas.openxmlformats.org/officeDocument/2006/relationships/font" Target="fonts/font7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1.fntdata"/><Relationship Id="rId27" Type="http://schemas.openxmlformats.org/officeDocument/2006/relationships/font" Target="fonts/font6.fntdata"/><Relationship Id="rId30" Type="http://schemas.openxmlformats.org/officeDocument/2006/relationships/font" Target="fonts/font9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12FB25D-F884-468F-A70A-BA48D5C74FC7}" type="datetimeFigureOut">
              <a:rPr lang="es-ES" smtClean="0"/>
              <a:t>23/06/2026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68A2CB-74A5-4546-B53C-5D8DBB6BE761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728773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68A2CB-74A5-4546-B53C-5D8DBB6BE761}" type="slidenum">
              <a:rPr lang="es-ES" smtClean="0"/>
              <a:t>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24783347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68A2CB-74A5-4546-B53C-5D8DBB6BE761}" type="slidenum">
              <a:rPr lang="es-ES" smtClean="0"/>
              <a:t>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8065016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68A2CB-74A5-4546-B53C-5D8DBB6BE761}" type="slidenum">
              <a:rPr lang="es-ES" smtClean="0"/>
              <a:t>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5204625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C74E03-FDFA-26CD-BF24-AA7B6A6E68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FC7456DB-6414-6947-1080-EA05BAE9DA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1B575308-C169-ADE4-DCC8-E943DA9B14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A8F06AB5-E8BF-40D5-9E0F-B9C0D7AAF2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68A2CB-74A5-4546-B53C-5D8DBB6BE761}" type="slidenum">
              <a:rPr lang="es-ES" smtClean="0"/>
              <a:t>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8127423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6/23/2026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F83B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0767060" y="1047750"/>
            <a:ext cx="6492240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s-ES" noProof="0" dirty="0"/>
          </a:p>
        </p:txBody>
      </p:sp>
      <p:sp>
        <p:nvSpPr>
          <p:cNvPr id="3" name="TextBox 3"/>
          <p:cNvSpPr txBox="1"/>
          <p:nvPr/>
        </p:nvSpPr>
        <p:spPr>
          <a:xfrm>
            <a:off x="1858688" y="1595126"/>
            <a:ext cx="15667312" cy="440114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lang="es-ES" sz="6600" noProof="0" dirty="0">
                <a:solidFill>
                  <a:srgbClr val="FFFFF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APRENDIZAJE POR REFUERZO </a:t>
            </a:r>
          </a:p>
          <a:p>
            <a:pPr algn="r">
              <a:lnSpc>
                <a:spcPct val="150000"/>
              </a:lnSpc>
            </a:pPr>
            <a:r>
              <a:rPr lang="es-ES" sz="6600" noProof="0" dirty="0">
                <a:solidFill>
                  <a:srgbClr val="FFFFF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PARA EL CONTROL DE ALTO </a:t>
            </a:r>
          </a:p>
          <a:p>
            <a:pPr algn="r">
              <a:lnSpc>
                <a:spcPct val="150000"/>
              </a:lnSpc>
            </a:pPr>
            <a:r>
              <a:rPr lang="es-ES" sz="6600" noProof="0" dirty="0">
                <a:solidFill>
                  <a:srgbClr val="FFFFF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NIVEL DE ROBOTS MÓVILES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577852" y="7146633"/>
            <a:ext cx="10934701" cy="73244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5563"/>
              </a:lnSpc>
            </a:pPr>
            <a:r>
              <a:rPr lang="es-ES" sz="6047" noProof="0" dirty="0">
                <a:solidFill>
                  <a:schemeClr val="tx2">
                    <a:lumMod val="5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Por David Solero Chicano</a:t>
            </a:r>
          </a:p>
        </p:txBody>
      </p:sp>
      <p:grpSp>
        <p:nvGrpSpPr>
          <p:cNvPr id="7" name="Group 7"/>
          <p:cNvGrpSpPr/>
          <p:nvPr/>
        </p:nvGrpSpPr>
        <p:grpSpPr>
          <a:xfrm rot="-5400000">
            <a:off x="-4214157" y="4214155"/>
            <a:ext cx="10287002" cy="1858688"/>
            <a:chOff x="0" y="0"/>
            <a:chExt cx="5186228" cy="997214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5186228" cy="997214"/>
            </a:xfrm>
            <a:custGeom>
              <a:avLst/>
              <a:gdLst/>
              <a:ahLst/>
              <a:cxnLst/>
              <a:rect l="l" t="t" r="r" b="b"/>
              <a:pathLst>
                <a:path w="5186228" h="997214">
                  <a:moveTo>
                    <a:pt x="0" y="0"/>
                  </a:moveTo>
                  <a:lnTo>
                    <a:pt x="5186228" y="0"/>
                  </a:lnTo>
                  <a:lnTo>
                    <a:pt x="5186228" y="997214"/>
                  </a:lnTo>
                  <a:lnTo>
                    <a:pt x="0" y="997214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 noProof="0" dirty="0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5186228" cy="103531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 lang="es-ES" noProof="0" dirty="0"/>
            </a:p>
          </p:txBody>
        </p:sp>
      </p:grpSp>
      <p:sp>
        <p:nvSpPr>
          <p:cNvPr id="10" name="Freeform 10"/>
          <p:cNvSpPr/>
          <p:nvPr/>
        </p:nvSpPr>
        <p:spPr>
          <a:xfrm rot="5400000">
            <a:off x="-3882315" y="4665083"/>
            <a:ext cx="10525172" cy="956834"/>
          </a:xfrm>
          <a:custGeom>
            <a:avLst/>
            <a:gdLst/>
            <a:ahLst/>
            <a:cxnLst/>
            <a:rect l="l" t="t" r="r" b="b"/>
            <a:pathLst>
              <a:path w="10525172" h="956834">
                <a:moveTo>
                  <a:pt x="0" y="0"/>
                </a:moveTo>
                <a:lnTo>
                  <a:pt x="10525172" y="0"/>
                </a:lnTo>
                <a:lnTo>
                  <a:pt x="10525172" y="956834"/>
                </a:lnTo>
                <a:lnTo>
                  <a:pt x="0" y="95683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ES" noProof="0" dirty="0"/>
          </a:p>
        </p:txBody>
      </p:sp>
      <p:sp>
        <p:nvSpPr>
          <p:cNvPr id="6" name="TextBox 4">
            <a:extLst>
              <a:ext uri="{FF2B5EF4-FFF2-40B4-BE49-F238E27FC236}">
                <a16:creationId xmlns:a16="http://schemas.microsoft.com/office/drawing/2014/main" id="{24400D64-A2C9-5ABB-20D6-BBBA10C756E5}"/>
              </a:ext>
            </a:extLst>
          </p:cNvPr>
          <p:cNvSpPr txBox="1"/>
          <p:nvPr/>
        </p:nvSpPr>
        <p:spPr>
          <a:xfrm>
            <a:off x="-990600" y="528581"/>
            <a:ext cx="10934701" cy="73244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5563"/>
              </a:lnSpc>
            </a:pPr>
            <a:r>
              <a:rPr lang="es-ES" sz="4800" noProof="0" dirty="0">
                <a:solidFill>
                  <a:schemeClr val="tx2">
                    <a:lumMod val="5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Grado en Ingeniería informática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E579909B-3389-B174-E0D5-7337C2B92B64}"/>
              </a:ext>
            </a:extLst>
          </p:cNvPr>
          <p:cNvSpPr/>
          <p:nvPr/>
        </p:nvSpPr>
        <p:spPr>
          <a:xfrm>
            <a:off x="2396197" y="7962900"/>
            <a:ext cx="3242603" cy="1797776"/>
          </a:xfrm>
          <a:prstGeom prst="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pic>
        <p:nvPicPr>
          <p:cNvPr id="11" name="Imagen 10" descr="SERVICIO DE COMUNICACIÓN - Marcas Oficiales - Universidad de Málaga">
            <a:extLst>
              <a:ext uri="{FF2B5EF4-FFF2-40B4-BE49-F238E27FC236}">
                <a16:creationId xmlns:a16="http://schemas.microsoft.com/office/drawing/2014/main" id="{E3FB8202-5B9E-EB0D-1AB8-2BB379A5B9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3906" y="8306102"/>
            <a:ext cx="2907184" cy="1111371"/>
          </a:xfrm>
          <a:prstGeom prst="rect">
            <a:avLst/>
          </a:prstGeom>
        </p:spPr>
      </p:pic>
      <p:sp>
        <p:nvSpPr>
          <p:cNvPr id="13" name="TextBox 4">
            <a:extLst>
              <a:ext uri="{FF2B5EF4-FFF2-40B4-BE49-F238E27FC236}">
                <a16:creationId xmlns:a16="http://schemas.microsoft.com/office/drawing/2014/main" id="{A80B6589-2FA9-AD30-382D-8CE1C1EFC47D}"/>
              </a:ext>
            </a:extLst>
          </p:cNvPr>
          <p:cNvSpPr txBox="1"/>
          <p:nvPr/>
        </p:nvSpPr>
        <p:spPr>
          <a:xfrm>
            <a:off x="6591299" y="8381939"/>
            <a:ext cx="10934701" cy="143629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5563"/>
              </a:lnSpc>
            </a:pPr>
            <a:r>
              <a:rPr lang="es-ES" sz="4400" dirty="0">
                <a:solidFill>
                  <a:schemeClr val="tx2">
                    <a:lumMod val="5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Tutorizado por</a:t>
            </a:r>
            <a:r>
              <a:rPr lang="es-ES" sz="4400" noProof="0" dirty="0">
                <a:solidFill>
                  <a:schemeClr val="tx2">
                    <a:lumMod val="5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 Ana María Cruz Martín y </a:t>
            </a:r>
          </a:p>
          <a:p>
            <a:pPr algn="r">
              <a:lnSpc>
                <a:spcPts val="5563"/>
              </a:lnSpc>
            </a:pPr>
            <a:r>
              <a:rPr lang="es-ES" sz="4400" noProof="0" dirty="0">
                <a:solidFill>
                  <a:schemeClr val="tx2">
                    <a:lumMod val="5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Juan Antonio Fernández Madrigal  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68AB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5400000">
            <a:off x="3972939" y="4784169"/>
            <a:ext cx="10525172" cy="956834"/>
          </a:xfrm>
          <a:custGeom>
            <a:avLst/>
            <a:gdLst/>
            <a:ahLst/>
            <a:cxnLst/>
            <a:rect l="l" t="t" r="r" b="b"/>
            <a:pathLst>
              <a:path w="10525172" h="956834">
                <a:moveTo>
                  <a:pt x="0" y="0"/>
                </a:moveTo>
                <a:lnTo>
                  <a:pt x="10525172" y="0"/>
                </a:lnTo>
                <a:lnTo>
                  <a:pt x="10525172" y="956834"/>
                </a:lnTo>
                <a:lnTo>
                  <a:pt x="0" y="95683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ES" noProof="0" dirty="0"/>
          </a:p>
        </p:txBody>
      </p:sp>
      <p:grpSp>
        <p:nvGrpSpPr>
          <p:cNvPr id="3" name="Group 3"/>
          <p:cNvGrpSpPr/>
          <p:nvPr/>
        </p:nvGrpSpPr>
        <p:grpSpPr>
          <a:xfrm>
            <a:off x="9586635" y="1"/>
            <a:ext cx="8701365" cy="10287000"/>
            <a:chOff x="0" y="0"/>
            <a:chExt cx="2403141" cy="283479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403141" cy="2834790"/>
            </a:xfrm>
            <a:custGeom>
              <a:avLst/>
              <a:gdLst/>
              <a:ahLst/>
              <a:cxnLst/>
              <a:rect l="l" t="t" r="r" b="b"/>
              <a:pathLst>
                <a:path w="2403141" h="2834790">
                  <a:moveTo>
                    <a:pt x="0" y="0"/>
                  </a:moveTo>
                  <a:lnTo>
                    <a:pt x="2403141" y="0"/>
                  </a:lnTo>
                  <a:lnTo>
                    <a:pt x="2403141" y="2834790"/>
                  </a:lnTo>
                  <a:lnTo>
                    <a:pt x="0" y="283479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 noProof="0" dirty="0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2403141" cy="287289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 lang="es-ES" noProof="0" dirty="0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729882" y="2009728"/>
            <a:ext cx="6189026" cy="9072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471"/>
              </a:lnSpc>
            </a:pPr>
            <a:r>
              <a:rPr lang="es-ES" sz="8800" noProof="0" dirty="0">
                <a:solidFill>
                  <a:srgbClr val="FFFFF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CONTENIDOS</a:t>
            </a:r>
            <a:endParaRPr lang="es-ES" sz="7034" noProof="0" dirty="0">
              <a:solidFill>
                <a:srgbClr val="FFFFFF"/>
              </a:solidFill>
              <a:latin typeface="Roboto Condensed" panose="02000000000000000000" pitchFamily="2" charset="0"/>
              <a:ea typeface="Roboto Condensed" panose="02000000000000000000" pitchFamily="2" charset="0"/>
              <a:cs typeface="Playfair Display"/>
              <a:sym typeface="Playfair Display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9809971" y="477959"/>
            <a:ext cx="8382000" cy="933108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939494" lvl="1" indent="-469747" algn="l">
              <a:lnSpc>
                <a:spcPts val="6092"/>
              </a:lnSpc>
              <a:buAutoNum type="arabicPeriod"/>
            </a:pPr>
            <a:r>
              <a:rPr lang="es-ES" sz="4351" noProof="0" dirty="0">
                <a:solidFill>
                  <a:srgbClr val="1A216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Motivación y contexto</a:t>
            </a:r>
          </a:p>
          <a:p>
            <a:pPr marL="939494" lvl="1" indent="-469747" algn="l">
              <a:lnSpc>
                <a:spcPts val="6092"/>
              </a:lnSpc>
              <a:buAutoNum type="arabicPeriod"/>
            </a:pPr>
            <a:r>
              <a:rPr lang="es-ES" sz="4351" noProof="0" dirty="0">
                <a:solidFill>
                  <a:srgbClr val="1A216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Objetivos</a:t>
            </a:r>
          </a:p>
          <a:p>
            <a:pPr marL="939494" lvl="1" indent="-469747" algn="l">
              <a:lnSpc>
                <a:spcPts val="6092"/>
              </a:lnSpc>
              <a:buAutoNum type="arabicPeriod"/>
            </a:pPr>
            <a:r>
              <a:rPr lang="es-ES" sz="4351" dirty="0">
                <a:solidFill>
                  <a:srgbClr val="1A216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Tecnologías usadas</a:t>
            </a:r>
            <a:endParaRPr lang="es-ES" sz="4351" noProof="0" dirty="0">
              <a:solidFill>
                <a:srgbClr val="1A2161"/>
              </a:solidFill>
              <a:latin typeface="Roboto Condensed" panose="02000000000000000000" pitchFamily="2" charset="0"/>
              <a:ea typeface="Roboto Condensed" panose="02000000000000000000" pitchFamily="2" charset="0"/>
              <a:cs typeface="Playfair Display"/>
              <a:sym typeface="Playfair Display"/>
            </a:endParaRPr>
          </a:p>
          <a:p>
            <a:pPr marL="939494" lvl="1" indent="-469747" algn="l">
              <a:lnSpc>
                <a:spcPts val="6092"/>
              </a:lnSpc>
              <a:buAutoNum type="arabicPeriod"/>
            </a:pPr>
            <a:r>
              <a:rPr lang="es-ES" sz="4351" noProof="0" dirty="0">
                <a:solidFill>
                  <a:srgbClr val="1A216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Arquitectura del sistema</a:t>
            </a:r>
          </a:p>
          <a:p>
            <a:pPr marL="939494" lvl="1" indent="-469747" algn="l">
              <a:lnSpc>
                <a:spcPts val="6092"/>
              </a:lnSpc>
              <a:buAutoNum type="arabicPeriod"/>
            </a:pPr>
            <a:r>
              <a:rPr lang="es-ES" sz="4351" noProof="0" dirty="0">
                <a:solidFill>
                  <a:srgbClr val="1A216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Definición del problema RL</a:t>
            </a:r>
          </a:p>
          <a:p>
            <a:pPr marL="939494" lvl="1" indent="-469747" algn="l">
              <a:lnSpc>
                <a:spcPts val="6092"/>
              </a:lnSpc>
              <a:buAutoNum type="arabicPeriod"/>
            </a:pPr>
            <a:r>
              <a:rPr lang="es-ES" sz="4351" noProof="0" dirty="0">
                <a:solidFill>
                  <a:srgbClr val="1A216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1: recompensa densa</a:t>
            </a:r>
          </a:p>
          <a:p>
            <a:pPr marL="939494" lvl="1" indent="-469747" algn="l">
              <a:lnSpc>
                <a:spcPts val="6092"/>
              </a:lnSpc>
              <a:buAutoNum type="arabicPeriod"/>
            </a:pPr>
            <a:r>
              <a:rPr lang="es-ES" sz="4351" noProof="0" dirty="0">
                <a:solidFill>
                  <a:srgbClr val="1A216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2: recompensa dispersa</a:t>
            </a:r>
          </a:p>
          <a:p>
            <a:pPr marL="939494" lvl="1" indent="-469747" algn="l">
              <a:lnSpc>
                <a:spcPts val="6092"/>
              </a:lnSpc>
              <a:buAutoNum type="arabicPeriod"/>
            </a:pPr>
            <a:r>
              <a:rPr lang="es-ES" sz="4351" noProof="0" dirty="0">
                <a:solidFill>
                  <a:srgbClr val="1A216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3: acción stop </a:t>
            </a:r>
          </a:p>
          <a:p>
            <a:pPr marL="939494" lvl="1" indent="-469747" algn="l">
              <a:lnSpc>
                <a:spcPts val="6092"/>
              </a:lnSpc>
              <a:buAutoNum type="arabicPeriod"/>
            </a:pPr>
            <a:r>
              <a:rPr lang="es-ES" sz="4351" noProof="0" dirty="0">
                <a:solidFill>
                  <a:srgbClr val="1A216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4: información temporal</a:t>
            </a:r>
          </a:p>
          <a:p>
            <a:pPr marL="939494" lvl="1" indent="-469747" algn="l">
              <a:lnSpc>
                <a:spcPts val="6092"/>
              </a:lnSpc>
              <a:buAutoNum type="arabicPeriod"/>
            </a:pPr>
            <a:r>
              <a:rPr lang="es-ES" sz="4351" noProof="0" dirty="0">
                <a:solidFill>
                  <a:srgbClr val="1A216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Demostración</a:t>
            </a:r>
          </a:p>
          <a:p>
            <a:pPr marL="939494" lvl="1" indent="-469747" algn="l">
              <a:lnSpc>
                <a:spcPts val="6092"/>
              </a:lnSpc>
              <a:buAutoNum type="arabicPeriod"/>
            </a:pPr>
            <a:r>
              <a:rPr lang="es-ES" sz="4351" noProof="0" dirty="0">
                <a:solidFill>
                  <a:srgbClr val="1A216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Conclusiones</a:t>
            </a:r>
          </a:p>
          <a:p>
            <a:pPr marL="939494" lvl="1" indent="-469747" algn="l">
              <a:lnSpc>
                <a:spcPts val="6092"/>
              </a:lnSpc>
              <a:buAutoNum type="arabicPeriod"/>
            </a:pPr>
            <a:r>
              <a:rPr lang="es-ES" sz="4351" noProof="0" dirty="0">
                <a:solidFill>
                  <a:srgbClr val="1A216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Líneas futuras</a:t>
            </a:r>
          </a:p>
        </p:txBody>
      </p:sp>
      <p:pic>
        <p:nvPicPr>
          <p:cNvPr id="18" name="Imagen 17">
            <a:extLst>
              <a:ext uri="{FF2B5EF4-FFF2-40B4-BE49-F238E27FC236}">
                <a16:creationId xmlns:a16="http://schemas.microsoft.com/office/drawing/2014/main" id="{934C1551-5EB8-0A19-9F7C-7B1BBCB43C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38652" y="3238500"/>
            <a:ext cx="5571486" cy="5981377"/>
          </a:xfrm>
          <a:prstGeom prst="rect">
            <a:avLst/>
          </a:prstGeom>
          <a:solidFill>
            <a:srgbClr val="FFFFFF">
              <a:shade val="85000"/>
            </a:srgbClr>
          </a:solidFill>
          <a:ln w="28575" cap="sq">
            <a:solidFill>
              <a:schemeClr val="tx1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68AB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5400000">
            <a:off x="-4712303" y="4784169"/>
            <a:ext cx="10525172" cy="956834"/>
          </a:xfrm>
          <a:custGeom>
            <a:avLst/>
            <a:gdLst/>
            <a:ahLst/>
            <a:cxnLst/>
            <a:rect l="l" t="t" r="r" b="b"/>
            <a:pathLst>
              <a:path w="10525172" h="956834">
                <a:moveTo>
                  <a:pt x="0" y="0"/>
                </a:moveTo>
                <a:lnTo>
                  <a:pt x="10525172" y="0"/>
                </a:lnTo>
                <a:lnTo>
                  <a:pt x="10525172" y="956834"/>
                </a:lnTo>
                <a:lnTo>
                  <a:pt x="0" y="9568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ES" noProof="0" dirty="0"/>
          </a:p>
        </p:txBody>
      </p:sp>
      <p:grpSp>
        <p:nvGrpSpPr>
          <p:cNvPr id="3" name="Group 3"/>
          <p:cNvGrpSpPr/>
          <p:nvPr/>
        </p:nvGrpSpPr>
        <p:grpSpPr>
          <a:xfrm>
            <a:off x="1028701" y="1"/>
            <a:ext cx="17259300" cy="10287000"/>
            <a:chOff x="0" y="0"/>
            <a:chExt cx="4667029" cy="283479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4667029" cy="2834790"/>
            </a:xfrm>
            <a:custGeom>
              <a:avLst/>
              <a:gdLst/>
              <a:ahLst/>
              <a:cxnLst/>
              <a:rect l="l" t="t" r="r" b="b"/>
              <a:pathLst>
                <a:path w="4667029" h="2834790">
                  <a:moveTo>
                    <a:pt x="0" y="0"/>
                  </a:moveTo>
                  <a:lnTo>
                    <a:pt x="4667029" y="0"/>
                  </a:lnTo>
                  <a:lnTo>
                    <a:pt x="4667029" y="2834790"/>
                  </a:lnTo>
                  <a:lnTo>
                    <a:pt x="0" y="283479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 noProof="0" dirty="0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4667029" cy="287289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 lang="es-ES" noProof="0" dirty="0"/>
            </a:p>
          </p:txBody>
        </p:sp>
      </p:grpSp>
      <p:sp>
        <p:nvSpPr>
          <p:cNvPr id="6" name="AutoShape 6"/>
          <p:cNvSpPr/>
          <p:nvPr/>
        </p:nvSpPr>
        <p:spPr>
          <a:xfrm flipV="1">
            <a:off x="10767060" y="1028700"/>
            <a:ext cx="7368540" cy="1905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s-ES" noProof="0" dirty="0"/>
          </a:p>
        </p:txBody>
      </p:sp>
      <p:sp>
        <p:nvSpPr>
          <p:cNvPr id="9" name="TextBox 9"/>
          <p:cNvSpPr txBox="1"/>
          <p:nvPr/>
        </p:nvSpPr>
        <p:spPr>
          <a:xfrm>
            <a:off x="1150529" y="345008"/>
            <a:ext cx="9494703" cy="235365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1484477" lvl="1" indent="-742238">
              <a:lnSpc>
                <a:spcPts val="9626"/>
              </a:lnSpc>
              <a:buFontTx/>
              <a:buAutoNum type="arabicPeriod"/>
            </a:pPr>
            <a:r>
              <a:rPr lang="es-ES" sz="7200" dirty="0">
                <a:solidFill>
                  <a:srgbClr val="1A216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Motivación y contexto</a:t>
            </a:r>
          </a:p>
          <a:p>
            <a:pPr marL="1484477" lvl="1" indent="-742238" algn="l">
              <a:lnSpc>
                <a:spcPts val="9626"/>
              </a:lnSpc>
              <a:buAutoNum type="arabicPeriod"/>
            </a:pPr>
            <a:endParaRPr lang="es-ES" sz="6875" noProof="0" dirty="0">
              <a:solidFill>
                <a:srgbClr val="1A2161"/>
              </a:solidFill>
              <a:latin typeface="Playfair Display"/>
              <a:ea typeface="Playfair Display"/>
              <a:cs typeface="Playfair Display"/>
              <a:sym typeface="Playfair Display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2148170" y="2178139"/>
            <a:ext cx="9299536" cy="104105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164"/>
              </a:lnSpc>
              <a:spcBef>
                <a:spcPct val="0"/>
              </a:spcBef>
            </a:pPr>
            <a:r>
              <a:rPr lang="es-ES" sz="2974" b="1" i="1" noProof="0" dirty="0">
                <a:solidFill>
                  <a:srgbClr val="1A2161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¿Cómo decide un robot cuándo patrullar y cuándo recargar?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2148170" y="3393669"/>
            <a:ext cx="9053230" cy="377398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457200" indent="-457200" algn="l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s-ES" sz="2774" noProof="0" dirty="0">
                <a:solidFill>
                  <a:srgbClr val="1A2161"/>
                </a:solidFill>
                <a:latin typeface="Open Sans"/>
                <a:ea typeface="Open Sans"/>
                <a:cs typeface="Open Sans"/>
                <a:sym typeface="Open Sans"/>
              </a:rPr>
              <a:t>Robots móviles en vigilancia, hospitales y almacenes</a:t>
            </a:r>
          </a:p>
          <a:p>
            <a:pPr marL="457200" indent="-457200" algn="l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s-ES" sz="2774" noProof="0" dirty="0">
                <a:solidFill>
                  <a:srgbClr val="1A2161"/>
                </a:solidFill>
                <a:latin typeface="Open Sans"/>
                <a:ea typeface="Open Sans"/>
                <a:cs typeface="Open Sans"/>
                <a:sym typeface="Open Sans"/>
              </a:rPr>
              <a:t>Decisiones de alto nivel: qué zona visitar, cuándo recargar</a:t>
            </a:r>
          </a:p>
          <a:p>
            <a:pPr marL="457200" indent="-457200" algn="l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s-ES" sz="2774" noProof="0" dirty="0">
                <a:solidFill>
                  <a:srgbClr val="1A2161"/>
                </a:solidFill>
                <a:latin typeface="Open Sans"/>
                <a:ea typeface="Open Sans"/>
                <a:cs typeface="Open Sans"/>
                <a:sym typeface="Open Sans"/>
              </a:rPr>
              <a:t>Enfoques clásicos: reglas fijas → poca adaptabilidad</a:t>
            </a:r>
          </a:p>
          <a:p>
            <a:pPr marL="457200" indent="-457200" algn="l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s-ES" sz="2774" noProof="0" dirty="0">
                <a:solidFill>
                  <a:srgbClr val="1A2161"/>
                </a:solidFill>
                <a:latin typeface="Open Sans"/>
                <a:ea typeface="Open Sans"/>
                <a:cs typeface="Open Sans"/>
                <a:sym typeface="Open Sans"/>
              </a:rPr>
              <a:t>Aprendizaje por refuerzo: el agente aprende por experiencia</a:t>
            </a:r>
          </a:p>
        </p:txBody>
      </p:sp>
      <p:sp>
        <p:nvSpPr>
          <p:cNvPr id="14" name="TextBox 9">
            <a:extLst>
              <a:ext uri="{FF2B5EF4-FFF2-40B4-BE49-F238E27FC236}">
                <a16:creationId xmlns:a16="http://schemas.microsoft.com/office/drawing/2014/main" id="{462A9AFC-AB12-A7B4-6CC5-F775420EB051}"/>
              </a:ext>
            </a:extLst>
          </p:cNvPr>
          <p:cNvSpPr txBox="1"/>
          <p:nvPr/>
        </p:nvSpPr>
        <p:spPr>
          <a:xfrm>
            <a:off x="840899" y="7791691"/>
            <a:ext cx="3574219" cy="217495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rgbClr val="1A216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Motivación y contexto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Objetivos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Tecnologías usadas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Arquitectura del sistema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Definición del problema RL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1: recompensa densa</a:t>
            </a:r>
          </a:p>
        </p:txBody>
      </p:sp>
      <p:pic>
        <p:nvPicPr>
          <p:cNvPr id="18" name="Imagen 17">
            <a:extLst>
              <a:ext uri="{FF2B5EF4-FFF2-40B4-BE49-F238E27FC236}">
                <a16:creationId xmlns:a16="http://schemas.microsoft.com/office/drawing/2014/main" id="{246FE023-F543-3CBF-04A0-C23E5E6C90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293087" y="1759324"/>
            <a:ext cx="5149532" cy="781610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68AB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2755003"/>
            <a:ext cx="18288000" cy="1662545"/>
          </a:xfrm>
          <a:custGeom>
            <a:avLst/>
            <a:gdLst/>
            <a:ahLst/>
            <a:cxnLst/>
            <a:rect l="l" t="t" r="r" b="b"/>
            <a:pathLst>
              <a:path w="18288000" h="1662545">
                <a:moveTo>
                  <a:pt x="0" y="0"/>
                </a:moveTo>
                <a:lnTo>
                  <a:pt x="18288000" y="0"/>
                </a:lnTo>
                <a:lnTo>
                  <a:pt x="18288000" y="1662545"/>
                </a:lnTo>
                <a:lnTo>
                  <a:pt x="0" y="166254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ES" noProof="0" dirty="0"/>
          </a:p>
        </p:txBody>
      </p:sp>
      <p:grpSp>
        <p:nvGrpSpPr>
          <p:cNvPr id="3" name="Group 3"/>
          <p:cNvGrpSpPr/>
          <p:nvPr/>
        </p:nvGrpSpPr>
        <p:grpSpPr>
          <a:xfrm>
            <a:off x="1" y="-1"/>
            <a:ext cx="18288000" cy="2997895"/>
            <a:chOff x="0" y="0"/>
            <a:chExt cx="5186228" cy="997214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5186228" cy="997214"/>
            </a:xfrm>
            <a:custGeom>
              <a:avLst/>
              <a:gdLst/>
              <a:ahLst/>
              <a:cxnLst/>
              <a:rect l="l" t="t" r="r" b="b"/>
              <a:pathLst>
                <a:path w="5186228" h="997214">
                  <a:moveTo>
                    <a:pt x="0" y="0"/>
                  </a:moveTo>
                  <a:lnTo>
                    <a:pt x="5186228" y="0"/>
                  </a:lnTo>
                  <a:lnTo>
                    <a:pt x="5186228" y="997214"/>
                  </a:lnTo>
                  <a:lnTo>
                    <a:pt x="0" y="997214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 noProof="0" dirty="0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5186228" cy="103531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 lang="es-ES" noProof="0" dirty="0"/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1028700" y="876260"/>
            <a:ext cx="7529484" cy="11437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626"/>
              </a:lnSpc>
            </a:pPr>
            <a:r>
              <a:rPr lang="es-ES" sz="7200" dirty="0">
                <a:solidFill>
                  <a:srgbClr val="1A216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2</a:t>
            </a:r>
            <a:r>
              <a:rPr lang="es-ES" sz="7200" noProof="0" dirty="0">
                <a:solidFill>
                  <a:srgbClr val="1A216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. </a:t>
            </a:r>
            <a:r>
              <a:rPr lang="es-ES" sz="7200" noProof="0" dirty="0" err="1">
                <a:solidFill>
                  <a:srgbClr val="1A216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Ob</a:t>
            </a:r>
            <a:r>
              <a:rPr lang="es-ES" sz="7200" dirty="0" err="1">
                <a:solidFill>
                  <a:srgbClr val="1A216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jetivos</a:t>
            </a:r>
            <a:endParaRPr lang="es-ES" sz="7200" noProof="0" dirty="0">
              <a:solidFill>
                <a:srgbClr val="1A2161"/>
              </a:solidFill>
              <a:latin typeface="Roboto Condensed" panose="02000000000000000000" pitchFamily="2" charset="0"/>
              <a:ea typeface="Roboto Condensed" panose="02000000000000000000" pitchFamily="2" charset="0"/>
              <a:cs typeface="Playfair Display"/>
              <a:sym typeface="Playfair Display"/>
            </a:endParaRPr>
          </a:p>
        </p:txBody>
      </p:sp>
      <p:sp>
        <p:nvSpPr>
          <p:cNvPr id="12" name="Rectángulo: esquinas redondeadas 11">
            <a:extLst>
              <a:ext uri="{FF2B5EF4-FFF2-40B4-BE49-F238E27FC236}">
                <a16:creationId xmlns:a16="http://schemas.microsoft.com/office/drawing/2014/main" id="{D6C4E6A1-3851-AA5C-5989-900BA0D71F8F}"/>
              </a:ext>
            </a:extLst>
          </p:cNvPr>
          <p:cNvSpPr/>
          <p:nvPr/>
        </p:nvSpPr>
        <p:spPr>
          <a:xfrm>
            <a:off x="8458200" y="1601008"/>
            <a:ext cx="8686800" cy="3269509"/>
          </a:xfrm>
          <a:prstGeom prst="roundRect">
            <a:avLst/>
          </a:prstGeom>
          <a:ln>
            <a:solidFill>
              <a:schemeClr val="tx2">
                <a:lumMod val="5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0CA7AA03-E4EC-E6A5-28EF-DE6B23FECEFA}"/>
              </a:ext>
            </a:extLst>
          </p:cNvPr>
          <p:cNvSpPr txBox="1"/>
          <p:nvPr/>
        </p:nvSpPr>
        <p:spPr>
          <a:xfrm>
            <a:off x="9158316" y="1938870"/>
            <a:ext cx="7529484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3200" dirty="0">
                <a:solidFill>
                  <a:schemeClr val="tx2">
                    <a:lumMod val="50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</a:t>
            </a:r>
            <a:r>
              <a:rPr lang="es-ES" sz="3200" b="0" i="0" dirty="0">
                <a:solidFill>
                  <a:schemeClr val="tx2">
                    <a:lumMod val="50000"/>
                  </a:schemeClr>
                </a:solidFill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prendizaje de alto nivel para un robot móvil simulado basada en aprendizaje por refuerzo, maximizando la cobertura y gestionando su autonomía.</a:t>
            </a:r>
            <a:endParaRPr lang="es-ES" sz="3200" dirty="0">
              <a:solidFill>
                <a:schemeClr val="tx2">
                  <a:lumMod val="50000"/>
                </a:schemeClr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7" name="Diagrama de flujo: conector 16">
            <a:extLst>
              <a:ext uri="{FF2B5EF4-FFF2-40B4-BE49-F238E27FC236}">
                <a16:creationId xmlns:a16="http://schemas.microsoft.com/office/drawing/2014/main" id="{643B1AB3-BBDB-F0D1-6609-3B4108634E20}"/>
              </a:ext>
            </a:extLst>
          </p:cNvPr>
          <p:cNvSpPr/>
          <p:nvPr/>
        </p:nvSpPr>
        <p:spPr>
          <a:xfrm>
            <a:off x="16099280" y="1138067"/>
            <a:ext cx="1426720" cy="1434764"/>
          </a:xfrm>
          <a:prstGeom prst="flowChartConnector">
            <a:avLst/>
          </a:prstGeom>
          <a:ln>
            <a:solidFill>
              <a:schemeClr val="tx2">
                <a:lumMod val="50000"/>
              </a:schemeClr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sz="4800" dirty="0">
                <a:solidFill>
                  <a:schemeClr val="tx2">
                    <a:lumMod val="5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</a:rPr>
              <a:t>1</a:t>
            </a:r>
          </a:p>
        </p:txBody>
      </p:sp>
      <p:sp>
        <p:nvSpPr>
          <p:cNvPr id="31" name="Rectángulo: esquinas redondeadas 30">
            <a:extLst>
              <a:ext uri="{FF2B5EF4-FFF2-40B4-BE49-F238E27FC236}">
                <a16:creationId xmlns:a16="http://schemas.microsoft.com/office/drawing/2014/main" id="{C46CFFF6-EAF2-7995-ADA0-0CEDDA8EB6F7}"/>
              </a:ext>
            </a:extLst>
          </p:cNvPr>
          <p:cNvSpPr/>
          <p:nvPr/>
        </p:nvSpPr>
        <p:spPr>
          <a:xfrm>
            <a:off x="8458200" y="6163200"/>
            <a:ext cx="8686800" cy="3595508"/>
          </a:xfrm>
          <a:prstGeom prst="roundRect">
            <a:avLst/>
          </a:prstGeom>
          <a:ln>
            <a:solidFill>
              <a:schemeClr val="tx2">
                <a:lumMod val="5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33" name="CuadroTexto 32">
            <a:extLst>
              <a:ext uri="{FF2B5EF4-FFF2-40B4-BE49-F238E27FC236}">
                <a16:creationId xmlns:a16="http://schemas.microsoft.com/office/drawing/2014/main" id="{8F5B45A3-AE88-B7C6-6FAE-013522AE362E}"/>
              </a:ext>
            </a:extLst>
          </p:cNvPr>
          <p:cNvSpPr txBox="1"/>
          <p:nvPr/>
        </p:nvSpPr>
        <p:spPr>
          <a:xfrm>
            <a:off x="8895229" y="6489199"/>
            <a:ext cx="8153400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s-ES" sz="2800" dirty="0">
                <a:solidFill>
                  <a:schemeClr val="tx2">
                    <a:lumMod val="50000"/>
                  </a:schemeClr>
                </a:solidFill>
                <a:latin typeface="Open Sans Bold" panose="020B0806030504020204" charset="0"/>
                <a:ea typeface="Open Sans Bold" panose="020B0806030504020204" charset="0"/>
                <a:cs typeface="Open Sans Bold" panose="020B0806030504020204" charset="0"/>
              </a:rPr>
              <a:t>Diseño del entorno en CoppeliaSim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ES" sz="2800" dirty="0">
                <a:solidFill>
                  <a:schemeClr val="tx2">
                    <a:lumMod val="50000"/>
                  </a:schemeClr>
                </a:solidFill>
                <a:latin typeface="Open Sans Bold" panose="020B0806030504020204" charset="0"/>
                <a:ea typeface="Open Sans Bold" panose="020B0806030504020204" charset="0"/>
                <a:cs typeface="Open Sans Bold" panose="020B0806030504020204" charset="0"/>
              </a:rPr>
              <a:t>Integración con Python y ZeroMQ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ES" sz="2800" dirty="0">
                <a:solidFill>
                  <a:schemeClr val="tx2">
                    <a:lumMod val="50000"/>
                  </a:schemeClr>
                </a:solidFill>
                <a:latin typeface="Open Sans Bold" panose="020B0806030504020204" charset="0"/>
                <a:ea typeface="Open Sans Bold" panose="020B0806030504020204" charset="0"/>
                <a:cs typeface="Open Sans Bold" panose="020B0806030504020204" charset="0"/>
              </a:rPr>
              <a:t>Definición del problema como entorno Gymnasium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ES" sz="2800" dirty="0">
                <a:solidFill>
                  <a:schemeClr val="tx2">
                    <a:lumMod val="50000"/>
                  </a:schemeClr>
                </a:solidFill>
                <a:latin typeface="Open Sans Bold" panose="020B0806030504020204" charset="0"/>
                <a:ea typeface="Open Sans Bold" panose="020B0806030504020204" charset="0"/>
                <a:cs typeface="Open Sans Bold" panose="020B0806030504020204" charset="0"/>
              </a:rPr>
              <a:t>Entrenamiento y evaluación con PPO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ES" sz="2800" dirty="0">
                <a:solidFill>
                  <a:schemeClr val="tx2">
                    <a:lumMod val="50000"/>
                  </a:schemeClr>
                </a:solidFill>
                <a:latin typeface="Open Sans Bold" panose="020B0806030504020204" charset="0"/>
                <a:ea typeface="Open Sans Bold" panose="020B0806030504020204" charset="0"/>
                <a:cs typeface="Open Sans Bold" panose="020B0806030504020204" charset="0"/>
              </a:rPr>
              <a:t>Estudio del efecto de información temporal</a:t>
            </a:r>
          </a:p>
        </p:txBody>
      </p:sp>
      <p:sp>
        <p:nvSpPr>
          <p:cNvPr id="35" name="Diagrama de flujo: conector 34">
            <a:extLst>
              <a:ext uri="{FF2B5EF4-FFF2-40B4-BE49-F238E27FC236}">
                <a16:creationId xmlns:a16="http://schemas.microsoft.com/office/drawing/2014/main" id="{C01D61BD-ABAC-A661-5866-3072081F782E}"/>
              </a:ext>
            </a:extLst>
          </p:cNvPr>
          <p:cNvSpPr/>
          <p:nvPr/>
        </p:nvSpPr>
        <p:spPr>
          <a:xfrm>
            <a:off x="16099279" y="5647410"/>
            <a:ext cx="1479273" cy="1487613"/>
          </a:xfrm>
          <a:prstGeom prst="flowChartConnector">
            <a:avLst/>
          </a:prstGeom>
          <a:ln>
            <a:solidFill>
              <a:schemeClr val="tx2">
                <a:lumMod val="50000"/>
              </a:schemeClr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sz="4800" dirty="0">
                <a:solidFill>
                  <a:schemeClr val="tx2">
                    <a:lumMod val="5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</a:rPr>
              <a:t>2</a:t>
            </a:r>
          </a:p>
        </p:txBody>
      </p:sp>
      <p:sp>
        <p:nvSpPr>
          <p:cNvPr id="37" name="TextBox 9">
            <a:extLst>
              <a:ext uri="{FF2B5EF4-FFF2-40B4-BE49-F238E27FC236}">
                <a16:creationId xmlns:a16="http://schemas.microsoft.com/office/drawing/2014/main" id="{CFD1EE64-692F-D1A8-1CF4-C62BFF012B3E}"/>
              </a:ext>
            </a:extLst>
          </p:cNvPr>
          <p:cNvSpPr txBox="1"/>
          <p:nvPr/>
        </p:nvSpPr>
        <p:spPr>
          <a:xfrm>
            <a:off x="0" y="7734300"/>
            <a:ext cx="3962400" cy="217495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bg1">
                    <a:lumMod val="8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Motivación y contexto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bg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Objetivos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bg1">
                    <a:lumMod val="8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Tecnologías usadas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bg1">
                    <a:lumMod val="8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Arquitectura del sistema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bg1">
                    <a:lumMod val="8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Definición del problema RL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bg1">
                    <a:lumMod val="8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1: recompensa densa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850A41-6546-8A25-ACA1-CF3E4A46A3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A5A1C020-4BEC-26A2-92C2-0845AABDFDB6}"/>
              </a:ext>
            </a:extLst>
          </p:cNvPr>
          <p:cNvSpPr/>
          <p:nvPr/>
        </p:nvSpPr>
        <p:spPr>
          <a:xfrm rot="-10800000">
            <a:off x="0" y="1420722"/>
            <a:ext cx="18288000" cy="1662545"/>
          </a:xfrm>
          <a:custGeom>
            <a:avLst/>
            <a:gdLst/>
            <a:ahLst/>
            <a:cxnLst/>
            <a:rect l="l" t="t" r="r" b="b"/>
            <a:pathLst>
              <a:path w="18288000" h="1662545">
                <a:moveTo>
                  <a:pt x="0" y="0"/>
                </a:moveTo>
                <a:lnTo>
                  <a:pt x="18288000" y="0"/>
                </a:lnTo>
                <a:lnTo>
                  <a:pt x="18288000" y="1662545"/>
                </a:lnTo>
                <a:lnTo>
                  <a:pt x="0" y="166254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ES" noProof="0" dirty="0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4C64070C-BD46-1EFB-5597-BF35D2ACB200}"/>
              </a:ext>
            </a:extLst>
          </p:cNvPr>
          <p:cNvSpPr/>
          <p:nvPr/>
        </p:nvSpPr>
        <p:spPr>
          <a:xfrm>
            <a:off x="-31711" y="8760008"/>
            <a:ext cx="18288000" cy="1662545"/>
          </a:xfrm>
          <a:custGeom>
            <a:avLst/>
            <a:gdLst/>
            <a:ahLst/>
            <a:cxnLst/>
            <a:rect l="l" t="t" r="r" b="b"/>
            <a:pathLst>
              <a:path w="18288000" h="1662545">
                <a:moveTo>
                  <a:pt x="0" y="0"/>
                </a:moveTo>
                <a:lnTo>
                  <a:pt x="18288000" y="0"/>
                </a:lnTo>
                <a:lnTo>
                  <a:pt x="18288000" y="1662546"/>
                </a:lnTo>
                <a:lnTo>
                  <a:pt x="0" y="166254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ES" noProof="0" dirty="0"/>
          </a:p>
        </p:txBody>
      </p:sp>
      <p:grpSp>
        <p:nvGrpSpPr>
          <p:cNvPr id="4" name="Group 4">
            <a:extLst>
              <a:ext uri="{FF2B5EF4-FFF2-40B4-BE49-F238E27FC236}">
                <a16:creationId xmlns:a16="http://schemas.microsoft.com/office/drawing/2014/main" id="{BC209AAE-1DF3-41BA-5C42-C2A5AB0D5E60}"/>
              </a:ext>
            </a:extLst>
          </p:cNvPr>
          <p:cNvGrpSpPr/>
          <p:nvPr/>
        </p:nvGrpSpPr>
        <p:grpSpPr>
          <a:xfrm>
            <a:off x="-63422" y="2561029"/>
            <a:ext cx="18351422" cy="8221271"/>
            <a:chOff x="0" y="0"/>
            <a:chExt cx="5186228" cy="1497157"/>
          </a:xfrm>
        </p:grpSpPr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B2795CF5-ADEE-3D32-6B39-0ACA223825E7}"/>
                </a:ext>
              </a:extLst>
            </p:cNvPr>
            <p:cNvSpPr/>
            <p:nvPr/>
          </p:nvSpPr>
          <p:spPr>
            <a:xfrm>
              <a:off x="0" y="0"/>
              <a:ext cx="5186228" cy="1497157"/>
            </a:xfrm>
            <a:custGeom>
              <a:avLst/>
              <a:gdLst/>
              <a:ahLst/>
              <a:cxnLst/>
              <a:rect l="l" t="t" r="r" b="b"/>
              <a:pathLst>
                <a:path w="5186228" h="1497157">
                  <a:moveTo>
                    <a:pt x="0" y="0"/>
                  </a:moveTo>
                  <a:lnTo>
                    <a:pt x="5186228" y="0"/>
                  </a:lnTo>
                  <a:lnTo>
                    <a:pt x="5186228" y="1497157"/>
                  </a:lnTo>
                  <a:lnTo>
                    <a:pt x="0" y="1497157"/>
                  </a:lnTo>
                  <a:close/>
                </a:path>
              </a:pathLst>
            </a:custGeom>
            <a:solidFill>
              <a:srgbClr val="4F83B3"/>
            </a:solidFill>
          </p:spPr>
          <p:txBody>
            <a:bodyPr/>
            <a:lstStyle/>
            <a:p>
              <a:endParaRPr lang="es-ES" noProof="0" dirty="0"/>
            </a:p>
          </p:txBody>
        </p:sp>
        <p:sp>
          <p:nvSpPr>
            <p:cNvPr id="6" name="TextBox 6">
              <a:extLst>
                <a:ext uri="{FF2B5EF4-FFF2-40B4-BE49-F238E27FC236}">
                  <a16:creationId xmlns:a16="http://schemas.microsoft.com/office/drawing/2014/main" id="{6509A97F-EB3A-995D-983B-E106E99AA826}"/>
                </a:ext>
              </a:extLst>
            </p:cNvPr>
            <p:cNvSpPr txBox="1"/>
            <p:nvPr/>
          </p:nvSpPr>
          <p:spPr>
            <a:xfrm>
              <a:off x="0" y="-38100"/>
              <a:ext cx="5186228" cy="153525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 lang="es-ES" noProof="0" dirty="0"/>
            </a:p>
          </p:txBody>
        </p:sp>
      </p:grpSp>
      <p:sp>
        <p:nvSpPr>
          <p:cNvPr id="7" name="TextBox 7">
            <a:extLst>
              <a:ext uri="{FF2B5EF4-FFF2-40B4-BE49-F238E27FC236}">
                <a16:creationId xmlns:a16="http://schemas.microsoft.com/office/drawing/2014/main" id="{F43E0387-1302-B84E-B141-6AE31D8E3D4A}"/>
              </a:ext>
            </a:extLst>
          </p:cNvPr>
          <p:cNvSpPr txBox="1"/>
          <p:nvPr/>
        </p:nvSpPr>
        <p:spPr>
          <a:xfrm>
            <a:off x="0" y="67736"/>
            <a:ext cx="17983199" cy="198772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5523"/>
              </a:lnSpc>
            </a:pPr>
            <a:r>
              <a:rPr lang="es-ES" sz="14000" dirty="0">
                <a:solidFill>
                  <a:schemeClr val="tx2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 Bold"/>
                <a:sym typeface="Playfair Display Bold"/>
              </a:rPr>
              <a:t>3</a:t>
            </a:r>
            <a:r>
              <a:rPr lang="es-ES" sz="14000" noProof="0" dirty="0">
                <a:solidFill>
                  <a:schemeClr val="tx2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 Bold"/>
                <a:sym typeface="Playfair Display Bold"/>
              </a:rPr>
              <a:t>. Tecnologías usadas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1252863F-4330-8584-0428-AB07189B4C66}"/>
              </a:ext>
            </a:extLst>
          </p:cNvPr>
          <p:cNvSpPr txBox="1"/>
          <p:nvPr/>
        </p:nvSpPr>
        <p:spPr>
          <a:xfrm>
            <a:off x="0" y="7734300"/>
            <a:ext cx="3962400" cy="217495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bg1">
                    <a:lumMod val="8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Motivación y contexto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bg1">
                    <a:lumMod val="8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Objetivos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bg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Tecnologías usadas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bg1">
                    <a:lumMod val="8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Arquitectura del sistema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bg1">
                    <a:lumMod val="8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Definición del problema RL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bg1">
                    <a:lumMod val="8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1: recompensa densa</a:t>
            </a:r>
          </a:p>
        </p:txBody>
      </p:sp>
    </p:spTree>
    <p:extLst>
      <p:ext uri="{BB962C8B-B14F-4D97-AF65-F5344CB8AC3E}">
        <p14:creationId xmlns:p14="http://schemas.microsoft.com/office/powerpoint/2010/main" val="35953326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68AB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5400000">
            <a:off x="4429991" y="4675909"/>
            <a:ext cx="10287000" cy="935182"/>
          </a:xfrm>
          <a:custGeom>
            <a:avLst/>
            <a:gdLst/>
            <a:ahLst/>
            <a:cxnLst/>
            <a:rect l="l" t="t" r="r" b="b"/>
            <a:pathLst>
              <a:path w="10287000" h="935182">
                <a:moveTo>
                  <a:pt x="0" y="0"/>
                </a:moveTo>
                <a:lnTo>
                  <a:pt x="10287000" y="0"/>
                </a:lnTo>
                <a:lnTo>
                  <a:pt x="10287000" y="935182"/>
                </a:lnTo>
                <a:lnTo>
                  <a:pt x="0" y="93518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ES" noProof="0" dirty="0"/>
          </a:p>
        </p:txBody>
      </p:sp>
      <p:grpSp>
        <p:nvGrpSpPr>
          <p:cNvPr id="3" name="Group 3"/>
          <p:cNvGrpSpPr/>
          <p:nvPr/>
        </p:nvGrpSpPr>
        <p:grpSpPr>
          <a:xfrm>
            <a:off x="0" y="0"/>
            <a:ext cx="9144000" cy="10287000"/>
            <a:chOff x="0" y="0"/>
            <a:chExt cx="2576410" cy="325544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576410" cy="3255440"/>
            </a:xfrm>
            <a:custGeom>
              <a:avLst/>
              <a:gdLst/>
              <a:ahLst/>
              <a:cxnLst/>
              <a:rect l="l" t="t" r="r" b="b"/>
              <a:pathLst>
                <a:path w="2576410" h="3255440">
                  <a:moveTo>
                    <a:pt x="0" y="0"/>
                  </a:moveTo>
                  <a:lnTo>
                    <a:pt x="2576410" y="0"/>
                  </a:lnTo>
                  <a:lnTo>
                    <a:pt x="2576410" y="3255440"/>
                  </a:lnTo>
                  <a:lnTo>
                    <a:pt x="0" y="325544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 noProof="0" dirty="0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2576410" cy="329354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 lang="es-ES" noProof="0" dirty="0"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1051112" y="342900"/>
            <a:ext cx="13655488" cy="109645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9626"/>
              </a:lnSpc>
            </a:pPr>
            <a:r>
              <a:rPr lang="es-ES" sz="5400" dirty="0">
                <a:solidFill>
                  <a:srgbClr val="1A216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4</a:t>
            </a:r>
            <a:r>
              <a:rPr lang="es-ES" sz="5400" noProof="0" dirty="0">
                <a:solidFill>
                  <a:srgbClr val="1A216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. Arquitectura del sistema</a:t>
            </a:r>
          </a:p>
        </p:txBody>
      </p:sp>
      <p:sp>
        <p:nvSpPr>
          <p:cNvPr id="11" name="AutoShape 11"/>
          <p:cNvSpPr/>
          <p:nvPr/>
        </p:nvSpPr>
        <p:spPr>
          <a:xfrm>
            <a:off x="10767060" y="1047750"/>
            <a:ext cx="6492240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s-ES" noProof="0" dirty="0"/>
          </a:p>
        </p:txBody>
      </p:sp>
      <p:pic>
        <p:nvPicPr>
          <p:cNvPr id="13" name="Imagen 12">
            <a:extLst>
              <a:ext uri="{FF2B5EF4-FFF2-40B4-BE49-F238E27FC236}">
                <a16:creationId xmlns:a16="http://schemas.microsoft.com/office/drawing/2014/main" id="{77FB0CF8-DA95-DF3F-B5D8-C656943B3E7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69839" y="2115069"/>
            <a:ext cx="6553200" cy="6347699"/>
          </a:xfrm>
          <a:prstGeom prst="rect">
            <a:avLst/>
          </a:prstGeom>
        </p:spPr>
      </p:pic>
      <p:pic>
        <p:nvPicPr>
          <p:cNvPr id="15" name="Imagen 14">
            <a:extLst>
              <a:ext uri="{FF2B5EF4-FFF2-40B4-BE49-F238E27FC236}">
                <a16:creationId xmlns:a16="http://schemas.microsoft.com/office/drawing/2014/main" id="{14621B86-4EDF-B3EB-F515-65A9B0E91A2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2004664"/>
            <a:ext cx="8200313" cy="4800600"/>
          </a:xfrm>
          <a:prstGeom prst="rect">
            <a:avLst/>
          </a:prstGeom>
        </p:spPr>
      </p:pic>
      <p:sp>
        <p:nvSpPr>
          <p:cNvPr id="8" name="TextBox 13">
            <a:extLst>
              <a:ext uri="{FF2B5EF4-FFF2-40B4-BE49-F238E27FC236}">
                <a16:creationId xmlns:a16="http://schemas.microsoft.com/office/drawing/2014/main" id="{814AA7AA-494B-E517-BA9C-BDA8D6D7E94B}"/>
              </a:ext>
            </a:extLst>
          </p:cNvPr>
          <p:cNvSpPr txBox="1"/>
          <p:nvPr/>
        </p:nvSpPr>
        <p:spPr>
          <a:xfrm>
            <a:off x="2520457" y="6975343"/>
            <a:ext cx="4103085" cy="68300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001"/>
              </a:lnSpc>
              <a:spcBef>
                <a:spcPct val="0"/>
              </a:spcBef>
            </a:pPr>
            <a:r>
              <a:rPr lang="es-ES" sz="3200" noProof="0" dirty="0">
                <a:solidFill>
                  <a:srgbClr val="1A2161"/>
                </a:solidFill>
                <a:latin typeface="Open Sans"/>
                <a:ea typeface="Open Sans"/>
                <a:cs typeface="Open Sans"/>
                <a:sym typeface="Open Sans"/>
              </a:rPr>
              <a:t>Diagrama de sistema</a:t>
            </a:r>
          </a:p>
        </p:txBody>
      </p:sp>
      <p:sp>
        <p:nvSpPr>
          <p:cNvPr id="10" name="TextBox 13">
            <a:extLst>
              <a:ext uri="{FF2B5EF4-FFF2-40B4-BE49-F238E27FC236}">
                <a16:creationId xmlns:a16="http://schemas.microsoft.com/office/drawing/2014/main" id="{9ABCFDC3-D156-1130-CA5E-737AD6DBDFEA}"/>
              </a:ext>
            </a:extLst>
          </p:cNvPr>
          <p:cNvSpPr txBox="1"/>
          <p:nvPr/>
        </p:nvSpPr>
        <p:spPr>
          <a:xfrm>
            <a:off x="11694896" y="8594573"/>
            <a:ext cx="4103085" cy="68300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001"/>
              </a:lnSpc>
              <a:spcBef>
                <a:spcPct val="0"/>
              </a:spcBef>
            </a:pPr>
            <a:r>
              <a:rPr lang="es-ES" sz="3200" dirty="0">
                <a:solidFill>
                  <a:schemeClr val="bg1"/>
                </a:solidFill>
                <a:latin typeface="Open Sans"/>
                <a:ea typeface="Open Sans"/>
                <a:cs typeface="Open Sans"/>
                <a:sym typeface="Open Sans"/>
              </a:rPr>
              <a:t>Entorno del sistema</a:t>
            </a:r>
            <a:endParaRPr lang="es-ES" sz="3200" noProof="0" dirty="0">
              <a:solidFill>
                <a:schemeClr val="bg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4" name="TextBox 9">
            <a:extLst>
              <a:ext uri="{FF2B5EF4-FFF2-40B4-BE49-F238E27FC236}">
                <a16:creationId xmlns:a16="http://schemas.microsoft.com/office/drawing/2014/main" id="{1B8E19F9-CA63-772C-56E6-6914B28949F0}"/>
              </a:ext>
            </a:extLst>
          </p:cNvPr>
          <p:cNvSpPr txBox="1"/>
          <p:nvPr/>
        </p:nvSpPr>
        <p:spPr>
          <a:xfrm>
            <a:off x="0" y="7848600"/>
            <a:ext cx="3574219" cy="217495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Motivación y contexto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Objetivos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Tecnologías usadas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tx2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Arquitectura del sistema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Definición del problema RL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1: recompensa densa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68AB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D21FD31-C30F-AA4C-9D30-F1F568F386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4D1945B5-CE60-2493-F1FB-99B745C6B97F}"/>
              </a:ext>
            </a:extLst>
          </p:cNvPr>
          <p:cNvSpPr/>
          <p:nvPr/>
        </p:nvSpPr>
        <p:spPr>
          <a:xfrm>
            <a:off x="-29785" y="1562503"/>
            <a:ext cx="18288000" cy="1662545"/>
          </a:xfrm>
          <a:custGeom>
            <a:avLst/>
            <a:gdLst/>
            <a:ahLst/>
            <a:cxnLst/>
            <a:rect l="l" t="t" r="r" b="b"/>
            <a:pathLst>
              <a:path w="18288000" h="1662545">
                <a:moveTo>
                  <a:pt x="0" y="0"/>
                </a:moveTo>
                <a:lnTo>
                  <a:pt x="18288000" y="0"/>
                </a:lnTo>
                <a:lnTo>
                  <a:pt x="18288000" y="1662545"/>
                </a:lnTo>
                <a:lnTo>
                  <a:pt x="0" y="166254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ES" noProof="0" dirty="0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2E8B2D79-B12D-5931-E42F-805F0EF0AD6C}"/>
              </a:ext>
            </a:extLst>
          </p:cNvPr>
          <p:cNvGrpSpPr/>
          <p:nvPr/>
        </p:nvGrpSpPr>
        <p:grpSpPr>
          <a:xfrm>
            <a:off x="1" y="0"/>
            <a:ext cx="18288000" cy="1562504"/>
            <a:chOff x="0" y="0"/>
            <a:chExt cx="5186228" cy="997214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DE776BFA-1528-C0FA-E11D-B5DBB37E36AF}"/>
                </a:ext>
              </a:extLst>
            </p:cNvPr>
            <p:cNvSpPr/>
            <p:nvPr/>
          </p:nvSpPr>
          <p:spPr>
            <a:xfrm>
              <a:off x="0" y="0"/>
              <a:ext cx="5186228" cy="997214"/>
            </a:xfrm>
            <a:custGeom>
              <a:avLst/>
              <a:gdLst/>
              <a:ahLst/>
              <a:cxnLst/>
              <a:rect l="l" t="t" r="r" b="b"/>
              <a:pathLst>
                <a:path w="5186228" h="997214">
                  <a:moveTo>
                    <a:pt x="0" y="0"/>
                  </a:moveTo>
                  <a:lnTo>
                    <a:pt x="5186228" y="0"/>
                  </a:lnTo>
                  <a:lnTo>
                    <a:pt x="5186228" y="997214"/>
                  </a:lnTo>
                  <a:lnTo>
                    <a:pt x="0" y="997214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 noProof="0" dirty="0"/>
            </a:p>
          </p:txBody>
        </p:sp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638012C9-F6F7-AA1A-6123-0043EE17DCA6}"/>
                </a:ext>
              </a:extLst>
            </p:cNvPr>
            <p:cNvSpPr txBox="1"/>
            <p:nvPr/>
          </p:nvSpPr>
          <p:spPr>
            <a:xfrm>
              <a:off x="0" y="-38100"/>
              <a:ext cx="5186228" cy="103531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 lang="es-ES" noProof="0" dirty="0"/>
            </a:p>
          </p:txBody>
        </p:sp>
      </p:grpSp>
      <p:sp>
        <p:nvSpPr>
          <p:cNvPr id="11" name="TextBox 11">
            <a:extLst>
              <a:ext uri="{FF2B5EF4-FFF2-40B4-BE49-F238E27FC236}">
                <a16:creationId xmlns:a16="http://schemas.microsoft.com/office/drawing/2014/main" id="{34C5FA0F-E5BF-7A95-B6B8-02CAB0D49911}"/>
              </a:ext>
            </a:extLst>
          </p:cNvPr>
          <p:cNvSpPr txBox="1"/>
          <p:nvPr/>
        </p:nvSpPr>
        <p:spPr>
          <a:xfrm>
            <a:off x="1143000" y="324969"/>
            <a:ext cx="12573000" cy="115409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9626"/>
              </a:lnSpc>
            </a:pPr>
            <a:r>
              <a:rPr lang="es-ES" sz="7200" dirty="0">
                <a:solidFill>
                  <a:srgbClr val="1A216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5. Definición del problema RL</a:t>
            </a:r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8C063D9A-09BE-DA67-47CF-325319168AFE}"/>
              </a:ext>
            </a:extLst>
          </p:cNvPr>
          <p:cNvSpPr/>
          <p:nvPr/>
        </p:nvSpPr>
        <p:spPr>
          <a:xfrm>
            <a:off x="122614" y="2260945"/>
            <a:ext cx="8839200" cy="393490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13" name="Imagen 12">
            <a:extLst>
              <a:ext uri="{FF2B5EF4-FFF2-40B4-BE49-F238E27FC236}">
                <a16:creationId xmlns:a16="http://schemas.microsoft.com/office/drawing/2014/main" id="{21572590-36F8-F367-3DC1-8F4FCBB1DDB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4208" t="8781" r="3949"/>
          <a:stretch>
            <a:fillRect/>
          </a:stretch>
        </p:blipFill>
        <p:spPr>
          <a:xfrm>
            <a:off x="261105" y="2804282"/>
            <a:ext cx="8608419" cy="3244575"/>
          </a:xfrm>
          <a:prstGeom prst="rect">
            <a:avLst/>
          </a:prstGeom>
        </p:spPr>
      </p:pic>
      <p:pic>
        <p:nvPicPr>
          <p:cNvPr id="15" name="Imagen 14">
            <a:extLst>
              <a:ext uri="{FF2B5EF4-FFF2-40B4-BE49-F238E27FC236}">
                <a16:creationId xmlns:a16="http://schemas.microsoft.com/office/drawing/2014/main" id="{86728676-E30B-0AFB-36A5-C6312DFADA33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006" t="16060" r="1006" b="27819"/>
          <a:stretch>
            <a:fillRect/>
          </a:stretch>
        </p:blipFill>
        <p:spPr>
          <a:xfrm>
            <a:off x="261106" y="2442283"/>
            <a:ext cx="8501894" cy="421444"/>
          </a:xfrm>
          <a:prstGeom prst="rect">
            <a:avLst/>
          </a:prstGeom>
        </p:spPr>
      </p:pic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6CB6314D-63FB-2B9E-9133-9164C1BA4E6B}"/>
              </a:ext>
            </a:extLst>
          </p:cNvPr>
          <p:cNvSpPr/>
          <p:nvPr/>
        </p:nvSpPr>
        <p:spPr>
          <a:xfrm>
            <a:off x="4007340" y="6515100"/>
            <a:ext cx="9829800" cy="2971800"/>
          </a:xfrm>
          <a:prstGeom prst="roundRect">
            <a:avLst/>
          </a:prstGeom>
          <a:solidFill>
            <a:srgbClr val="F3F4F6"/>
          </a:solidFill>
          <a:ln>
            <a:solidFill>
              <a:schemeClr val="tx2">
                <a:lumMod val="5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" dirty="0">
              <a:solidFill>
                <a:schemeClr val="tx2">
                  <a:lumMod val="50000"/>
                </a:schemeClr>
              </a:solidFill>
            </a:endParaRP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906CFF86-B2A8-6D28-1DC7-9696E8130E95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2571" t="16726" r="7778" b="13210"/>
          <a:stretch>
            <a:fillRect/>
          </a:stretch>
        </p:blipFill>
        <p:spPr>
          <a:xfrm>
            <a:off x="4191000" y="6743700"/>
            <a:ext cx="9417539" cy="2514600"/>
          </a:xfrm>
          <a:prstGeom prst="rect">
            <a:avLst/>
          </a:prstGeom>
        </p:spPr>
      </p:pic>
      <p:sp>
        <p:nvSpPr>
          <p:cNvPr id="20" name="Rectángulo 19">
            <a:extLst>
              <a:ext uri="{FF2B5EF4-FFF2-40B4-BE49-F238E27FC236}">
                <a16:creationId xmlns:a16="http://schemas.microsoft.com/office/drawing/2014/main" id="{3C5B3505-1238-2DB6-CA86-B8BCAF70E9E0}"/>
              </a:ext>
            </a:extLst>
          </p:cNvPr>
          <p:cNvSpPr/>
          <p:nvPr/>
        </p:nvSpPr>
        <p:spPr>
          <a:xfrm>
            <a:off x="9144000" y="2247900"/>
            <a:ext cx="8961812" cy="393490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16" name="Imagen 15">
            <a:extLst>
              <a:ext uri="{FF2B5EF4-FFF2-40B4-BE49-F238E27FC236}">
                <a16:creationId xmlns:a16="http://schemas.microsoft.com/office/drawing/2014/main" id="{3ED6D958-B6F6-7A10-5FF8-101151F1F18D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4624" t="4085" r="2133" b="3530"/>
          <a:stretch>
            <a:fillRect/>
          </a:stretch>
        </p:blipFill>
        <p:spPr>
          <a:xfrm>
            <a:off x="10995083" y="2337741"/>
            <a:ext cx="5684114" cy="3711116"/>
          </a:xfrm>
          <a:prstGeom prst="rect">
            <a:avLst/>
          </a:prstGeom>
        </p:spPr>
      </p:pic>
      <p:sp>
        <p:nvSpPr>
          <p:cNvPr id="22" name="TextBox 9">
            <a:extLst>
              <a:ext uri="{FF2B5EF4-FFF2-40B4-BE49-F238E27FC236}">
                <a16:creationId xmlns:a16="http://schemas.microsoft.com/office/drawing/2014/main" id="{5FD8670A-D3F9-27D1-86C5-EF6A6FC18FA9}"/>
              </a:ext>
            </a:extLst>
          </p:cNvPr>
          <p:cNvSpPr txBox="1"/>
          <p:nvPr/>
        </p:nvSpPr>
        <p:spPr>
          <a:xfrm>
            <a:off x="0" y="7734300"/>
            <a:ext cx="3962400" cy="217495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bg1">
                    <a:lumMod val="8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Motivación y contexto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bg1">
                    <a:lumMod val="8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Objetivos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bg1">
                    <a:lumMod val="8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Tecnologías usadas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bg1">
                    <a:lumMod val="8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Arquitectura del sistema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bg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Definición del problema RL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bg1">
                    <a:lumMod val="8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1: recompensa densa</a:t>
            </a:r>
          </a:p>
        </p:txBody>
      </p:sp>
    </p:spTree>
    <p:extLst>
      <p:ext uri="{BB962C8B-B14F-4D97-AF65-F5344CB8AC3E}">
        <p14:creationId xmlns:p14="http://schemas.microsoft.com/office/powerpoint/2010/main" val="1401269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68AB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0800000">
            <a:off x="104775" y="1104998"/>
            <a:ext cx="18078450" cy="1643495"/>
          </a:xfrm>
          <a:custGeom>
            <a:avLst/>
            <a:gdLst/>
            <a:ahLst/>
            <a:cxnLst/>
            <a:rect l="l" t="t" r="r" b="b"/>
            <a:pathLst>
              <a:path w="18078450" h="1643495">
                <a:moveTo>
                  <a:pt x="0" y="0"/>
                </a:moveTo>
                <a:lnTo>
                  <a:pt x="18078450" y="0"/>
                </a:lnTo>
                <a:lnTo>
                  <a:pt x="18078450" y="1643495"/>
                </a:lnTo>
                <a:lnTo>
                  <a:pt x="0" y="164349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ES" noProof="0" dirty="0"/>
          </a:p>
        </p:txBody>
      </p:sp>
      <p:grpSp>
        <p:nvGrpSpPr>
          <p:cNvPr id="3" name="Group 3"/>
          <p:cNvGrpSpPr/>
          <p:nvPr/>
        </p:nvGrpSpPr>
        <p:grpSpPr>
          <a:xfrm>
            <a:off x="0" y="2248095"/>
            <a:ext cx="18288000" cy="7667945"/>
            <a:chOff x="0" y="0"/>
            <a:chExt cx="5186228" cy="1850054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5186228" cy="1850054"/>
            </a:xfrm>
            <a:custGeom>
              <a:avLst/>
              <a:gdLst/>
              <a:ahLst/>
              <a:cxnLst/>
              <a:rect l="l" t="t" r="r" b="b"/>
              <a:pathLst>
                <a:path w="5186228" h="1850054">
                  <a:moveTo>
                    <a:pt x="0" y="0"/>
                  </a:moveTo>
                  <a:lnTo>
                    <a:pt x="5186228" y="0"/>
                  </a:lnTo>
                  <a:lnTo>
                    <a:pt x="5186228" y="1850054"/>
                  </a:lnTo>
                  <a:lnTo>
                    <a:pt x="0" y="1850054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 noProof="0" dirty="0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5186228" cy="188815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 lang="es-ES" noProof="0" dirty="0"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1028700" y="580972"/>
            <a:ext cx="13982700" cy="16671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>
              <a:lnSpc>
                <a:spcPts val="6471"/>
              </a:lnSpc>
              <a:spcBef>
                <a:spcPct val="0"/>
              </a:spcBef>
            </a:pPr>
            <a:r>
              <a:rPr lang="es-ES" sz="7034" dirty="0">
                <a:solidFill>
                  <a:srgbClr val="FFFFF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6</a:t>
            </a:r>
            <a:r>
              <a:rPr lang="es-ES" sz="7034" u="none" strike="noStrike" noProof="0" dirty="0">
                <a:solidFill>
                  <a:srgbClr val="FFFFF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. Línea 1: recompensa densa</a:t>
            </a:r>
          </a:p>
          <a:p>
            <a:pPr marL="0" lvl="0" indent="0" algn="ctr">
              <a:lnSpc>
                <a:spcPts val="6471"/>
              </a:lnSpc>
              <a:spcBef>
                <a:spcPct val="0"/>
              </a:spcBef>
            </a:pPr>
            <a:endParaRPr lang="es-ES" sz="7034" u="none" strike="noStrike" noProof="0" dirty="0">
              <a:solidFill>
                <a:srgbClr val="FFFFFF"/>
              </a:solidFill>
              <a:latin typeface="Playfair Display"/>
              <a:ea typeface="Playfair Display"/>
              <a:cs typeface="Playfair Display"/>
              <a:sym typeface="Playfair Display"/>
            </a:endParaRP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2402FEE9-478B-2EBC-CED5-501E26BE4A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00247" y="2248095"/>
            <a:ext cx="9420225" cy="7680856"/>
          </a:xfrm>
          <a:prstGeom prst="rect">
            <a:avLst/>
          </a:prstGeom>
        </p:spPr>
      </p:pic>
      <p:sp>
        <p:nvSpPr>
          <p:cNvPr id="15" name="TextBox 13">
            <a:extLst>
              <a:ext uri="{FF2B5EF4-FFF2-40B4-BE49-F238E27FC236}">
                <a16:creationId xmlns:a16="http://schemas.microsoft.com/office/drawing/2014/main" id="{A7E7A2A3-D8AB-39F7-A3AE-7051153C744D}"/>
              </a:ext>
            </a:extLst>
          </p:cNvPr>
          <p:cNvSpPr txBox="1"/>
          <p:nvPr/>
        </p:nvSpPr>
        <p:spPr>
          <a:xfrm>
            <a:off x="945777" y="3008279"/>
            <a:ext cx="7754470" cy="387798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ct val="0"/>
              </a:spcBef>
            </a:pPr>
            <a:r>
              <a:rPr lang="es-ES" sz="3600" noProof="0" dirty="0">
                <a:solidFill>
                  <a:srgbClr val="1A2161"/>
                </a:solidFill>
                <a:latin typeface="Open Sans"/>
                <a:ea typeface="Open Sans"/>
                <a:cs typeface="Open Sans"/>
                <a:sym typeface="Open Sans"/>
              </a:rPr>
              <a:t>Recompensa densa     señal en cada paso</a:t>
            </a:r>
          </a:p>
          <a:p>
            <a:pPr>
              <a:spcBef>
                <a:spcPct val="0"/>
              </a:spcBef>
            </a:pPr>
            <a:endParaRPr lang="es-ES" sz="3600" noProof="0" dirty="0">
              <a:solidFill>
                <a:srgbClr val="1A2161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just">
              <a:spcBef>
                <a:spcPct val="0"/>
              </a:spcBef>
            </a:pPr>
            <a:r>
              <a:rPr lang="es-ES" sz="3600" noProof="0" dirty="0">
                <a:solidFill>
                  <a:srgbClr val="1A2161"/>
                </a:solidFill>
                <a:latin typeface="Open Sans"/>
                <a:ea typeface="Open Sans"/>
                <a:cs typeface="Open Sans"/>
                <a:sym typeface="Open Sans"/>
              </a:rPr>
              <a:t>El agente recibe +1 a la recompensa por visitar habitaciones poco visitadas y penalización -10 si agota la batería.</a:t>
            </a:r>
          </a:p>
        </p:txBody>
      </p:sp>
      <p:sp>
        <p:nvSpPr>
          <p:cNvPr id="19" name="TextBox 9">
            <a:extLst>
              <a:ext uri="{FF2B5EF4-FFF2-40B4-BE49-F238E27FC236}">
                <a16:creationId xmlns:a16="http://schemas.microsoft.com/office/drawing/2014/main" id="{272A0E4F-6C66-A612-B99A-01C7C93C208D}"/>
              </a:ext>
            </a:extLst>
          </p:cNvPr>
          <p:cNvSpPr txBox="1"/>
          <p:nvPr/>
        </p:nvSpPr>
        <p:spPr>
          <a:xfrm>
            <a:off x="167528" y="7579116"/>
            <a:ext cx="3574219" cy="217495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Motivación y contexto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Objetivos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Tecnologías usadas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Arquitectura del sistema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Definición del problema RL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tx2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1: recompensa densa</a:t>
            </a:r>
          </a:p>
        </p:txBody>
      </p:sp>
      <p:cxnSp>
        <p:nvCxnSpPr>
          <p:cNvPr id="21" name="Conector recto de flecha 20">
            <a:extLst>
              <a:ext uri="{FF2B5EF4-FFF2-40B4-BE49-F238E27FC236}">
                <a16:creationId xmlns:a16="http://schemas.microsoft.com/office/drawing/2014/main" id="{EE1E3509-48B2-81E0-1F8A-223DBCA22B24}"/>
              </a:ext>
            </a:extLst>
          </p:cNvPr>
          <p:cNvCxnSpPr>
            <a:cxnSpLocks/>
          </p:cNvCxnSpPr>
          <p:nvPr/>
        </p:nvCxnSpPr>
        <p:spPr>
          <a:xfrm>
            <a:off x="5257800" y="3314700"/>
            <a:ext cx="381000" cy="0"/>
          </a:xfrm>
          <a:prstGeom prst="straightConnector1">
            <a:avLst/>
          </a:prstGeom>
          <a:ln w="57150">
            <a:solidFill>
              <a:schemeClr val="tx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68AB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A96E9DE-B5C8-5927-F6AE-37D89E9F86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1ECB1957-D0AC-471A-B45F-B86E802AF0BD}"/>
              </a:ext>
            </a:extLst>
          </p:cNvPr>
          <p:cNvSpPr/>
          <p:nvPr/>
        </p:nvSpPr>
        <p:spPr>
          <a:xfrm rot="-10800000">
            <a:off x="104775" y="1104998"/>
            <a:ext cx="18078450" cy="1643495"/>
          </a:xfrm>
          <a:custGeom>
            <a:avLst/>
            <a:gdLst/>
            <a:ahLst/>
            <a:cxnLst/>
            <a:rect l="l" t="t" r="r" b="b"/>
            <a:pathLst>
              <a:path w="18078450" h="1643495">
                <a:moveTo>
                  <a:pt x="0" y="0"/>
                </a:moveTo>
                <a:lnTo>
                  <a:pt x="18078450" y="0"/>
                </a:lnTo>
                <a:lnTo>
                  <a:pt x="18078450" y="1643495"/>
                </a:lnTo>
                <a:lnTo>
                  <a:pt x="0" y="164349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s-ES" noProof="0" dirty="0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1D1E5786-30C3-9584-79F3-4E9C393EF62E}"/>
              </a:ext>
            </a:extLst>
          </p:cNvPr>
          <p:cNvGrpSpPr/>
          <p:nvPr/>
        </p:nvGrpSpPr>
        <p:grpSpPr>
          <a:xfrm>
            <a:off x="0" y="2248095"/>
            <a:ext cx="18288000" cy="7667945"/>
            <a:chOff x="0" y="0"/>
            <a:chExt cx="5186228" cy="1850054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87044763-C4A6-023B-0D78-6A5BB6C1C3A2}"/>
                </a:ext>
              </a:extLst>
            </p:cNvPr>
            <p:cNvSpPr/>
            <p:nvPr/>
          </p:nvSpPr>
          <p:spPr>
            <a:xfrm>
              <a:off x="0" y="0"/>
              <a:ext cx="5186228" cy="1850054"/>
            </a:xfrm>
            <a:custGeom>
              <a:avLst/>
              <a:gdLst/>
              <a:ahLst/>
              <a:cxnLst/>
              <a:rect l="l" t="t" r="r" b="b"/>
              <a:pathLst>
                <a:path w="5186228" h="1850054">
                  <a:moveTo>
                    <a:pt x="0" y="0"/>
                  </a:moveTo>
                  <a:lnTo>
                    <a:pt x="5186228" y="0"/>
                  </a:lnTo>
                  <a:lnTo>
                    <a:pt x="5186228" y="1850054"/>
                  </a:lnTo>
                  <a:lnTo>
                    <a:pt x="0" y="1850054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 noProof="0" dirty="0"/>
            </a:p>
          </p:txBody>
        </p:sp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23626413-B2D5-8277-A703-75EE85355E94}"/>
                </a:ext>
              </a:extLst>
            </p:cNvPr>
            <p:cNvSpPr txBox="1"/>
            <p:nvPr/>
          </p:nvSpPr>
          <p:spPr>
            <a:xfrm>
              <a:off x="0" y="-38100"/>
              <a:ext cx="5186228" cy="188815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 lang="es-ES" noProof="0" dirty="0"/>
            </a:p>
          </p:txBody>
        </p:sp>
      </p:grpSp>
      <p:sp>
        <p:nvSpPr>
          <p:cNvPr id="6" name="TextBox 6">
            <a:extLst>
              <a:ext uri="{FF2B5EF4-FFF2-40B4-BE49-F238E27FC236}">
                <a16:creationId xmlns:a16="http://schemas.microsoft.com/office/drawing/2014/main" id="{96248F45-6431-C031-5805-8AA9B5D20740}"/>
              </a:ext>
            </a:extLst>
          </p:cNvPr>
          <p:cNvSpPr txBox="1"/>
          <p:nvPr/>
        </p:nvSpPr>
        <p:spPr>
          <a:xfrm>
            <a:off x="1028700" y="580972"/>
            <a:ext cx="13982700" cy="16671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>
              <a:lnSpc>
                <a:spcPts val="6471"/>
              </a:lnSpc>
              <a:spcBef>
                <a:spcPct val="0"/>
              </a:spcBef>
            </a:pPr>
            <a:r>
              <a:rPr lang="es-ES" sz="7034" u="none" strike="noStrike" noProof="0" dirty="0">
                <a:solidFill>
                  <a:srgbClr val="FFFFF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6. Línea 1: recompensa densa</a:t>
            </a:r>
          </a:p>
          <a:p>
            <a:pPr marL="0" lvl="0" indent="0" algn="ctr">
              <a:lnSpc>
                <a:spcPts val="6471"/>
              </a:lnSpc>
              <a:spcBef>
                <a:spcPct val="0"/>
              </a:spcBef>
            </a:pPr>
            <a:endParaRPr lang="es-ES" sz="7034" u="none" strike="noStrike" noProof="0" dirty="0">
              <a:solidFill>
                <a:srgbClr val="FFFFFF"/>
              </a:solidFill>
              <a:latin typeface="Playfair Display"/>
              <a:ea typeface="Playfair Display"/>
              <a:cs typeface="Playfair Display"/>
              <a:sym typeface="Playfair Display"/>
            </a:endParaRPr>
          </a:p>
        </p:txBody>
      </p:sp>
      <p:sp>
        <p:nvSpPr>
          <p:cNvPr id="9" name="AutoShape 9">
            <a:extLst>
              <a:ext uri="{FF2B5EF4-FFF2-40B4-BE49-F238E27FC236}">
                <a16:creationId xmlns:a16="http://schemas.microsoft.com/office/drawing/2014/main" id="{8A967CAC-2168-B4E6-5290-DB2E539E37D1}"/>
              </a:ext>
            </a:extLst>
          </p:cNvPr>
          <p:cNvSpPr/>
          <p:nvPr/>
        </p:nvSpPr>
        <p:spPr>
          <a:xfrm>
            <a:off x="12725400" y="952500"/>
            <a:ext cx="4533900" cy="45975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s-ES" noProof="0" dirty="0"/>
          </a:p>
        </p:txBody>
      </p:sp>
      <p:pic>
        <p:nvPicPr>
          <p:cNvPr id="12" name="Imagen 11">
            <a:extLst>
              <a:ext uri="{FF2B5EF4-FFF2-40B4-BE49-F238E27FC236}">
                <a16:creationId xmlns:a16="http://schemas.microsoft.com/office/drawing/2014/main" id="{0721F869-C9A6-D92E-BDAD-19B415E010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35" y="2338930"/>
            <a:ext cx="10146365" cy="4186678"/>
          </a:xfrm>
          <a:prstGeom prst="rect">
            <a:avLst/>
          </a:prstGeom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6F078C42-6BD2-A0F7-8E71-576CB2EC0F8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58400" y="2248095"/>
            <a:ext cx="8269941" cy="6694714"/>
          </a:xfrm>
          <a:prstGeom prst="rect">
            <a:avLst/>
          </a:prstGeom>
        </p:spPr>
      </p:pic>
      <p:sp>
        <p:nvSpPr>
          <p:cNvPr id="11" name="TextBox 9">
            <a:extLst>
              <a:ext uri="{FF2B5EF4-FFF2-40B4-BE49-F238E27FC236}">
                <a16:creationId xmlns:a16="http://schemas.microsoft.com/office/drawing/2014/main" id="{FD5B98F3-562A-FEB2-98FA-18D9AE47111F}"/>
              </a:ext>
            </a:extLst>
          </p:cNvPr>
          <p:cNvSpPr txBox="1"/>
          <p:nvPr/>
        </p:nvSpPr>
        <p:spPr>
          <a:xfrm>
            <a:off x="172010" y="7753997"/>
            <a:ext cx="3574219" cy="217495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Motivación y contexto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Objetivos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Tecnologías usadas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Arquitectura del sistema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Definición del problema RL</a:t>
            </a:r>
          </a:p>
          <a:p>
            <a:pPr marL="939494" lvl="1" indent="-469747" algn="l">
              <a:lnSpc>
                <a:spcPct val="150000"/>
              </a:lnSpc>
              <a:buAutoNum type="arabicPeriod"/>
            </a:pPr>
            <a:r>
              <a:rPr lang="es-ES" sz="1600" noProof="0" dirty="0">
                <a:solidFill>
                  <a:schemeClr val="tx2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1: recompensa densa</a:t>
            </a:r>
          </a:p>
        </p:txBody>
      </p:sp>
    </p:spTree>
    <p:extLst>
      <p:ext uri="{BB962C8B-B14F-4D97-AF65-F5344CB8AC3E}">
        <p14:creationId xmlns:p14="http://schemas.microsoft.com/office/powerpoint/2010/main" val="41789187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68AB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11635F8-B313-952A-474E-4561C6FE4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3600C8D6-4E22-0907-CB06-BB3FD05D98B6}"/>
              </a:ext>
            </a:extLst>
          </p:cNvPr>
          <p:cNvSpPr/>
          <p:nvPr/>
        </p:nvSpPr>
        <p:spPr>
          <a:xfrm rot="-10800000">
            <a:off x="104775" y="818538"/>
            <a:ext cx="18078450" cy="1643495"/>
          </a:xfrm>
          <a:custGeom>
            <a:avLst/>
            <a:gdLst/>
            <a:ahLst/>
            <a:cxnLst/>
            <a:rect l="l" t="t" r="r" b="b"/>
            <a:pathLst>
              <a:path w="18078450" h="1643495">
                <a:moveTo>
                  <a:pt x="0" y="0"/>
                </a:moveTo>
                <a:lnTo>
                  <a:pt x="18078450" y="0"/>
                </a:lnTo>
                <a:lnTo>
                  <a:pt x="18078450" y="1643495"/>
                </a:lnTo>
                <a:lnTo>
                  <a:pt x="0" y="164349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ES" noProof="0" dirty="0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D3B367E8-287A-3F02-322A-566D3E48052B}"/>
              </a:ext>
            </a:extLst>
          </p:cNvPr>
          <p:cNvGrpSpPr/>
          <p:nvPr/>
        </p:nvGrpSpPr>
        <p:grpSpPr>
          <a:xfrm>
            <a:off x="0" y="1927350"/>
            <a:ext cx="18288000" cy="8091407"/>
            <a:chOff x="0" y="0"/>
            <a:chExt cx="5186228" cy="1850054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34832395-A8CB-993E-9212-4C1763EFE477}"/>
                </a:ext>
              </a:extLst>
            </p:cNvPr>
            <p:cNvSpPr/>
            <p:nvPr/>
          </p:nvSpPr>
          <p:spPr>
            <a:xfrm>
              <a:off x="0" y="0"/>
              <a:ext cx="5186228" cy="1850054"/>
            </a:xfrm>
            <a:custGeom>
              <a:avLst/>
              <a:gdLst/>
              <a:ahLst/>
              <a:cxnLst/>
              <a:rect l="l" t="t" r="r" b="b"/>
              <a:pathLst>
                <a:path w="5186228" h="1850054">
                  <a:moveTo>
                    <a:pt x="0" y="0"/>
                  </a:moveTo>
                  <a:lnTo>
                    <a:pt x="5186228" y="0"/>
                  </a:lnTo>
                  <a:lnTo>
                    <a:pt x="5186228" y="1850054"/>
                  </a:lnTo>
                  <a:lnTo>
                    <a:pt x="0" y="1850054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 noProof="0" dirty="0"/>
            </a:p>
          </p:txBody>
        </p:sp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2F32B5FF-5133-858F-A822-B590D5AB1599}"/>
                </a:ext>
              </a:extLst>
            </p:cNvPr>
            <p:cNvSpPr txBox="1"/>
            <p:nvPr/>
          </p:nvSpPr>
          <p:spPr>
            <a:xfrm>
              <a:off x="0" y="-38100"/>
              <a:ext cx="5186228" cy="188815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 lang="es-ES" noProof="0" dirty="0"/>
            </a:p>
          </p:txBody>
        </p:sp>
      </p:grpSp>
      <p:sp>
        <p:nvSpPr>
          <p:cNvPr id="6" name="TextBox 6">
            <a:extLst>
              <a:ext uri="{FF2B5EF4-FFF2-40B4-BE49-F238E27FC236}">
                <a16:creationId xmlns:a16="http://schemas.microsoft.com/office/drawing/2014/main" id="{0411E212-B94C-C238-AF4B-A4EBFB04F3AC}"/>
              </a:ext>
            </a:extLst>
          </p:cNvPr>
          <p:cNvSpPr txBox="1"/>
          <p:nvPr/>
        </p:nvSpPr>
        <p:spPr>
          <a:xfrm>
            <a:off x="990600" y="613287"/>
            <a:ext cx="13982700" cy="84625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>
              <a:lnSpc>
                <a:spcPts val="6471"/>
              </a:lnSpc>
              <a:spcBef>
                <a:spcPct val="0"/>
              </a:spcBef>
            </a:pPr>
            <a:r>
              <a:rPr lang="es-ES" sz="7034" u="none" strike="noStrike" noProof="0" dirty="0">
                <a:solidFill>
                  <a:srgbClr val="FFFFF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7. Línea 2: recompensa dispersa</a:t>
            </a:r>
            <a:endParaRPr lang="es-ES" sz="7034" u="none" strike="noStrike" noProof="0" dirty="0">
              <a:solidFill>
                <a:srgbClr val="FFFFFF"/>
              </a:solidFill>
              <a:latin typeface="Playfair Display"/>
              <a:ea typeface="Playfair Display"/>
              <a:cs typeface="Playfair Display"/>
              <a:sym typeface="Playfair Display"/>
            </a:endParaRPr>
          </a:p>
        </p:txBody>
      </p:sp>
      <p:sp>
        <p:nvSpPr>
          <p:cNvPr id="9" name="AutoShape 9">
            <a:extLst>
              <a:ext uri="{FF2B5EF4-FFF2-40B4-BE49-F238E27FC236}">
                <a16:creationId xmlns:a16="http://schemas.microsoft.com/office/drawing/2014/main" id="{E81CCF11-134D-CAD2-0251-4DFF8E992A2B}"/>
              </a:ext>
            </a:extLst>
          </p:cNvPr>
          <p:cNvSpPr/>
          <p:nvPr/>
        </p:nvSpPr>
        <p:spPr>
          <a:xfrm flipV="1">
            <a:off x="12858750" y="1036415"/>
            <a:ext cx="4229100" cy="30225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s-ES" noProof="0" dirty="0"/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2B624A68-9AEB-A209-5E08-490889A55B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62800" y="1927351"/>
            <a:ext cx="10485704" cy="8091406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FBE66B8-CED5-6A93-2019-CE6295DC69CE}"/>
              </a:ext>
            </a:extLst>
          </p:cNvPr>
          <p:cNvSpPr txBox="1"/>
          <p:nvPr/>
        </p:nvSpPr>
        <p:spPr>
          <a:xfrm>
            <a:off x="172010" y="7753997"/>
            <a:ext cx="3574219" cy="217495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939494" lvl="1" indent="-469747" algn="l">
              <a:lnSpc>
                <a:spcPct val="150000"/>
              </a:lnSpc>
              <a:buFont typeface="+mj-lt"/>
              <a:buAutoNum type="arabicPeriod" startAt="7"/>
            </a:pPr>
            <a:r>
              <a:rPr lang="es-ES" sz="1600" noProof="0" dirty="0">
                <a:solidFill>
                  <a:schemeClr val="tx2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2: recompensa dispersa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3: acción stop 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4: información temporal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Demostración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Conclusiones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Líneas futuras</a:t>
            </a:r>
          </a:p>
        </p:txBody>
      </p:sp>
    </p:spTree>
    <p:extLst>
      <p:ext uri="{BB962C8B-B14F-4D97-AF65-F5344CB8AC3E}">
        <p14:creationId xmlns:p14="http://schemas.microsoft.com/office/powerpoint/2010/main" val="13095858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68AB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6162355-0D0F-EF54-F86A-D4ACE3B65A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AD0208AD-8867-B568-23BA-3317EA83A3FB}"/>
              </a:ext>
            </a:extLst>
          </p:cNvPr>
          <p:cNvSpPr/>
          <p:nvPr/>
        </p:nvSpPr>
        <p:spPr>
          <a:xfrm rot="-10800000">
            <a:off x="104775" y="818538"/>
            <a:ext cx="18078450" cy="1643495"/>
          </a:xfrm>
          <a:custGeom>
            <a:avLst/>
            <a:gdLst/>
            <a:ahLst/>
            <a:cxnLst/>
            <a:rect l="l" t="t" r="r" b="b"/>
            <a:pathLst>
              <a:path w="18078450" h="1643495">
                <a:moveTo>
                  <a:pt x="0" y="0"/>
                </a:moveTo>
                <a:lnTo>
                  <a:pt x="18078450" y="0"/>
                </a:lnTo>
                <a:lnTo>
                  <a:pt x="18078450" y="1643495"/>
                </a:lnTo>
                <a:lnTo>
                  <a:pt x="0" y="164349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ES" noProof="0" dirty="0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1F857699-01E5-B83D-714F-3352ACB2C322}"/>
              </a:ext>
            </a:extLst>
          </p:cNvPr>
          <p:cNvGrpSpPr/>
          <p:nvPr/>
        </p:nvGrpSpPr>
        <p:grpSpPr>
          <a:xfrm>
            <a:off x="0" y="1927350"/>
            <a:ext cx="18288000" cy="8091407"/>
            <a:chOff x="0" y="0"/>
            <a:chExt cx="5186228" cy="1850054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95369A34-0EDA-0FD7-A924-3FEF6359ED18}"/>
                </a:ext>
              </a:extLst>
            </p:cNvPr>
            <p:cNvSpPr/>
            <p:nvPr/>
          </p:nvSpPr>
          <p:spPr>
            <a:xfrm>
              <a:off x="0" y="0"/>
              <a:ext cx="5186228" cy="1850054"/>
            </a:xfrm>
            <a:custGeom>
              <a:avLst/>
              <a:gdLst/>
              <a:ahLst/>
              <a:cxnLst/>
              <a:rect l="l" t="t" r="r" b="b"/>
              <a:pathLst>
                <a:path w="5186228" h="1850054">
                  <a:moveTo>
                    <a:pt x="0" y="0"/>
                  </a:moveTo>
                  <a:lnTo>
                    <a:pt x="5186228" y="0"/>
                  </a:lnTo>
                  <a:lnTo>
                    <a:pt x="5186228" y="1850054"/>
                  </a:lnTo>
                  <a:lnTo>
                    <a:pt x="0" y="1850054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 noProof="0" dirty="0"/>
            </a:p>
          </p:txBody>
        </p:sp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9154BE02-A512-B1B5-A5BB-E32E605AF2D9}"/>
                </a:ext>
              </a:extLst>
            </p:cNvPr>
            <p:cNvSpPr txBox="1"/>
            <p:nvPr/>
          </p:nvSpPr>
          <p:spPr>
            <a:xfrm>
              <a:off x="0" y="-38100"/>
              <a:ext cx="5186228" cy="188815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 lang="es-ES" noProof="0" dirty="0"/>
            </a:p>
          </p:txBody>
        </p:sp>
      </p:grpSp>
      <p:sp>
        <p:nvSpPr>
          <p:cNvPr id="6" name="TextBox 6">
            <a:extLst>
              <a:ext uri="{FF2B5EF4-FFF2-40B4-BE49-F238E27FC236}">
                <a16:creationId xmlns:a16="http://schemas.microsoft.com/office/drawing/2014/main" id="{62649BCD-51B9-4ACE-1FC5-077FB5A960A1}"/>
              </a:ext>
            </a:extLst>
          </p:cNvPr>
          <p:cNvSpPr txBox="1"/>
          <p:nvPr/>
        </p:nvSpPr>
        <p:spPr>
          <a:xfrm>
            <a:off x="990600" y="613287"/>
            <a:ext cx="13982700" cy="84625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>
              <a:lnSpc>
                <a:spcPts val="6471"/>
              </a:lnSpc>
              <a:spcBef>
                <a:spcPct val="0"/>
              </a:spcBef>
            </a:pPr>
            <a:r>
              <a:rPr lang="es-ES" sz="7034" u="none" strike="noStrike" noProof="0" dirty="0">
                <a:solidFill>
                  <a:srgbClr val="FFFFF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7. Línea 2: recompensa dispersa</a:t>
            </a:r>
            <a:endParaRPr lang="es-ES" sz="7034" u="none" strike="noStrike" noProof="0" dirty="0">
              <a:solidFill>
                <a:srgbClr val="FFFFFF"/>
              </a:solidFill>
              <a:latin typeface="Playfair Display"/>
              <a:ea typeface="Playfair Display"/>
              <a:cs typeface="Playfair Display"/>
              <a:sym typeface="Playfair Display"/>
            </a:endParaRPr>
          </a:p>
        </p:txBody>
      </p:sp>
      <p:sp>
        <p:nvSpPr>
          <p:cNvPr id="9" name="AutoShape 9">
            <a:extLst>
              <a:ext uri="{FF2B5EF4-FFF2-40B4-BE49-F238E27FC236}">
                <a16:creationId xmlns:a16="http://schemas.microsoft.com/office/drawing/2014/main" id="{B5BBE41C-FF60-A7DF-D3AC-971899874B98}"/>
              </a:ext>
            </a:extLst>
          </p:cNvPr>
          <p:cNvSpPr/>
          <p:nvPr/>
        </p:nvSpPr>
        <p:spPr>
          <a:xfrm flipV="1">
            <a:off x="12858750" y="1036415"/>
            <a:ext cx="4229100" cy="30225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s-ES" noProof="0" dirty="0"/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A892AF52-BCB9-5D6E-526D-9FDD28AD13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68082" y="2592656"/>
            <a:ext cx="7975629" cy="6360844"/>
          </a:xfrm>
          <a:prstGeom prst="rect">
            <a:avLst/>
          </a:prstGeo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40BF7C79-3C8E-A5FC-420A-B66024F475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25525" y="2592656"/>
            <a:ext cx="7975629" cy="635845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9BD6766-E653-ACA5-11EF-557625EA67B2}"/>
              </a:ext>
            </a:extLst>
          </p:cNvPr>
          <p:cNvSpPr txBox="1"/>
          <p:nvPr/>
        </p:nvSpPr>
        <p:spPr>
          <a:xfrm>
            <a:off x="-152400" y="7819150"/>
            <a:ext cx="3574219" cy="217495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939494" lvl="1" indent="-469747" algn="l">
              <a:lnSpc>
                <a:spcPct val="150000"/>
              </a:lnSpc>
              <a:buFont typeface="+mj-lt"/>
              <a:buAutoNum type="arabicPeriod" startAt="7"/>
            </a:pPr>
            <a:r>
              <a:rPr lang="es-ES" sz="1600" noProof="0" dirty="0">
                <a:solidFill>
                  <a:schemeClr val="tx2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2: recompensa dispersa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3: acción stop 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4: información temporal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Demostración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Conclusiones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Líneas futuras</a:t>
            </a:r>
          </a:p>
        </p:txBody>
      </p:sp>
    </p:spTree>
    <p:extLst>
      <p:ext uri="{BB962C8B-B14F-4D97-AF65-F5344CB8AC3E}">
        <p14:creationId xmlns:p14="http://schemas.microsoft.com/office/powerpoint/2010/main" val="34137225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68AB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18AC84E-0F8E-575C-7ECD-4904423C02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56E9D36E-6BF5-3CB9-6442-CC84D8DE801E}"/>
              </a:ext>
            </a:extLst>
          </p:cNvPr>
          <p:cNvSpPr/>
          <p:nvPr/>
        </p:nvSpPr>
        <p:spPr>
          <a:xfrm rot="-10800000">
            <a:off x="104775" y="1745916"/>
            <a:ext cx="18078450" cy="1643495"/>
          </a:xfrm>
          <a:custGeom>
            <a:avLst/>
            <a:gdLst/>
            <a:ahLst/>
            <a:cxnLst/>
            <a:rect l="l" t="t" r="r" b="b"/>
            <a:pathLst>
              <a:path w="18078450" h="1643495">
                <a:moveTo>
                  <a:pt x="0" y="0"/>
                </a:moveTo>
                <a:lnTo>
                  <a:pt x="18078450" y="0"/>
                </a:lnTo>
                <a:lnTo>
                  <a:pt x="18078450" y="1643495"/>
                </a:lnTo>
                <a:lnTo>
                  <a:pt x="0" y="164349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ES" noProof="0" dirty="0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ECFA0299-68A9-E20C-2966-7CC9E39B5440}"/>
              </a:ext>
            </a:extLst>
          </p:cNvPr>
          <p:cNvGrpSpPr/>
          <p:nvPr/>
        </p:nvGrpSpPr>
        <p:grpSpPr>
          <a:xfrm>
            <a:off x="0" y="2994333"/>
            <a:ext cx="18288000" cy="7024424"/>
            <a:chOff x="0" y="0"/>
            <a:chExt cx="5186228" cy="1850054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09ED070F-A40B-4576-8990-F4F6B722DDF1}"/>
                </a:ext>
              </a:extLst>
            </p:cNvPr>
            <p:cNvSpPr/>
            <p:nvPr/>
          </p:nvSpPr>
          <p:spPr>
            <a:xfrm>
              <a:off x="0" y="0"/>
              <a:ext cx="5186228" cy="1850054"/>
            </a:xfrm>
            <a:custGeom>
              <a:avLst/>
              <a:gdLst/>
              <a:ahLst/>
              <a:cxnLst/>
              <a:rect l="l" t="t" r="r" b="b"/>
              <a:pathLst>
                <a:path w="5186228" h="1850054">
                  <a:moveTo>
                    <a:pt x="0" y="0"/>
                  </a:moveTo>
                  <a:lnTo>
                    <a:pt x="5186228" y="0"/>
                  </a:lnTo>
                  <a:lnTo>
                    <a:pt x="5186228" y="1850054"/>
                  </a:lnTo>
                  <a:lnTo>
                    <a:pt x="0" y="1850054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 noProof="0" dirty="0"/>
            </a:p>
          </p:txBody>
        </p:sp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A78BE8E1-0188-53AC-97A5-40F95A40E8C4}"/>
                </a:ext>
              </a:extLst>
            </p:cNvPr>
            <p:cNvSpPr txBox="1"/>
            <p:nvPr/>
          </p:nvSpPr>
          <p:spPr>
            <a:xfrm>
              <a:off x="0" y="-38100"/>
              <a:ext cx="5186228" cy="188815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 lang="es-ES" noProof="0" dirty="0"/>
            </a:p>
          </p:txBody>
        </p:sp>
      </p:grpSp>
      <p:sp>
        <p:nvSpPr>
          <p:cNvPr id="6" name="TextBox 6">
            <a:extLst>
              <a:ext uri="{FF2B5EF4-FFF2-40B4-BE49-F238E27FC236}">
                <a16:creationId xmlns:a16="http://schemas.microsoft.com/office/drawing/2014/main" id="{5DDACDE8-1C98-3562-2B37-DAF47EB520AC}"/>
              </a:ext>
            </a:extLst>
          </p:cNvPr>
          <p:cNvSpPr txBox="1"/>
          <p:nvPr/>
        </p:nvSpPr>
        <p:spPr>
          <a:xfrm>
            <a:off x="1028700" y="1200110"/>
            <a:ext cx="13982700" cy="85068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>
              <a:lnSpc>
                <a:spcPts val="6471"/>
              </a:lnSpc>
              <a:spcBef>
                <a:spcPct val="0"/>
              </a:spcBef>
            </a:pPr>
            <a:r>
              <a:rPr lang="es-ES" sz="7034" dirty="0">
                <a:solidFill>
                  <a:srgbClr val="FFFFF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8</a:t>
            </a:r>
            <a:r>
              <a:rPr lang="es-ES" sz="7034" u="none" strike="noStrike" noProof="0" dirty="0">
                <a:solidFill>
                  <a:srgbClr val="FFFFF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. Línea 3: acción stop </a:t>
            </a:r>
          </a:p>
        </p:txBody>
      </p:sp>
      <p:sp>
        <p:nvSpPr>
          <p:cNvPr id="9" name="AutoShape 9">
            <a:extLst>
              <a:ext uri="{FF2B5EF4-FFF2-40B4-BE49-F238E27FC236}">
                <a16:creationId xmlns:a16="http://schemas.microsoft.com/office/drawing/2014/main" id="{A0788983-AEC4-2773-5C26-07BDC25F59C0}"/>
              </a:ext>
            </a:extLst>
          </p:cNvPr>
          <p:cNvSpPr/>
          <p:nvPr/>
        </p:nvSpPr>
        <p:spPr>
          <a:xfrm>
            <a:off x="9372600" y="1485900"/>
            <a:ext cx="7886700" cy="45975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s-ES" noProof="0" dirty="0"/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524CABD7-1849-292C-8AB7-8542122DE0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2800" y="2994333"/>
            <a:ext cx="8954060" cy="564299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288EB6B-BED6-9030-2A6A-4A19A5DB0935}"/>
              </a:ext>
            </a:extLst>
          </p:cNvPr>
          <p:cNvSpPr txBox="1"/>
          <p:nvPr/>
        </p:nvSpPr>
        <p:spPr>
          <a:xfrm>
            <a:off x="172010" y="7753997"/>
            <a:ext cx="3574219" cy="217495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939494" lvl="1" indent="-469747" algn="l">
              <a:lnSpc>
                <a:spcPct val="150000"/>
              </a:lnSpc>
              <a:buFont typeface="+mj-lt"/>
              <a:buAutoNum type="arabicPeriod" startAt="7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2: recompensa dispersa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tx2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3: acción stop 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4: información temporal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Demostración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Conclusiones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Líneas futuras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3040675D-1515-9C21-71C3-0FC567419E09}"/>
              </a:ext>
            </a:extLst>
          </p:cNvPr>
          <p:cNvSpPr txBox="1"/>
          <p:nvPr/>
        </p:nvSpPr>
        <p:spPr>
          <a:xfrm>
            <a:off x="13963650" y="6334752"/>
            <a:ext cx="1524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tablita</a:t>
            </a:r>
          </a:p>
        </p:txBody>
      </p:sp>
    </p:spTree>
    <p:extLst>
      <p:ext uri="{BB962C8B-B14F-4D97-AF65-F5344CB8AC3E}">
        <p14:creationId xmlns:p14="http://schemas.microsoft.com/office/powerpoint/2010/main" val="198687253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68AB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8C4621D-FBDC-C6F1-DF32-9586C9D774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F02546D0-9123-E59F-2592-4FAF0496610C}"/>
              </a:ext>
            </a:extLst>
          </p:cNvPr>
          <p:cNvSpPr/>
          <p:nvPr/>
        </p:nvSpPr>
        <p:spPr>
          <a:xfrm rot="-10800000">
            <a:off x="104775" y="1745916"/>
            <a:ext cx="18078450" cy="1643495"/>
          </a:xfrm>
          <a:custGeom>
            <a:avLst/>
            <a:gdLst/>
            <a:ahLst/>
            <a:cxnLst/>
            <a:rect l="l" t="t" r="r" b="b"/>
            <a:pathLst>
              <a:path w="18078450" h="1643495">
                <a:moveTo>
                  <a:pt x="0" y="0"/>
                </a:moveTo>
                <a:lnTo>
                  <a:pt x="18078450" y="0"/>
                </a:lnTo>
                <a:lnTo>
                  <a:pt x="18078450" y="1643495"/>
                </a:lnTo>
                <a:lnTo>
                  <a:pt x="0" y="164349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ES" noProof="0" dirty="0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C9CE1E35-365A-EF25-55AD-E1D26747582A}"/>
              </a:ext>
            </a:extLst>
          </p:cNvPr>
          <p:cNvGrpSpPr/>
          <p:nvPr/>
        </p:nvGrpSpPr>
        <p:grpSpPr>
          <a:xfrm>
            <a:off x="0" y="2994333"/>
            <a:ext cx="18288000" cy="7024424"/>
            <a:chOff x="0" y="0"/>
            <a:chExt cx="5186228" cy="1850054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9C2BA5AD-E77B-AF4B-DD6B-7D2CF760EF1B}"/>
                </a:ext>
              </a:extLst>
            </p:cNvPr>
            <p:cNvSpPr/>
            <p:nvPr/>
          </p:nvSpPr>
          <p:spPr>
            <a:xfrm>
              <a:off x="0" y="0"/>
              <a:ext cx="5186228" cy="1850054"/>
            </a:xfrm>
            <a:custGeom>
              <a:avLst/>
              <a:gdLst/>
              <a:ahLst/>
              <a:cxnLst/>
              <a:rect l="l" t="t" r="r" b="b"/>
              <a:pathLst>
                <a:path w="5186228" h="1850054">
                  <a:moveTo>
                    <a:pt x="0" y="0"/>
                  </a:moveTo>
                  <a:lnTo>
                    <a:pt x="5186228" y="0"/>
                  </a:lnTo>
                  <a:lnTo>
                    <a:pt x="5186228" y="1850054"/>
                  </a:lnTo>
                  <a:lnTo>
                    <a:pt x="0" y="1850054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 noProof="0" dirty="0"/>
            </a:p>
          </p:txBody>
        </p:sp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A223441E-A1AE-E3D9-0F40-F01AE9D023A6}"/>
                </a:ext>
              </a:extLst>
            </p:cNvPr>
            <p:cNvSpPr txBox="1"/>
            <p:nvPr/>
          </p:nvSpPr>
          <p:spPr>
            <a:xfrm>
              <a:off x="0" y="-38100"/>
              <a:ext cx="5186228" cy="188815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 lang="es-ES" noProof="0" dirty="0"/>
            </a:p>
          </p:txBody>
        </p:sp>
      </p:grpSp>
      <p:sp>
        <p:nvSpPr>
          <p:cNvPr id="6" name="TextBox 6">
            <a:extLst>
              <a:ext uri="{FF2B5EF4-FFF2-40B4-BE49-F238E27FC236}">
                <a16:creationId xmlns:a16="http://schemas.microsoft.com/office/drawing/2014/main" id="{ED1DAE13-C1C7-5E4E-DB62-306B4D3EB27C}"/>
              </a:ext>
            </a:extLst>
          </p:cNvPr>
          <p:cNvSpPr txBox="1"/>
          <p:nvPr/>
        </p:nvSpPr>
        <p:spPr>
          <a:xfrm>
            <a:off x="1028700" y="1200110"/>
            <a:ext cx="13982700" cy="85068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>
              <a:lnSpc>
                <a:spcPts val="6471"/>
              </a:lnSpc>
              <a:spcBef>
                <a:spcPct val="0"/>
              </a:spcBef>
            </a:pPr>
            <a:r>
              <a:rPr lang="es-ES" sz="7034" dirty="0">
                <a:solidFill>
                  <a:srgbClr val="FFFFF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8</a:t>
            </a:r>
            <a:r>
              <a:rPr lang="es-ES" sz="7034" u="none" strike="noStrike" noProof="0" dirty="0">
                <a:solidFill>
                  <a:srgbClr val="FFFFF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. Línea 3: acción stop </a:t>
            </a:r>
          </a:p>
        </p:txBody>
      </p:sp>
      <p:sp>
        <p:nvSpPr>
          <p:cNvPr id="9" name="AutoShape 9">
            <a:extLst>
              <a:ext uri="{FF2B5EF4-FFF2-40B4-BE49-F238E27FC236}">
                <a16:creationId xmlns:a16="http://schemas.microsoft.com/office/drawing/2014/main" id="{AB94063F-75F8-9982-54AF-B41D94AA0DAB}"/>
              </a:ext>
            </a:extLst>
          </p:cNvPr>
          <p:cNvSpPr/>
          <p:nvPr/>
        </p:nvSpPr>
        <p:spPr>
          <a:xfrm>
            <a:off x="9372600" y="1485900"/>
            <a:ext cx="7886700" cy="45975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s-ES" noProof="0" dirty="0"/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C53EEED1-DC71-B5C9-ED98-BAE3222DB3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7400" y="3007832"/>
            <a:ext cx="8954060" cy="5642991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F4030846-C4E0-6E91-50EC-80D749708F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25200" y="4839132"/>
            <a:ext cx="7162800" cy="54478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734836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68AB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0C63215-26A2-D911-53DA-5C6961125B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899B80A4-3A4D-56F0-CB54-67B5D6BE0101}"/>
              </a:ext>
            </a:extLst>
          </p:cNvPr>
          <p:cNvSpPr/>
          <p:nvPr/>
        </p:nvSpPr>
        <p:spPr>
          <a:xfrm rot="-10800000">
            <a:off x="104775" y="1745916"/>
            <a:ext cx="18078450" cy="1643495"/>
          </a:xfrm>
          <a:custGeom>
            <a:avLst/>
            <a:gdLst/>
            <a:ahLst/>
            <a:cxnLst/>
            <a:rect l="l" t="t" r="r" b="b"/>
            <a:pathLst>
              <a:path w="18078450" h="1643495">
                <a:moveTo>
                  <a:pt x="0" y="0"/>
                </a:moveTo>
                <a:lnTo>
                  <a:pt x="18078450" y="0"/>
                </a:lnTo>
                <a:lnTo>
                  <a:pt x="18078450" y="1643495"/>
                </a:lnTo>
                <a:lnTo>
                  <a:pt x="0" y="164349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ES" noProof="0" dirty="0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4E5D1739-C475-B196-136A-64E457B730A5}"/>
              </a:ext>
            </a:extLst>
          </p:cNvPr>
          <p:cNvGrpSpPr/>
          <p:nvPr/>
        </p:nvGrpSpPr>
        <p:grpSpPr>
          <a:xfrm>
            <a:off x="0" y="2994333"/>
            <a:ext cx="18288000" cy="7024424"/>
            <a:chOff x="0" y="0"/>
            <a:chExt cx="5186228" cy="1850054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6A58CD4C-21E0-D16D-FF81-EBD17EB142E1}"/>
                </a:ext>
              </a:extLst>
            </p:cNvPr>
            <p:cNvSpPr/>
            <p:nvPr/>
          </p:nvSpPr>
          <p:spPr>
            <a:xfrm>
              <a:off x="0" y="0"/>
              <a:ext cx="5186228" cy="1850054"/>
            </a:xfrm>
            <a:custGeom>
              <a:avLst/>
              <a:gdLst/>
              <a:ahLst/>
              <a:cxnLst/>
              <a:rect l="l" t="t" r="r" b="b"/>
              <a:pathLst>
                <a:path w="5186228" h="1850054">
                  <a:moveTo>
                    <a:pt x="0" y="0"/>
                  </a:moveTo>
                  <a:lnTo>
                    <a:pt x="5186228" y="0"/>
                  </a:lnTo>
                  <a:lnTo>
                    <a:pt x="5186228" y="1850054"/>
                  </a:lnTo>
                  <a:lnTo>
                    <a:pt x="0" y="1850054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 noProof="0" dirty="0"/>
            </a:p>
          </p:txBody>
        </p:sp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28908C46-9E74-E88B-B0D3-8B5FC5E97464}"/>
                </a:ext>
              </a:extLst>
            </p:cNvPr>
            <p:cNvSpPr txBox="1"/>
            <p:nvPr/>
          </p:nvSpPr>
          <p:spPr>
            <a:xfrm>
              <a:off x="0" y="-38100"/>
              <a:ext cx="5186228" cy="188815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 lang="es-ES" noProof="0" dirty="0"/>
            </a:p>
          </p:txBody>
        </p:sp>
      </p:grpSp>
      <p:sp>
        <p:nvSpPr>
          <p:cNvPr id="6" name="TextBox 6">
            <a:extLst>
              <a:ext uri="{FF2B5EF4-FFF2-40B4-BE49-F238E27FC236}">
                <a16:creationId xmlns:a16="http://schemas.microsoft.com/office/drawing/2014/main" id="{DCDDACEF-0E9D-5841-0AE9-3A79DD462306}"/>
              </a:ext>
            </a:extLst>
          </p:cNvPr>
          <p:cNvSpPr txBox="1"/>
          <p:nvPr/>
        </p:nvSpPr>
        <p:spPr>
          <a:xfrm>
            <a:off x="989760" y="527266"/>
            <a:ext cx="7810500" cy="250068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>
              <a:lnSpc>
                <a:spcPts val="6471"/>
              </a:lnSpc>
              <a:spcBef>
                <a:spcPct val="0"/>
              </a:spcBef>
            </a:pPr>
            <a:r>
              <a:rPr lang="es-ES" sz="7034" dirty="0">
                <a:solidFill>
                  <a:srgbClr val="FFFFF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9</a:t>
            </a:r>
            <a:r>
              <a:rPr lang="es-ES" sz="7034" u="none" strike="noStrike" noProof="0" dirty="0">
                <a:solidFill>
                  <a:srgbClr val="FFFFF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. Línea 4: información temporal</a:t>
            </a:r>
          </a:p>
          <a:p>
            <a:pPr marL="0" lvl="0" indent="0" algn="ctr">
              <a:lnSpc>
                <a:spcPts val="6471"/>
              </a:lnSpc>
              <a:spcBef>
                <a:spcPct val="0"/>
              </a:spcBef>
            </a:pPr>
            <a:endParaRPr lang="es-ES" sz="7034" u="none" strike="noStrike" noProof="0" dirty="0">
              <a:solidFill>
                <a:srgbClr val="FFFFFF"/>
              </a:solidFill>
              <a:latin typeface="Playfair Display"/>
              <a:ea typeface="Playfair Display"/>
              <a:cs typeface="Playfair Display"/>
              <a:sym typeface="Playfair Display"/>
            </a:endParaRPr>
          </a:p>
        </p:txBody>
      </p:sp>
      <p:sp>
        <p:nvSpPr>
          <p:cNvPr id="9" name="AutoShape 9">
            <a:extLst>
              <a:ext uri="{FF2B5EF4-FFF2-40B4-BE49-F238E27FC236}">
                <a16:creationId xmlns:a16="http://schemas.microsoft.com/office/drawing/2014/main" id="{76EA6BD8-5F0D-DD79-6683-7E76AEFEC41E}"/>
              </a:ext>
            </a:extLst>
          </p:cNvPr>
          <p:cNvSpPr/>
          <p:nvPr/>
        </p:nvSpPr>
        <p:spPr>
          <a:xfrm>
            <a:off x="13258800" y="1485900"/>
            <a:ext cx="4000500" cy="45975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s-ES" noProof="0" dirty="0"/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1B9487F3-EB1E-C1E1-03DF-1215D160A9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0" y="43289"/>
            <a:ext cx="6477000" cy="5257958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F9ABFCBC-F347-FFD8-BB3F-D06DD3919F8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3705" y="3027951"/>
            <a:ext cx="10700108" cy="5513134"/>
          </a:xfrm>
          <a:prstGeom prst="rect">
            <a:avLst/>
          </a:prstGeo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F155285A-4740-BED4-27B7-CE958F3F4EC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94225" y="5290041"/>
            <a:ext cx="6012374" cy="4732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537272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72DDE9-3898-3161-FC1A-515B70DEBF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AF1656CB-4CFB-ED7A-82BA-C01285F4CDA3}"/>
              </a:ext>
            </a:extLst>
          </p:cNvPr>
          <p:cNvSpPr/>
          <p:nvPr/>
        </p:nvSpPr>
        <p:spPr>
          <a:xfrm rot="-10800000">
            <a:off x="0" y="1420722"/>
            <a:ext cx="18288000" cy="1662545"/>
          </a:xfrm>
          <a:custGeom>
            <a:avLst/>
            <a:gdLst/>
            <a:ahLst/>
            <a:cxnLst/>
            <a:rect l="l" t="t" r="r" b="b"/>
            <a:pathLst>
              <a:path w="18288000" h="1662545">
                <a:moveTo>
                  <a:pt x="0" y="0"/>
                </a:moveTo>
                <a:lnTo>
                  <a:pt x="18288000" y="0"/>
                </a:lnTo>
                <a:lnTo>
                  <a:pt x="18288000" y="1662545"/>
                </a:lnTo>
                <a:lnTo>
                  <a:pt x="0" y="166254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ES" noProof="0" dirty="0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F58EE42F-E003-42EA-5B7C-3DA32D05EB1E}"/>
              </a:ext>
            </a:extLst>
          </p:cNvPr>
          <p:cNvSpPr/>
          <p:nvPr/>
        </p:nvSpPr>
        <p:spPr>
          <a:xfrm>
            <a:off x="-31711" y="8760008"/>
            <a:ext cx="18288000" cy="1662545"/>
          </a:xfrm>
          <a:custGeom>
            <a:avLst/>
            <a:gdLst/>
            <a:ahLst/>
            <a:cxnLst/>
            <a:rect l="l" t="t" r="r" b="b"/>
            <a:pathLst>
              <a:path w="18288000" h="1662545">
                <a:moveTo>
                  <a:pt x="0" y="0"/>
                </a:moveTo>
                <a:lnTo>
                  <a:pt x="18288000" y="0"/>
                </a:lnTo>
                <a:lnTo>
                  <a:pt x="18288000" y="1662546"/>
                </a:lnTo>
                <a:lnTo>
                  <a:pt x="0" y="166254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ES" noProof="0" dirty="0"/>
          </a:p>
        </p:txBody>
      </p:sp>
      <p:grpSp>
        <p:nvGrpSpPr>
          <p:cNvPr id="4" name="Group 4">
            <a:extLst>
              <a:ext uri="{FF2B5EF4-FFF2-40B4-BE49-F238E27FC236}">
                <a16:creationId xmlns:a16="http://schemas.microsoft.com/office/drawing/2014/main" id="{18C02EA5-56D1-BBA6-67F3-6BDF0B1BDA9D}"/>
              </a:ext>
            </a:extLst>
          </p:cNvPr>
          <p:cNvGrpSpPr/>
          <p:nvPr/>
        </p:nvGrpSpPr>
        <p:grpSpPr>
          <a:xfrm>
            <a:off x="-63422" y="2561029"/>
            <a:ext cx="18351422" cy="6198979"/>
            <a:chOff x="0" y="0"/>
            <a:chExt cx="5186228" cy="1497157"/>
          </a:xfrm>
        </p:grpSpPr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CCE64299-CBB8-8378-F641-A640E56A4B05}"/>
                </a:ext>
              </a:extLst>
            </p:cNvPr>
            <p:cNvSpPr/>
            <p:nvPr/>
          </p:nvSpPr>
          <p:spPr>
            <a:xfrm>
              <a:off x="0" y="0"/>
              <a:ext cx="5186228" cy="1497157"/>
            </a:xfrm>
            <a:custGeom>
              <a:avLst/>
              <a:gdLst/>
              <a:ahLst/>
              <a:cxnLst/>
              <a:rect l="l" t="t" r="r" b="b"/>
              <a:pathLst>
                <a:path w="5186228" h="1497157">
                  <a:moveTo>
                    <a:pt x="0" y="0"/>
                  </a:moveTo>
                  <a:lnTo>
                    <a:pt x="5186228" y="0"/>
                  </a:lnTo>
                  <a:lnTo>
                    <a:pt x="5186228" y="1497157"/>
                  </a:lnTo>
                  <a:lnTo>
                    <a:pt x="0" y="1497157"/>
                  </a:lnTo>
                  <a:close/>
                </a:path>
              </a:pathLst>
            </a:custGeom>
            <a:solidFill>
              <a:srgbClr val="4F83B3"/>
            </a:solidFill>
          </p:spPr>
          <p:txBody>
            <a:bodyPr/>
            <a:lstStyle/>
            <a:p>
              <a:endParaRPr lang="es-ES" noProof="0" dirty="0"/>
            </a:p>
          </p:txBody>
        </p:sp>
        <p:sp>
          <p:nvSpPr>
            <p:cNvPr id="6" name="TextBox 6">
              <a:extLst>
                <a:ext uri="{FF2B5EF4-FFF2-40B4-BE49-F238E27FC236}">
                  <a16:creationId xmlns:a16="http://schemas.microsoft.com/office/drawing/2014/main" id="{AFE2CD94-4692-B998-3DEB-76A186E792F7}"/>
                </a:ext>
              </a:extLst>
            </p:cNvPr>
            <p:cNvSpPr txBox="1"/>
            <p:nvPr/>
          </p:nvSpPr>
          <p:spPr>
            <a:xfrm>
              <a:off x="0" y="-38100"/>
              <a:ext cx="5186228" cy="153525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 lang="es-ES" noProof="0" dirty="0"/>
            </a:p>
          </p:txBody>
        </p:sp>
      </p:grpSp>
      <p:sp>
        <p:nvSpPr>
          <p:cNvPr id="7" name="TextBox 7">
            <a:extLst>
              <a:ext uri="{FF2B5EF4-FFF2-40B4-BE49-F238E27FC236}">
                <a16:creationId xmlns:a16="http://schemas.microsoft.com/office/drawing/2014/main" id="{45E71597-E611-1140-3C6F-BB58A8499713}"/>
              </a:ext>
            </a:extLst>
          </p:cNvPr>
          <p:cNvSpPr txBox="1"/>
          <p:nvPr/>
        </p:nvSpPr>
        <p:spPr>
          <a:xfrm>
            <a:off x="1447255" y="67736"/>
            <a:ext cx="15266646" cy="19877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23"/>
              </a:lnSpc>
            </a:pPr>
            <a:r>
              <a:rPr lang="es-ES" sz="14000" dirty="0">
                <a:solidFill>
                  <a:schemeClr val="tx2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 Bold"/>
                <a:sym typeface="Playfair Display Bold"/>
              </a:rPr>
              <a:t>10</a:t>
            </a:r>
            <a:r>
              <a:rPr lang="es-ES" sz="14000" noProof="0" dirty="0">
                <a:solidFill>
                  <a:schemeClr val="tx2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 Bold"/>
                <a:sym typeface="Playfair Display Bold"/>
              </a:rPr>
              <a:t>. Demostración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AD10EB81-0A7F-B764-3787-D9AF1C7D2F02}"/>
              </a:ext>
            </a:extLst>
          </p:cNvPr>
          <p:cNvSpPr txBox="1"/>
          <p:nvPr/>
        </p:nvSpPr>
        <p:spPr>
          <a:xfrm>
            <a:off x="-63422" y="6328850"/>
            <a:ext cx="3574219" cy="217495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939494" lvl="1" indent="-469747" algn="l">
              <a:lnSpc>
                <a:spcPct val="150000"/>
              </a:lnSpc>
              <a:buFont typeface="+mj-lt"/>
              <a:buAutoNum type="arabicPeriod" startAt="7"/>
            </a:pPr>
            <a:r>
              <a:rPr lang="es-ES" sz="1600" noProof="0" dirty="0">
                <a:solidFill>
                  <a:schemeClr val="bg1">
                    <a:lumMod val="8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2: recompensa dispersa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bg1">
                    <a:lumMod val="8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3: acción stop 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bg1">
                    <a:lumMod val="8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4: información temporal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bg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Demostración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bg1">
                    <a:lumMod val="8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Conclusiones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bg1">
                    <a:lumMod val="8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Líneas futuras</a:t>
            </a:r>
          </a:p>
        </p:txBody>
      </p:sp>
    </p:spTree>
    <p:extLst>
      <p:ext uri="{BB962C8B-B14F-4D97-AF65-F5344CB8AC3E}">
        <p14:creationId xmlns:p14="http://schemas.microsoft.com/office/powerpoint/2010/main" val="347565718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68AB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573491" y="0"/>
            <a:ext cx="8714509" cy="10287000"/>
            <a:chOff x="0" y="0"/>
            <a:chExt cx="2576410" cy="325544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576410" cy="3255440"/>
            </a:xfrm>
            <a:custGeom>
              <a:avLst/>
              <a:gdLst/>
              <a:ahLst/>
              <a:cxnLst/>
              <a:rect l="l" t="t" r="r" b="b"/>
              <a:pathLst>
                <a:path w="2576410" h="3255440">
                  <a:moveTo>
                    <a:pt x="0" y="0"/>
                  </a:moveTo>
                  <a:lnTo>
                    <a:pt x="2576410" y="0"/>
                  </a:lnTo>
                  <a:lnTo>
                    <a:pt x="2576410" y="3255440"/>
                  </a:lnTo>
                  <a:lnTo>
                    <a:pt x="0" y="325544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 noProof="0" dirty="0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2576410" cy="329354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 lang="es-ES" noProof="0" dirty="0"/>
            </a:p>
          </p:txBody>
        </p:sp>
      </p:grpSp>
      <p:sp>
        <p:nvSpPr>
          <p:cNvPr id="5" name="Freeform 5"/>
          <p:cNvSpPr/>
          <p:nvPr/>
        </p:nvSpPr>
        <p:spPr>
          <a:xfrm rot="5400000">
            <a:off x="3971925" y="4675909"/>
            <a:ext cx="10287000" cy="935182"/>
          </a:xfrm>
          <a:custGeom>
            <a:avLst/>
            <a:gdLst/>
            <a:ahLst/>
            <a:cxnLst/>
            <a:rect l="l" t="t" r="r" b="b"/>
            <a:pathLst>
              <a:path w="10287000" h="935182">
                <a:moveTo>
                  <a:pt x="0" y="0"/>
                </a:moveTo>
                <a:lnTo>
                  <a:pt x="10287000" y="0"/>
                </a:lnTo>
                <a:lnTo>
                  <a:pt x="10287000" y="935182"/>
                </a:lnTo>
                <a:lnTo>
                  <a:pt x="0" y="93518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ES" noProof="0" dirty="0"/>
          </a:p>
        </p:txBody>
      </p:sp>
      <p:sp>
        <p:nvSpPr>
          <p:cNvPr id="6" name="TextBox 6"/>
          <p:cNvSpPr txBox="1"/>
          <p:nvPr/>
        </p:nvSpPr>
        <p:spPr>
          <a:xfrm>
            <a:off x="3710312" y="4277879"/>
            <a:ext cx="3955526" cy="37089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60"/>
              </a:lnSpc>
              <a:spcBef>
                <a:spcPct val="0"/>
              </a:spcBef>
            </a:pPr>
            <a:r>
              <a:rPr lang="es-ES" sz="3043" noProof="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Lorem </a:t>
            </a:r>
            <a:r>
              <a:rPr lang="es-ES" sz="3043" noProof="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ipsum</a:t>
            </a:r>
            <a:r>
              <a:rPr lang="es-ES" sz="3043" noProof="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dolor </a:t>
            </a:r>
            <a:r>
              <a:rPr lang="es-ES" sz="3043" noProof="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sit</a:t>
            </a:r>
            <a:r>
              <a:rPr lang="es-ES" sz="3043" noProof="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s-ES" sz="3043" noProof="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amet</a:t>
            </a:r>
            <a:r>
              <a:rPr lang="es-ES" sz="3043" noProof="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s-ES" sz="3043" noProof="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consectetur</a:t>
            </a:r>
            <a:r>
              <a:rPr lang="es-ES" sz="3043" noProof="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s-ES" sz="3043" noProof="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adipiscing</a:t>
            </a:r>
            <a:r>
              <a:rPr lang="es-ES" sz="3043" noProof="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s-ES" sz="3043" noProof="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elit</a:t>
            </a:r>
            <a:r>
              <a:rPr lang="es-ES" sz="3043" noProof="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s-ES" sz="3043" noProof="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diam</a:t>
            </a:r>
            <a:r>
              <a:rPr lang="es-ES" sz="3043" noProof="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s-ES" sz="3043" noProof="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netus</a:t>
            </a:r>
            <a:r>
              <a:rPr lang="es-ES" sz="3043" noProof="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s-ES" sz="3043" noProof="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nulla</a:t>
            </a:r>
            <a:r>
              <a:rPr lang="es-ES" sz="3043" noProof="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s-ES" sz="3043" noProof="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dis</a:t>
            </a:r>
            <a:r>
              <a:rPr lang="es-ES" sz="3043" noProof="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, non magna in </a:t>
            </a:r>
            <a:r>
              <a:rPr lang="es-ES" sz="3043" noProof="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fermentum</a:t>
            </a:r>
            <a:r>
              <a:rPr lang="es-ES" sz="3043" noProof="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s-ES" sz="3043" noProof="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faucibus</a:t>
            </a:r>
            <a:r>
              <a:rPr lang="es-ES" sz="3043" noProof="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s-ES" sz="3043" noProof="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iaculis</a:t>
            </a:r>
            <a:r>
              <a:rPr lang="es-ES" sz="3043" noProof="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s-ES" sz="3043" noProof="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sociosqu</a:t>
            </a:r>
            <a:r>
              <a:rPr lang="es-ES" sz="3043" noProof="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s-ES" sz="3043" noProof="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hac</a:t>
            </a:r>
            <a:r>
              <a:rPr lang="es-ES" sz="3043" noProof="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per.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4046555" y="3230384"/>
            <a:ext cx="3283039" cy="5125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60"/>
              </a:lnSpc>
              <a:spcBef>
                <a:spcPct val="0"/>
              </a:spcBef>
            </a:pPr>
            <a:r>
              <a:rPr lang="es-ES" sz="3043" b="1" noProof="0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HIPÓTESIS A</a:t>
            </a:r>
          </a:p>
        </p:txBody>
      </p:sp>
      <p:grpSp>
        <p:nvGrpSpPr>
          <p:cNvPr id="8" name="Group 8"/>
          <p:cNvGrpSpPr/>
          <p:nvPr/>
        </p:nvGrpSpPr>
        <p:grpSpPr>
          <a:xfrm>
            <a:off x="3672391" y="2311392"/>
            <a:ext cx="4995493" cy="5943600"/>
            <a:chOff x="0" y="0"/>
            <a:chExt cx="1113050" cy="1013437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113050" cy="1013437"/>
            </a:xfrm>
            <a:custGeom>
              <a:avLst/>
              <a:gdLst/>
              <a:ahLst/>
              <a:cxnLst/>
              <a:rect l="l" t="t" r="r" b="b"/>
              <a:pathLst>
                <a:path w="1113050" h="1013437">
                  <a:moveTo>
                    <a:pt x="0" y="0"/>
                  </a:moveTo>
                  <a:lnTo>
                    <a:pt x="1113050" y="0"/>
                  </a:lnTo>
                  <a:lnTo>
                    <a:pt x="1113050" y="1013437"/>
                  </a:lnTo>
                  <a:lnTo>
                    <a:pt x="0" y="1013437"/>
                  </a:lnTo>
                  <a:close/>
                </a:path>
              </a:pathLst>
            </a:custGeom>
            <a:blipFill>
              <a:blip r:embed="rId3"/>
              <a:stretch>
                <a:fillRect l="-18287" r="-18287"/>
              </a:stretch>
            </a:blipFill>
          </p:spPr>
          <p:txBody>
            <a:bodyPr/>
            <a:lstStyle/>
            <a:p>
              <a:endParaRPr lang="es-ES" noProof="0" dirty="0"/>
            </a:p>
          </p:txBody>
        </p:sp>
      </p:grpSp>
      <p:sp>
        <p:nvSpPr>
          <p:cNvPr id="10" name="AutoShape 10"/>
          <p:cNvSpPr/>
          <p:nvPr/>
        </p:nvSpPr>
        <p:spPr>
          <a:xfrm>
            <a:off x="10767060" y="1531875"/>
            <a:ext cx="649224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s-ES" noProof="0" dirty="0"/>
          </a:p>
        </p:txBody>
      </p:sp>
      <p:sp>
        <p:nvSpPr>
          <p:cNvPr id="11" name="TextBox 11"/>
          <p:cNvSpPr txBox="1"/>
          <p:nvPr/>
        </p:nvSpPr>
        <p:spPr>
          <a:xfrm>
            <a:off x="10915523" y="4634713"/>
            <a:ext cx="5456316" cy="37481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001"/>
              </a:lnSpc>
              <a:spcBef>
                <a:spcPct val="0"/>
              </a:spcBef>
            </a:pPr>
            <a:r>
              <a:rPr lang="es-ES" sz="4286" noProof="0" dirty="0">
                <a:solidFill>
                  <a:srgbClr val="1A2161"/>
                </a:solidFill>
                <a:latin typeface="Open Sans"/>
                <a:ea typeface="Open Sans"/>
                <a:cs typeface="Open Sans"/>
                <a:sym typeface="Open Sans"/>
              </a:rPr>
              <a:t>del tiempo en un proyecto creativo se dedica a la fase de exploración e ideación.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871423" y="1203152"/>
            <a:ext cx="7184389" cy="8506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>
              <a:lnSpc>
                <a:spcPts val="6471"/>
              </a:lnSpc>
              <a:spcBef>
                <a:spcPct val="0"/>
              </a:spcBef>
            </a:pPr>
            <a:r>
              <a:rPr lang="es-ES" sz="7034" dirty="0">
                <a:solidFill>
                  <a:srgbClr val="FFFFF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11</a:t>
            </a:r>
            <a:r>
              <a:rPr lang="es-ES" sz="7034" u="none" strike="noStrike" noProof="0" dirty="0">
                <a:solidFill>
                  <a:srgbClr val="FFFFF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. </a:t>
            </a:r>
            <a:r>
              <a:rPr lang="es-ES" sz="7034" dirty="0">
                <a:solidFill>
                  <a:srgbClr val="FFFFF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Conclusiones</a:t>
            </a:r>
            <a:endParaRPr lang="es-ES" sz="7034" u="none" strike="noStrike" noProof="0" dirty="0">
              <a:solidFill>
                <a:srgbClr val="FFFFFF"/>
              </a:solidFill>
              <a:latin typeface="Roboto Condensed" panose="02000000000000000000" pitchFamily="2" charset="0"/>
              <a:ea typeface="Roboto Condensed" panose="02000000000000000000" pitchFamily="2" charset="0"/>
              <a:cs typeface="Playfair Display"/>
              <a:sym typeface="Playfair Display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10621241" y="1720764"/>
            <a:ext cx="5365615" cy="29996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941"/>
              </a:lnSpc>
              <a:spcBef>
                <a:spcPct val="0"/>
              </a:spcBef>
            </a:pPr>
            <a:r>
              <a:rPr lang="es-ES" sz="17815" b="1" noProof="0" dirty="0">
                <a:solidFill>
                  <a:srgbClr val="1A2161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30%</a:t>
            </a:r>
          </a:p>
        </p:txBody>
      </p:sp>
      <p:sp>
        <p:nvSpPr>
          <p:cNvPr id="15" name="TextBox 9">
            <a:extLst>
              <a:ext uri="{FF2B5EF4-FFF2-40B4-BE49-F238E27FC236}">
                <a16:creationId xmlns:a16="http://schemas.microsoft.com/office/drawing/2014/main" id="{95E421C1-742F-E218-ACBC-5307D8AEBF75}"/>
              </a:ext>
            </a:extLst>
          </p:cNvPr>
          <p:cNvSpPr txBox="1"/>
          <p:nvPr/>
        </p:nvSpPr>
        <p:spPr>
          <a:xfrm>
            <a:off x="172010" y="7753997"/>
            <a:ext cx="3574219" cy="217495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939494" lvl="1" indent="-469747" algn="l">
              <a:lnSpc>
                <a:spcPct val="150000"/>
              </a:lnSpc>
              <a:buFont typeface="+mj-lt"/>
              <a:buAutoNum type="arabicPeriod" startAt="7"/>
            </a:pPr>
            <a:r>
              <a:rPr lang="es-ES" sz="1600" noProof="0" dirty="0">
                <a:solidFill>
                  <a:schemeClr val="bg1">
                    <a:lumMod val="8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2: recompensa dispersa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bg1">
                    <a:lumMod val="8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3: acción stop 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bg1">
                    <a:lumMod val="8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4: información temporal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bg1">
                    <a:lumMod val="8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Demostración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bg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Conclusiones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bg1">
                    <a:lumMod val="85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Líneas futuras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68AB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5400000">
            <a:off x="5010150" y="4675909"/>
            <a:ext cx="10287000" cy="935182"/>
          </a:xfrm>
          <a:custGeom>
            <a:avLst/>
            <a:gdLst/>
            <a:ahLst/>
            <a:cxnLst/>
            <a:rect l="l" t="t" r="r" b="b"/>
            <a:pathLst>
              <a:path w="10287000" h="935182">
                <a:moveTo>
                  <a:pt x="0" y="0"/>
                </a:moveTo>
                <a:lnTo>
                  <a:pt x="10287000" y="0"/>
                </a:lnTo>
                <a:lnTo>
                  <a:pt x="10287000" y="935182"/>
                </a:lnTo>
                <a:lnTo>
                  <a:pt x="0" y="93518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ES" noProof="0" dirty="0"/>
          </a:p>
        </p:txBody>
      </p:sp>
      <p:grpSp>
        <p:nvGrpSpPr>
          <p:cNvPr id="3" name="Group 3"/>
          <p:cNvGrpSpPr/>
          <p:nvPr/>
        </p:nvGrpSpPr>
        <p:grpSpPr>
          <a:xfrm>
            <a:off x="0" y="0"/>
            <a:ext cx="9782308" cy="10287000"/>
            <a:chOff x="0" y="0"/>
            <a:chExt cx="2576410" cy="325544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576410" cy="3255440"/>
            </a:xfrm>
            <a:custGeom>
              <a:avLst/>
              <a:gdLst/>
              <a:ahLst/>
              <a:cxnLst/>
              <a:rect l="l" t="t" r="r" b="b"/>
              <a:pathLst>
                <a:path w="2576410" h="3255440">
                  <a:moveTo>
                    <a:pt x="0" y="0"/>
                  </a:moveTo>
                  <a:lnTo>
                    <a:pt x="2576410" y="0"/>
                  </a:lnTo>
                  <a:lnTo>
                    <a:pt x="2576410" y="3255440"/>
                  </a:lnTo>
                  <a:lnTo>
                    <a:pt x="0" y="325544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 noProof="0" dirty="0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2576410" cy="329354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 lang="es-ES" noProof="0" dirty="0"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4760862" y="2696707"/>
            <a:ext cx="3955526" cy="3822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60"/>
              </a:lnSpc>
              <a:spcBef>
                <a:spcPct val="0"/>
              </a:spcBef>
            </a:pPr>
            <a:r>
              <a:rPr lang="es-ES" sz="3043" noProof="0" dirty="0">
                <a:solidFill>
                  <a:schemeClr val="tx2"/>
                </a:solidFill>
                <a:latin typeface="Open Sans"/>
                <a:ea typeface="Open Sans"/>
                <a:cs typeface="Open Sans"/>
                <a:sym typeface="Open Sans"/>
              </a:rPr>
              <a:t>Lorem </a:t>
            </a:r>
            <a:r>
              <a:rPr lang="es-ES" sz="3043" noProof="0" dirty="0" err="1">
                <a:solidFill>
                  <a:schemeClr val="tx2"/>
                </a:solidFill>
                <a:latin typeface="Open Sans"/>
                <a:ea typeface="Open Sans"/>
                <a:cs typeface="Open Sans"/>
                <a:sym typeface="Open Sans"/>
              </a:rPr>
              <a:t>ipsum</a:t>
            </a:r>
            <a:r>
              <a:rPr lang="es-ES" sz="3043" noProof="0" dirty="0">
                <a:solidFill>
                  <a:schemeClr val="tx2"/>
                </a:solidFill>
                <a:latin typeface="Open Sans"/>
                <a:ea typeface="Open Sans"/>
                <a:cs typeface="Open Sans"/>
                <a:sym typeface="Open Sans"/>
              </a:rPr>
              <a:t> dolor </a:t>
            </a:r>
            <a:r>
              <a:rPr lang="es-ES" sz="3043" noProof="0" dirty="0" err="1">
                <a:solidFill>
                  <a:schemeClr val="tx2"/>
                </a:solidFill>
                <a:latin typeface="Open Sans"/>
                <a:ea typeface="Open Sans"/>
                <a:cs typeface="Open Sans"/>
                <a:sym typeface="Open Sans"/>
              </a:rPr>
              <a:t>sit</a:t>
            </a:r>
            <a:r>
              <a:rPr lang="es-ES" sz="3043" noProof="0" dirty="0">
                <a:solidFill>
                  <a:schemeClr val="tx2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s-ES" sz="3043" noProof="0" dirty="0" err="1">
                <a:solidFill>
                  <a:schemeClr val="tx2"/>
                </a:solidFill>
                <a:latin typeface="Open Sans"/>
                <a:ea typeface="Open Sans"/>
                <a:cs typeface="Open Sans"/>
                <a:sym typeface="Open Sans"/>
              </a:rPr>
              <a:t>amet</a:t>
            </a:r>
            <a:r>
              <a:rPr lang="es-ES" sz="3043" noProof="0" dirty="0">
                <a:solidFill>
                  <a:schemeClr val="tx2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s-ES" sz="3043" noProof="0" dirty="0" err="1">
                <a:solidFill>
                  <a:schemeClr val="tx2"/>
                </a:solidFill>
                <a:latin typeface="Open Sans"/>
                <a:ea typeface="Open Sans"/>
                <a:cs typeface="Open Sans"/>
                <a:sym typeface="Open Sans"/>
              </a:rPr>
              <a:t>consectetur</a:t>
            </a:r>
            <a:r>
              <a:rPr lang="es-ES" sz="3043" noProof="0" dirty="0">
                <a:solidFill>
                  <a:schemeClr val="tx2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s-ES" sz="3043" noProof="0" dirty="0" err="1">
                <a:solidFill>
                  <a:schemeClr val="tx2"/>
                </a:solidFill>
                <a:latin typeface="Open Sans"/>
                <a:ea typeface="Open Sans"/>
                <a:cs typeface="Open Sans"/>
                <a:sym typeface="Open Sans"/>
              </a:rPr>
              <a:t>adipiscing</a:t>
            </a:r>
            <a:r>
              <a:rPr lang="es-ES" sz="3043" noProof="0" dirty="0">
                <a:solidFill>
                  <a:schemeClr val="tx2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s-ES" sz="3043" noProof="0" dirty="0" err="1">
                <a:solidFill>
                  <a:schemeClr val="tx2"/>
                </a:solidFill>
                <a:latin typeface="Open Sans"/>
                <a:ea typeface="Open Sans"/>
                <a:cs typeface="Open Sans"/>
                <a:sym typeface="Open Sans"/>
              </a:rPr>
              <a:t>elit</a:t>
            </a:r>
            <a:r>
              <a:rPr lang="es-ES" sz="3043" noProof="0" dirty="0">
                <a:solidFill>
                  <a:schemeClr val="tx2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s-ES" sz="3043" noProof="0" dirty="0" err="1">
                <a:solidFill>
                  <a:schemeClr val="tx2"/>
                </a:solidFill>
                <a:latin typeface="Open Sans"/>
                <a:ea typeface="Open Sans"/>
                <a:cs typeface="Open Sans"/>
                <a:sym typeface="Open Sans"/>
              </a:rPr>
              <a:t>diam</a:t>
            </a:r>
            <a:r>
              <a:rPr lang="es-ES" sz="3043" noProof="0" dirty="0">
                <a:solidFill>
                  <a:schemeClr val="tx2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s-ES" sz="3043" noProof="0" dirty="0" err="1">
                <a:solidFill>
                  <a:schemeClr val="tx2"/>
                </a:solidFill>
                <a:latin typeface="Open Sans"/>
                <a:ea typeface="Open Sans"/>
                <a:cs typeface="Open Sans"/>
                <a:sym typeface="Open Sans"/>
              </a:rPr>
              <a:t>netus</a:t>
            </a:r>
            <a:r>
              <a:rPr lang="es-ES" sz="3043" noProof="0" dirty="0">
                <a:solidFill>
                  <a:schemeClr val="tx2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s-ES" sz="3043" noProof="0" dirty="0" err="1">
                <a:solidFill>
                  <a:schemeClr val="tx2"/>
                </a:solidFill>
                <a:latin typeface="Open Sans"/>
                <a:ea typeface="Open Sans"/>
                <a:cs typeface="Open Sans"/>
                <a:sym typeface="Open Sans"/>
              </a:rPr>
              <a:t>nulla</a:t>
            </a:r>
            <a:r>
              <a:rPr lang="es-ES" sz="3043" noProof="0" dirty="0">
                <a:solidFill>
                  <a:schemeClr val="tx2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s-ES" sz="3043" noProof="0" dirty="0" err="1">
                <a:solidFill>
                  <a:schemeClr val="tx2"/>
                </a:solidFill>
                <a:latin typeface="Open Sans"/>
                <a:ea typeface="Open Sans"/>
                <a:cs typeface="Open Sans"/>
                <a:sym typeface="Open Sans"/>
              </a:rPr>
              <a:t>dis</a:t>
            </a:r>
            <a:r>
              <a:rPr lang="es-ES" sz="3043" noProof="0" dirty="0">
                <a:solidFill>
                  <a:schemeClr val="tx2"/>
                </a:solidFill>
                <a:latin typeface="Open Sans"/>
                <a:ea typeface="Open Sans"/>
                <a:cs typeface="Open Sans"/>
                <a:sym typeface="Open Sans"/>
              </a:rPr>
              <a:t>, non magna in </a:t>
            </a:r>
            <a:r>
              <a:rPr lang="es-ES" sz="3043" noProof="0" dirty="0" err="1">
                <a:solidFill>
                  <a:schemeClr val="tx2"/>
                </a:solidFill>
                <a:latin typeface="Open Sans"/>
                <a:ea typeface="Open Sans"/>
                <a:cs typeface="Open Sans"/>
                <a:sym typeface="Open Sans"/>
              </a:rPr>
              <a:t>fermentum</a:t>
            </a:r>
            <a:r>
              <a:rPr lang="es-ES" sz="3043" noProof="0" dirty="0">
                <a:solidFill>
                  <a:schemeClr val="tx2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s-ES" sz="3043" noProof="0" dirty="0" err="1">
                <a:solidFill>
                  <a:schemeClr val="tx2"/>
                </a:solidFill>
                <a:latin typeface="Open Sans"/>
                <a:ea typeface="Open Sans"/>
                <a:cs typeface="Open Sans"/>
                <a:sym typeface="Open Sans"/>
              </a:rPr>
              <a:t>faucibus</a:t>
            </a:r>
            <a:r>
              <a:rPr lang="es-ES" sz="3043" noProof="0" dirty="0">
                <a:solidFill>
                  <a:schemeClr val="tx2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s-ES" sz="3043" noProof="0" dirty="0" err="1">
                <a:solidFill>
                  <a:schemeClr val="tx2"/>
                </a:solidFill>
                <a:latin typeface="Open Sans"/>
                <a:ea typeface="Open Sans"/>
                <a:cs typeface="Open Sans"/>
                <a:sym typeface="Open Sans"/>
              </a:rPr>
              <a:t>iaculis</a:t>
            </a:r>
            <a:r>
              <a:rPr lang="es-ES" sz="3043" noProof="0" dirty="0">
                <a:solidFill>
                  <a:schemeClr val="tx2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s-ES" sz="3043" noProof="0" dirty="0" err="1">
                <a:solidFill>
                  <a:schemeClr val="tx2"/>
                </a:solidFill>
                <a:latin typeface="Open Sans"/>
                <a:ea typeface="Open Sans"/>
                <a:cs typeface="Open Sans"/>
                <a:sym typeface="Open Sans"/>
              </a:rPr>
              <a:t>sociosqu</a:t>
            </a:r>
            <a:r>
              <a:rPr lang="es-ES" sz="3043" noProof="0" dirty="0">
                <a:solidFill>
                  <a:schemeClr val="tx2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s-ES" sz="3043" noProof="0" dirty="0" err="1">
                <a:solidFill>
                  <a:schemeClr val="tx2"/>
                </a:solidFill>
                <a:latin typeface="Open Sans"/>
                <a:ea typeface="Open Sans"/>
                <a:cs typeface="Open Sans"/>
                <a:sym typeface="Open Sans"/>
              </a:rPr>
              <a:t>hac</a:t>
            </a:r>
            <a:r>
              <a:rPr lang="es-ES" sz="3043" noProof="0" dirty="0">
                <a:solidFill>
                  <a:schemeClr val="tx2"/>
                </a:solidFill>
                <a:latin typeface="Open Sans"/>
                <a:ea typeface="Open Sans"/>
                <a:cs typeface="Open Sans"/>
                <a:sym typeface="Open Sans"/>
              </a:rPr>
              <a:t> per.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002959" y="2237944"/>
            <a:ext cx="3283039" cy="5125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60"/>
              </a:lnSpc>
              <a:spcBef>
                <a:spcPct val="0"/>
              </a:spcBef>
            </a:pPr>
            <a:r>
              <a:rPr lang="es-ES" sz="3043" b="1" noProof="0" dirty="0">
                <a:solidFill>
                  <a:schemeClr val="tx2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HIPÓTESIS A</a:t>
            </a:r>
          </a:p>
        </p:txBody>
      </p:sp>
      <p:grpSp>
        <p:nvGrpSpPr>
          <p:cNvPr id="8" name="Group 8"/>
          <p:cNvGrpSpPr/>
          <p:nvPr/>
        </p:nvGrpSpPr>
        <p:grpSpPr>
          <a:xfrm>
            <a:off x="5715000" y="2716878"/>
            <a:ext cx="2498089" cy="3827157"/>
            <a:chOff x="0" y="0"/>
            <a:chExt cx="1113050" cy="1013437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113050" cy="1013437"/>
            </a:xfrm>
            <a:custGeom>
              <a:avLst/>
              <a:gdLst/>
              <a:ahLst/>
              <a:cxnLst/>
              <a:rect l="l" t="t" r="r" b="b"/>
              <a:pathLst>
                <a:path w="1113050" h="1013437">
                  <a:moveTo>
                    <a:pt x="0" y="0"/>
                  </a:moveTo>
                  <a:lnTo>
                    <a:pt x="1113050" y="0"/>
                  </a:lnTo>
                  <a:lnTo>
                    <a:pt x="1113050" y="1013437"/>
                  </a:lnTo>
                  <a:lnTo>
                    <a:pt x="0" y="1013437"/>
                  </a:lnTo>
                  <a:close/>
                </a:path>
              </a:pathLst>
            </a:custGeom>
            <a:blipFill>
              <a:blip r:embed="rId3"/>
              <a:stretch>
                <a:fillRect l="-18599" r="-18599"/>
              </a:stretch>
            </a:blipFill>
          </p:spPr>
          <p:txBody>
            <a:bodyPr/>
            <a:lstStyle/>
            <a:p>
              <a:endParaRPr lang="es-ES" noProof="0" dirty="0"/>
            </a:p>
          </p:txBody>
        </p:sp>
      </p:grpSp>
      <p:sp>
        <p:nvSpPr>
          <p:cNvPr id="10" name="AutoShape 10"/>
          <p:cNvSpPr/>
          <p:nvPr/>
        </p:nvSpPr>
        <p:spPr>
          <a:xfrm>
            <a:off x="10767060" y="1531875"/>
            <a:ext cx="6492240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s-ES" noProof="0" dirty="0"/>
          </a:p>
        </p:txBody>
      </p:sp>
      <p:sp>
        <p:nvSpPr>
          <p:cNvPr id="11" name="TextBox 11"/>
          <p:cNvSpPr txBox="1"/>
          <p:nvPr/>
        </p:nvSpPr>
        <p:spPr>
          <a:xfrm>
            <a:off x="1099928" y="876260"/>
            <a:ext cx="6612922" cy="11540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626"/>
              </a:lnSpc>
            </a:pPr>
            <a:r>
              <a:rPr lang="es-ES" sz="7030" dirty="0">
                <a:solidFill>
                  <a:srgbClr val="1A216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12</a:t>
            </a:r>
            <a:r>
              <a:rPr lang="es-ES" sz="7030" noProof="0" dirty="0">
                <a:solidFill>
                  <a:srgbClr val="1A216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. Líneas futuras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0621241" y="1720764"/>
            <a:ext cx="5365615" cy="29996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941"/>
              </a:lnSpc>
              <a:spcBef>
                <a:spcPct val="0"/>
              </a:spcBef>
            </a:pPr>
            <a:r>
              <a:rPr lang="es-ES" sz="17815" b="1" noProof="0" dirty="0">
                <a:solidFill>
                  <a:srgbClr val="1A2161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17%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1133842" y="4634713"/>
            <a:ext cx="5456316" cy="37481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001"/>
              </a:lnSpc>
              <a:spcBef>
                <a:spcPct val="0"/>
              </a:spcBef>
            </a:pPr>
            <a:r>
              <a:rPr lang="es-ES" sz="4286" noProof="0" dirty="0">
                <a:solidFill>
                  <a:srgbClr val="1A2161"/>
                </a:solidFill>
                <a:latin typeface="Open Sans"/>
                <a:ea typeface="Open Sans"/>
                <a:cs typeface="Open Sans"/>
                <a:sym typeface="Open Sans"/>
              </a:rPr>
              <a:t>de las ideas generadas en una sesión creativa llegan a convertirse en un proyecto real</a:t>
            </a:r>
          </a:p>
        </p:txBody>
      </p:sp>
      <p:sp>
        <p:nvSpPr>
          <p:cNvPr id="15" name="TextBox 9">
            <a:extLst>
              <a:ext uri="{FF2B5EF4-FFF2-40B4-BE49-F238E27FC236}">
                <a16:creationId xmlns:a16="http://schemas.microsoft.com/office/drawing/2014/main" id="{F256A27D-0466-32A4-84E0-2EE8E666975A}"/>
              </a:ext>
            </a:extLst>
          </p:cNvPr>
          <p:cNvSpPr txBox="1"/>
          <p:nvPr/>
        </p:nvSpPr>
        <p:spPr>
          <a:xfrm>
            <a:off x="172010" y="7753997"/>
            <a:ext cx="3574219" cy="217495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939494" lvl="1" indent="-469747" algn="l">
              <a:lnSpc>
                <a:spcPct val="150000"/>
              </a:lnSpc>
              <a:buFont typeface="+mj-lt"/>
              <a:buAutoNum type="arabicPeriod" startAt="7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2: recompensa dispersa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3: acción stop 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 4: información temporal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Demostración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tx2">
                    <a:lumMod val="40000"/>
                    <a:lumOff val="6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Conclusiones</a:t>
            </a:r>
          </a:p>
          <a:p>
            <a:pPr marL="939494" lvl="1" indent="-469747" algn="l">
              <a:lnSpc>
                <a:spcPct val="150000"/>
              </a:lnSpc>
              <a:buAutoNum type="arabicPeriod" startAt="7"/>
            </a:pPr>
            <a:r>
              <a:rPr lang="es-ES" sz="1600" noProof="0" dirty="0">
                <a:solidFill>
                  <a:schemeClr val="tx2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Líneas futuras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0800000">
            <a:off x="0" y="1420722"/>
            <a:ext cx="18288000" cy="1662545"/>
          </a:xfrm>
          <a:custGeom>
            <a:avLst/>
            <a:gdLst/>
            <a:ahLst/>
            <a:cxnLst/>
            <a:rect l="l" t="t" r="r" b="b"/>
            <a:pathLst>
              <a:path w="18288000" h="1662545">
                <a:moveTo>
                  <a:pt x="0" y="0"/>
                </a:moveTo>
                <a:lnTo>
                  <a:pt x="18288000" y="0"/>
                </a:lnTo>
                <a:lnTo>
                  <a:pt x="18288000" y="1662545"/>
                </a:lnTo>
                <a:lnTo>
                  <a:pt x="0" y="166254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ES" noProof="0" dirty="0"/>
          </a:p>
        </p:txBody>
      </p:sp>
      <p:sp>
        <p:nvSpPr>
          <p:cNvPr id="3" name="Freeform 3"/>
          <p:cNvSpPr/>
          <p:nvPr/>
        </p:nvSpPr>
        <p:spPr>
          <a:xfrm>
            <a:off x="-63422" y="7801886"/>
            <a:ext cx="18288000" cy="1662545"/>
          </a:xfrm>
          <a:custGeom>
            <a:avLst/>
            <a:gdLst/>
            <a:ahLst/>
            <a:cxnLst/>
            <a:rect l="l" t="t" r="r" b="b"/>
            <a:pathLst>
              <a:path w="18288000" h="1662545">
                <a:moveTo>
                  <a:pt x="0" y="0"/>
                </a:moveTo>
                <a:lnTo>
                  <a:pt x="18288000" y="0"/>
                </a:lnTo>
                <a:lnTo>
                  <a:pt x="18288000" y="1662546"/>
                </a:lnTo>
                <a:lnTo>
                  <a:pt x="0" y="166254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ES" noProof="0" dirty="0"/>
          </a:p>
        </p:txBody>
      </p:sp>
      <p:grpSp>
        <p:nvGrpSpPr>
          <p:cNvPr id="4" name="Group 4"/>
          <p:cNvGrpSpPr/>
          <p:nvPr/>
        </p:nvGrpSpPr>
        <p:grpSpPr>
          <a:xfrm>
            <a:off x="-63422" y="2561029"/>
            <a:ext cx="18351422" cy="5684517"/>
            <a:chOff x="0" y="0"/>
            <a:chExt cx="5186228" cy="1497157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5186228" cy="1497157"/>
            </a:xfrm>
            <a:custGeom>
              <a:avLst/>
              <a:gdLst/>
              <a:ahLst/>
              <a:cxnLst/>
              <a:rect l="l" t="t" r="r" b="b"/>
              <a:pathLst>
                <a:path w="5186228" h="1497157">
                  <a:moveTo>
                    <a:pt x="0" y="0"/>
                  </a:moveTo>
                  <a:lnTo>
                    <a:pt x="5186228" y="0"/>
                  </a:lnTo>
                  <a:lnTo>
                    <a:pt x="5186228" y="1497157"/>
                  </a:lnTo>
                  <a:lnTo>
                    <a:pt x="0" y="1497157"/>
                  </a:lnTo>
                  <a:close/>
                </a:path>
              </a:pathLst>
            </a:custGeom>
            <a:solidFill>
              <a:srgbClr val="4F83B3"/>
            </a:solidFill>
          </p:spPr>
          <p:txBody>
            <a:bodyPr/>
            <a:lstStyle/>
            <a:p>
              <a:endParaRPr lang="es-ES" noProof="0" dirty="0"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-38100"/>
              <a:ext cx="5186228" cy="153525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 lang="es-ES" noProof="0" dirty="0"/>
            </a:p>
          </p:txBody>
        </p:sp>
      </p:grpSp>
      <p:sp>
        <p:nvSpPr>
          <p:cNvPr id="7" name="TextBox 7"/>
          <p:cNvSpPr txBox="1"/>
          <p:nvPr/>
        </p:nvSpPr>
        <p:spPr>
          <a:xfrm>
            <a:off x="1510677" y="4082206"/>
            <a:ext cx="15266646" cy="19877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23"/>
              </a:lnSpc>
            </a:pPr>
            <a:r>
              <a:rPr lang="es-ES" sz="14000" noProof="0" dirty="0">
                <a:solidFill>
                  <a:srgbClr val="FFFFF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 Bold"/>
                <a:sym typeface="Playfair Display Bold"/>
              </a:rPr>
              <a:t>Muchas gracias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6138472" y="6515940"/>
            <a:ext cx="6011057" cy="5641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320"/>
              </a:lnSpc>
            </a:pPr>
            <a:r>
              <a:rPr lang="es-ES" sz="4696" noProof="0" dirty="0">
                <a:solidFill>
                  <a:srgbClr val="1A2161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Por su atención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F83B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6E9D1A4-5D68-5411-EF4D-415224C592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6646DA72-C272-CD28-1414-68ADA018CB95}"/>
              </a:ext>
            </a:extLst>
          </p:cNvPr>
          <p:cNvSpPr/>
          <p:nvPr/>
        </p:nvSpPr>
        <p:spPr>
          <a:xfrm>
            <a:off x="10767060" y="1047750"/>
            <a:ext cx="6492240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s-ES" noProof="0" dirty="0"/>
          </a:p>
        </p:txBody>
      </p:sp>
      <p:sp>
        <p:nvSpPr>
          <p:cNvPr id="3" name="TextBox 3">
            <a:extLst>
              <a:ext uri="{FF2B5EF4-FFF2-40B4-BE49-F238E27FC236}">
                <a16:creationId xmlns:a16="http://schemas.microsoft.com/office/drawing/2014/main" id="{1F61B59A-AA06-D9C8-1C72-9761F3152F67}"/>
              </a:ext>
            </a:extLst>
          </p:cNvPr>
          <p:cNvSpPr txBox="1"/>
          <p:nvPr/>
        </p:nvSpPr>
        <p:spPr>
          <a:xfrm>
            <a:off x="1858688" y="1595126"/>
            <a:ext cx="15667312" cy="440114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lang="es-ES" sz="6600" noProof="0" dirty="0">
                <a:solidFill>
                  <a:srgbClr val="FFFFF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APRENDIZAJE POR REFUERZO </a:t>
            </a:r>
          </a:p>
          <a:p>
            <a:pPr algn="r">
              <a:lnSpc>
                <a:spcPct val="150000"/>
              </a:lnSpc>
            </a:pPr>
            <a:r>
              <a:rPr lang="es-ES" sz="6600" noProof="0" dirty="0">
                <a:solidFill>
                  <a:srgbClr val="FFFFF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PARA EL CONTROL DE ALTO </a:t>
            </a:r>
          </a:p>
          <a:p>
            <a:pPr algn="r">
              <a:lnSpc>
                <a:spcPct val="150000"/>
              </a:lnSpc>
            </a:pPr>
            <a:r>
              <a:rPr lang="es-ES" sz="6600" noProof="0" dirty="0">
                <a:solidFill>
                  <a:srgbClr val="FFFFFF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NIVEL DE ROBOTS MÓVILES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FBE8DC5F-EEC2-56B0-B31B-E364BA1561F2}"/>
              </a:ext>
            </a:extLst>
          </p:cNvPr>
          <p:cNvSpPr txBox="1"/>
          <p:nvPr/>
        </p:nvSpPr>
        <p:spPr>
          <a:xfrm>
            <a:off x="6577852" y="7146633"/>
            <a:ext cx="10934701" cy="73244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5563"/>
              </a:lnSpc>
            </a:pPr>
            <a:r>
              <a:rPr lang="es-ES" sz="6047" noProof="0" dirty="0">
                <a:solidFill>
                  <a:schemeClr val="tx2">
                    <a:lumMod val="5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Por David Solero Chicano</a:t>
            </a:r>
          </a:p>
        </p:txBody>
      </p:sp>
      <p:grpSp>
        <p:nvGrpSpPr>
          <p:cNvPr id="7" name="Group 7">
            <a:extLst>
              <a:ext uri="{FF2B5EF4-FFF2-40B4-BE49-F238E27FC236}">
                <a16:creationId xmlns:a16="http://schemas.microsoft.com/office/drawing/2014/main" id="{38D349B3-D5A0-7D00-0F6D-E6ED553C3D78}"/>
              </a:ext>
            </a:extLst>
          </p:cNvPr>
          <p:cNvGrpSpPr/>
          <p:nvPr/>
        </p:nvGrpSpPr>
        <p:grpSpPr>
          <a:xfrm rot="-5400000">
            <a:off x="-4214157" y="4214155"/>
            <a:ext cx="10287002" cy="1858688"/>
            <a:chOff x="0" y="0"/>
            <a:chExt cx="5186228" cy="997214"/>
          </a:xfrm>
        </p:grpSpPr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F6D58AB1-2375-0937-03FD-4B05251CBCA7}"/>
                </a:ext>
              </a:extLst>
            </p:cNvPr>
            <p:cNvSpPr/>
            <p:nvPr/>
          </p:nvSpPr>
          <p:spPr>
            <a:xfrm>
              <a:off x="0" y="0"/>
              <a:ext cx="5186228" cy="997214"/>
            </a:xfrm>
            <a:custGeom>
              <a:avLst/>
              <a:gdLst/>
              <a:ahLst/>
              <a:cxnLst/>
              <a:rect l="l" t="t" r="r" b="b"/>
              <a:pathLst>
                <a:path w="5186228" h="997214">
                  <a:moveTo>
                    <a:pt x="0" y="0"/>
                  </a:moveTo>
                  <a:lnTo>
                    <a:pt x="5186228" y="0"/>
                  </a:lnTo>
                  <a:lnTo>
                    <a:pt x="5186228" y="997214"/>
                  </a:lnTo>
                  <a:lnTo>
                    <a:pt x="0" y="997214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ES" noProof="0" dirty="0"/>
            </a:p>
          </p:txBody>
        </p:sp>
        <p:sp>
          <p:nvSpPr>
            <p:cNvPr id="9" name="TextBox 9">
              <a:extLst>
                <a:ext uri="{FF2B5EF4-FFF2-40B4-BE49-F238E27FC236}">
                  <a16:creationId xmlns:a16="http://schemas.microsoft.com/office/drawing/2014/main" id="{2A4177D0-0C4A-57B8-8A02-C0C009E838EE}"/>
                </a:ext>
              </a:extLst>
            </p:cNvPr>
            <p:cNvSpPr txBox="1"/>
            <p:nvPr/>
          </p:nvSpPr>
          <p:spPr>
            <a:xfrm>
              <a:off x="0" y="-38100"/>
              <a:ext cx="5186228" cy="103531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 lang="es-ES" noProof="0" dirty="0"/>
            </a:p>
          </p:txBody>
        </p:sp>
      </p:grpSp>
      <p:sp>
        <p:nvSpPr>
          <p:cNvPr id="10" name="Freeform 10">
            <a:extLst>
              <a:ext uri="{FF2B5EF4-FFF2-40B4-BE49-F238E27FC236}">
                <a16:creationId xmlns:a16="http://schemas.microsoft.com/office/drawing/2014/main" id="{196E5196-A73B-3363-9536-968FE7022AFB}"/>
              </a:ext>
            </a:extLst>
          </p:cNvPr>
          <p:cNvSpPr/>
          <p:nvPr/>
        </p:nvSpPr>
        <p:spPr>
          <a:xfrm rot="5400000">
            <a:off x="-3882315" y="4665083"/>
            <a:ext cx="10525172" cy="956834"/>
          </a:xfrm>
          <a:custGeom>
            <a:avLst/>
            <a:gdLst/>
            <a:ahLst/>
            <a:cxnLst/>
            <a:rect l="l" t="t" r="r" b="b"/>
            <a:pathLst>
              <a:path w="10525172" h="956834">
                <a:moveTo>
                  <a:pt x="0" y="0"/>
                </a:moveTo>
                <a:lnTo>
                  <a:pt x="10525172" y="0"/>
                </a:lnTo>
                <a:lnTo>
                  <a:pt x="10525172" y="956834"/>
                </a:lnTo>
                <a:lnTo>
                  <a:pt x="0" y="95683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ES" noProof="0" dirty="0"/>
          </a:p>
        </p:txBody>
      </p:sp>
      <p:sp>
        <p:nvSpPr>
          <p:cNvPr id="6" name="TextBox 4">
            <a:extLst>
              <a:ext uri="{FF2B5EF4-FFF2-40B4-BE49-F238E27FC236}">
                <a16:creationId xmlns:a16="http://schemas.microsoft.com/office/drawing/2014/main" id="{905C34ED-1F92-E68D-5138-0FB28176D74E}"/>
              </a:ext>
            </a:extLst>
          </p:cNvPr>
          <p:cNvSpPr txBox="1"/>
          <p:nvPr/>
        </p:nvSpPr>
        <p:spPr>
          <a:xfrm>
            <a:off x="-990600" y="528581"/>
            <a:ext cx="10934701" cy="73244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5563"/>
              </a:lnSpc>
            </a:pPr>
            <a:r>
              <a:rPr lang="es-ES" sz="4800" noProof="0" dirty="0">
                <a:solidFill>
                  <a:schemeClr val="tx2">
                    <a:lumMod val="5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Grado en Ingeniería informática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42D63B92-6563-66D5-1C17-98191BEA315D}"/>
              </a:ext>
            </a:extLst>
          </p:cNvPr>
          <p:cNvSpPr/>
          <p:nvPr/>
        </p:nvSpPr>
        <p:spPr>
          <a:xfrm>
            <a:off x="2396197" y="7962900"/>
            <a:ext cx="3242603" cy="1797776"/>
          </a:xfrm>
          <a:prstGeom prst="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11" name="Imagen 10" descr="SERVICIO DE COMUNICACIÓN - Marcas Oficiales - Universidad de Málaga">
            <a:extLst>
              <a:ext uri="{FF2B5EF4-FFF2-40B4-BE49-F238E27FC236}">
                <a16:creationId xmlns:a16="http://schemas.microsoft.com/office/drawing/2014/main" id="{395A38A6-57BA-EE7A-3007-A46B4A1CDF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3906" y="8306102"/>
            <a:ext cx="2907184" cy="1111371"/>
          </a:xfrm>
          <a:prstGeom prst="rect">
            <a:avLst/>
          </a:prstGeom>
        </p:spPr>
      </p:pic>
      <p:sp>
        <p:nvSpPr>
          <p:cNvPr id="13" name="TextBox 4">
            <a:extLst>
              <a:ext uri="{FF2B5EF4-FFF2-40B4-BE49-F238E27FC236}">
                <a16:creationId xmlns:a16="http://schemas.microsoft.com/office/drawing/2014/main" id="{CE0CCCB9-8481-D4E5-AD6A-669F7938EB61}"/>
              </a:ext>
            </a:extLst>
          </p:cNvPr>
          <p:cNvSpPr txBox="1"/>
          <p:nvPr/>
        </p:nvSpPr>
        <p:spPr>
          <a:xfrm>
            <a:off x="6591299" y="8381939"/>
            <a:ext cx="10934701" cy="143629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5563"/>
              </a:lnSpc>
            </a:pPr>
            <a:r>
              <a:rPr lang="es-ES" sz="4400" dirty="0">
                <a:solidFill>
                  <a:schemeClr val="tx2">
                    <a:lumMod val="5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Tutorizado por</a:t>
            </a:r>
            <a:r>
              <a:rPr lang="es-ES" sz="4400" noProof="0" dirty="0">
                <a:solidFill>
                  <a:schemeClr val="tx2">
                    <a:lumMod val="5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 Ana María Cruz Martín y </a:t>
            </a:r>
          </a:p>
          <a:p>
            <a:pPr algn="r">
              <a:lnSpc>
                <a:spcPts val="5563"/>
              </a:lnSpc>
            </a:pPr>
            <a:r>
              <a:rPr lang="es-ES" sz="4400" noProof="0" dirty="0">
                <a:solidFill>
                  <a:schemeClr val="tx2">
                    <a:lumMod val="50000"/>
                  </a:schemeClr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Playfair Display"/>
                <a:sym typeface="Playfair Display"/>
              </a:rPr>
              <a:t>Juan Antonio Fernández Madrigal  </a:t>
            </a:r>
          </a:p>
        </p:txBody>
      </p:sp>
    </p:spTree>
    <p:extLst>
      <p:ext uri="{BB962C8B-B14F-4D97-AF65-F5344CB8AC3E}">
        <p14:creationId xmlns:p14="http://schemas.microsoft.com/office/powerpoint/2010/main" val="24024944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300</TotalTime>
  <Words>648</Words>
  <Application>Microsoft Office PowerPoint</Application>
  <PresentationFormat>Personalizado</PresentationFormat>
  <Paragraphs>153</Paragraphs>
  <Slides>19</Slides>
  <Notes>4</Notes>
  <HiddenSlides>0</HiddenSlides>
  <MMClips>0</MMClips>
  <ScaleCrop>false</ScaleCrop>
  <HeadingPairs>
    <vt:vector size="6" baseType="variant">
      <vt:variant>
        <vt:lpstr>Fuentes usadas</vt:lpstr>
      </vt:variant>
      <vt:variant>
        <vt:i4>8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19</vt:i4>
      </vt:variant>
    </vt:vector>
  </HeadingPairs>
  <TitlesOfParts>
    <vt:vector size="28" baseType="lpstr">
      <vt:lpstr>Roboto Condensed</vt:lpstr>
      <vt:lpstr>Open Sans Bold</vt:lpstr>
      <vt:lpstr>Arial</vt:lpstr>
      <vt:lpstr>Open Sans Bold Italics</vt:lpstr>
      <vt:lpstr>Playfair Display</vt:lpstr>
      <vt:lpstr>Calibri</vt:lpstr>
      <vt:lpstr>Open Sans</vt:lpstr>
      <vt:lpstr>Aptos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Trabajo Final Tesis Profesional Moderna Sencilla Azul </dc:title>
  <cp:lastModifiedBy>David Solero Chicano</cp:lastModifiedBy>
  <cp:revision>26</cp:revision>
  <dcterms:created xsi:type="dcterms:W3CDTF">2006-08-16T00:00:00Z</dcterms:created>
  <dcterms:modified xsi:type="dcterms:W3CDTF">2026-06-23T17:26:11Z</dcterms:modified>
  <dc:identifier>DAHLam64Q-M</dc:identifier>
</cp:coreProperties>
</file>