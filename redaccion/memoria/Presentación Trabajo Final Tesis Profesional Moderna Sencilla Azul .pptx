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Open Sans" panose="020B0606030504020204" pitchFamily="34" charset="0"/>
      <p:regular r:id="rId17"/>
    </p:embeddedFont>
    <p:embeddedFont>
      <p:font typeface="Open Sans Bold" panose="020B0604020202020204" charset="0"/>
      <p:regular r:id="rId18"/>
    </p:embeddedFont>
    <p:embeddedFont>
      <p:font typeface="Open Sans Bold Italics" panose="020B0604020202020204" charset="0"/>
      <p:regular r:id="rId19"/>
    </p:embeddedFont>
    <p:embeddedFont>
      <p:font typeface="Playfair Display" panose="00000500000000000000" pitchFamily="2" charset="0"/>
      <p:regular r:id="rId20"/>
    </p:embeddedFont>
    <p:embeddedFont>
      <p:font typeface="Playfair Display Bold" panose="00000800000000000000" charset="0"/>
      <p:regular r:id="rId21"/>
    </p:embeddedFont>
    <p:embeddedFont>
      <p:font typeface="Roboto Condensed" panose="02000000000000000000" pitchFamily="2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3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67060" y="1047750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Box 3"/>
          <p:cNvSpPr txBox="1"/>
          <p:nvPr/>
        </p:nvSpPr>
        <p:spPr>
          <a:xfrm>
            <a:off x="1858688" y="1595126"/>
            <a:ext cx="15667312" cy="4401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es-ES" sz="6600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APRENDIZAJE POR REFUERZO </a:t>
            </a:r>
          </a:p>
          <a:p>
            <a:pPr algn="r">
              <a:lnSpc>
                <a:spcPct val="150000"/>
              </a:lnSpc>
            </a:pPr>
            <a:r>
              <a:rPr lang="es-ES" sz="6600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PARA EL CONTROL DE ALTO </a:t>
            </a:r>
          </a:p>
          <a:p>
            <a:pPr algn="r">
              <a:lnSpc>
                <a:spcPct val="150000"/>
              </a:lnSpc>
            </a:pPr>
            <a:r>
              <a:rPr lang="es-ES" sz="6600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NIVEL DE ROBOTS MÓVILES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77852" y="7146633"/>
            <a:ext cx="10934701" cy="732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563"/>
              </a:lnSpc>
            </a:pPr>
            <a:r>
              <a:rPr lang="es-ES" sz="6047" noProof="0" dirty="0">
                <a:solidFill>
                  <a:schemeClr val="tx2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Por David Solero Chicano</a:t>
            </a:r>
          </a:p>
        </p:txBody>
      </p:sp>
      <p:grpSp>
        <p:nvGrpSpPr>
          <p:cNvPr id="7" name="Group 7"/>
          <p:cNvGrpSpPr/>
          <p:nvPr/>
        </p:nvGrpSpPr>
        <p:grpSpPr>
          <a:xfrm rot="-5400000">
            <a:off x="-9880190" y="3974558"/>
            <a:ext cx="19691459" cy="3786298"/>
            <a:chOff x="0" y="0"/>
            <a:chExt cx="5186228" cy="9972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86228" cy="997214"/>
            </a:xfrm>
            <a:custGeom>
              <a:avLst/>
              <a:gdLst/>
              <a:ahLst/>
              <a:cxnLst/>
              <a:rect l="l" t="t" r="r" b="b"/>
              <a:pathLst>
                <a:path w="5186228" h="997214">
                  <a:moveTo>
                    <a:pt x="0" y="0"/>
                  </a:moveTo>
                  <a:lnTo>
                    <a:pt x="5186228" y="0"/>
                  </a:lnTo>
                  <a:lnTo>
                    <a:pt x="5186228" y="997214"/>
                  </a:lnTo>
                  <a:lnTo>
                    <a:pt x="0" y="9972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186228" cy="10353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10" name="Freeform 10"/>
          <p:cNvSpPr/>
          <p:nvPr/>
        </p:nvSpPr>
        <p:spPr>
          <a:xfrm rot="5400000">
            <a:off x="-3882315" y="4665083"/>
            <a:ext cx="10525172" cy="956834"/>
          </a:xfrm>
          <a:custGeom>
            <a:avLst/>
            <a:gdLst/>
            <a:ahLst/>
            <a:cxnLst/>
            <a:rect l="l" t="t" r="r" b="b"/>
            <a:pathLst>
              <a:path w="10525172" h="956834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24400D64-A2C9-5ABB-20D6-BBBA10C756E5}"/>
              </a:ext>
            </a:extLst>
          </p:cNvPr>
          <p:cNvSpPr txBox="1"/>
          <p:nvPr/>
        </p:nvSpPr>
        <p:spPr>
          <a:xfrm>
            <a:off x="-990600" y="528581"/>
            <a:ext cx="10934701" cy="732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563"/>
              </a:lnSpc>
            </a:pPr>
            <a:r>
              <a:rPr lang="es-ES" sz="4800" noProof="0" dirty="0">
                <a:solidFill>
                  <a:schemeClr val="tx2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Grado en Ingeniería informática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579909B-3389-B174-E0D5-7337C2B92B64}"/>
              </a:ext>
            </a:extLst>
          </p:cNvPr>
          <p:cNvSpPr/>
          <p:nvPr/>
        </p:nvSpPr>
        <p:spPr>
          <a:xfrm>
            <a:off x="2396197" y="7962900"/>
            <a:ext cx="3242603" cy="1797776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Imagen 10" descr="SERVICIO DE COMUNICACIÓN - Marcas Oficiales - Universidad de Málaga">
            <a:extLst>
              <a:ext uri="{FF2B5EF4-FFF2-40B4-BE49-F238E27FC236}">
                <a16:creationId xmlns:a16="http://schemas.microsoft.com/office/drawing/2014/main" id="{E3FB8202-5B9E-EB0D-1AB8-2BB379A5B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906" y="8306102"/>
            <a:ext cx="2907184" cy="1111371"/>
          </a:xfrm>
          <a:prstGeom prst="rect">
            <a:avLst/>
          </a:prstGeom>
        </p:spPr>
      </p:pic>
      <p:sp>
        <p:nvSpPr>
          <p:cNvPr id="13" name="TextBox 4">
            <a:extLst>
              <a:ext uri="{FF2B5EF4-FFF2-40B4-BE49-F238E27FC236}">
                <a16:creationId xmlns:a16="http://schemas.microsoft.com/office/drawing/2014/main" id="{A80B6589-2FA9-AD30-382D-8CE1C1EFC47D}"/>
              </a:ext>
            </a:extLst>
          </p:cNvPr>
          <p:cNvSpPr txBox="1"/>
          <p:nvPr/>
        </p:nvSpPr>
        <p:spPr>
          <a:xfrm>
            <a:off x="6591299" y="8381939"/>
            <a:ext cx="10934701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563"/>
              </a:lnSpc>
            </a:pPr>
            <a:r>
              <a:rPr lang="es-ES" sz="4400" dirty="0">
                <a:solidFill>
                  <a:schemeClr val="tx2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Tutorizado por</a:t>
            </a:r>
            <a:r>
              <a:rPr lang="es-ES" sz="4400" noProof="0" dirty="0">
                <a:solidFill>
                  <a:schemeClr val="tx2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 Ana María Cruz Martín y </a:t>
            </a:r>
          </a:p>
          <a:p>
            <a:pPr algn="r">
              <a:lnSpc>
                <a:spcPts val="5563"/>
              </a:lnSpc>
            </a:pPr>
            <a:r>
              <a:rPr lang="es-ES" sz="4400" noProof="0" dirty="0">
                <a:solidFill>
                  <a:schemeClr val="tx2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Juan Antonio Fernández Madrigal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3972939" y="4784169"/>
            <a:ext cx="10525172" cy="956834"/>
          </a:xfrm>
          <a:custGeom>
            <a:avLst/>
            <a:gdLst/>
            <a:ahLst/>
            <a:cxnLst/>
            <a:rect l="l" t="t" r="r" b="b"/>
            <a:pathLst>
              <a:path w="10525172" h="956834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9586635" y="-238172"/>
            <a:ext cx="9124426" cy="10763345"/>
            <a:chOff x="0" y="0"/>
            <a:chExt cx="2403141" cy="28347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3141" cy="2834790"/>
            </a:xfrm>
            <a:custGeom>
              <a:avLst/>
              <a:gdLst/>
              <a:ahLst/>
              <a:cxnLst/>
              <a:rect l="l" t="t" r="r" b="b"/>
              <a:pathLst>
                <a:path w="2403141" h="2834790">
                  <a:moveTo>
                    <a:pt x="0" y="0"/>
                  </a:moveTo>
                  <a:lnTo>
                    <a:pt x="2403141" y="0"/>
                  </a:lnTo>
                  <a:lnTo>
                    <a:pt x="2403141" y="2834790"/>
                  </a:lnTo>
                  <a:lnTo>
                    <a:pt x="0" y="28347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03141" cy="2872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ES" noProof="0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29882" y="2009728"/>
            <a:ext cx="6189026" cy="907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1"/>
              </a:lnSpc>
            </a:pPr>
            <a:r>
              <a:rPr lang="es-ES" sz="8800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CONTENIDOS</a:t>
            </a:r>
            <a:endParaRPr lang="es-ES" sz="7034" noProof="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Playfair Display"/>
              <a:sym typeface="Playfair Display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906000" y="1260225"/>
            <a:ext cx="8382000" cy="7766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9494" lvl="1" indent="-469747" algn="l">
              <a:lnSpc>
                <a:spcPts val="6092"/>
              </a:lnSpc>
              <a:buAutoNum type="arabicPeriod"/>
            </a:pPr>
            <a:r>
              <a:rPr lang="es-ES" sz="4351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Motivación y contexto</a:t>
            </a:r>
          </a:p>
          <a:p>
            <a:pPr marL="939494" lvl="1" indent="-469747" algn="l">
              <a:lnSpc>
                <a:spcPts val="6092"/>
              </a:lnSpc>
              <a:buAutoNum type="arabicPeriod"/>
            </a:pPr>
            <a:r>
              <a:rPr lang="es-ES" sz="4351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Objetivos</a:t>
            </a:r>
          </a:p>
          <a:p>
            <a:pPr marL="939494" lvl="1" indent="-469747" algn="l">
              <a:lnSpc>
                <a:spcPts val="6092"/>
              </a:lnSpc>
              <a:buAutoNum type="arabicPeriod"/>
            </a:pPr>
            <a:r>
              <a:rPr lang="es-ES" sz="4351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Arquitectura del sistema</a:t>
            </a:r>
          </a:p>
          <a:p>
            <a:pPr marL="939494" lvl="1" indent="-469747" algn="l">
              <a:lnSpc>
                <a:spcPts val="6092"/>
              </a:lnSpc>
              <a:buAutoNum type="arabicPeriod"/>
            </a:pPr>
            <a:r>
              <a:rPr lang="es-ES" sz="4351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Definición del problema RL</a:t>
            </a:r>
          </a:p>
          <a:p>
            <a:pPr marL="939494" lvl="1" indent="-469747" algn="l">
              <a:lnSpc>
                <a:spcPts val="6092"/>
              </a:lnSpc>
              <a:buAutoNum type="arabicPeriod"/>
            </a:pPr>
            <a:r>
              <a:rPr lang="es-ES" sz="4351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1: recompensa densa</a:t>
            </a:r>
          </a:p>
          <a:p>
            <a:pPr marL="939494" lvl="1" indent="-469747" algn="l">
              <a:lnSpc>
                <a:spcPts val="6092"/>
              </a:lnSpc>
              <a:buAutoNum type="arabicPeriod"/>
            </a:pPr>
            <a:r>
              <a:rPr lang="es-ES" sz="4351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2: recompensa dispersa</a:t>
            </a:r>
          </a:p>
          <a:p>
            <a:pPr marL="939494" lvl="1" indent="-469747" algn="l">
              <a:lnSpc>
                <a:spcPts val="6092"/>
              </a:lnSpc>
              <a:buAutoNum type="arabicPeriod"/>
            </a:pPr>
            <a:r>
              <a:rPr lang="es-ES" sz="4351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3: acción stop </a:t>
            </a:r>
          </a:p>
          <a:p>
            <a:pPr marL="939494" lvl="1" indent="-469747" algn="l">
              <a:lnSpc>
                <a:spcPts val="6092"/>
              </a:lnSpc>
              <a:buAutoNum type="arabicPeriod"/>
            </a:pPr>
            <a:r>
              <a:rPr lang="es-ES" sz="4351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4: información temporal</a:t>
            </a:r>
          </a:p>
          <a:p>
            <a:pPr marL="939494" lvl="1" indent="-469747" algn="l">
              <a:lnSpc>
                <a:spcPts val="6092"/>
              </a:lnSpc>
              <a:buAutoNum type="arabicPeriod"/>
            </a:pPr>
            <a:r>
              <a:rPr lang="es-ES" sz="4351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Conclusiones</a:t>
            </a:r>
          </a:p>
          <a:p>
            <a:pPr marL="939494" lvl="1" indent="-469747" algn="l">
              <a:lnSpc>
                <a:spcPts val="6092"/>
              </a:lnSpc>
              <a:buAutoNum type="arabicPeriod"/>
            </a:pPr>
            <a:r>
              <a:rPr lang="es-ES" sz="4351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 Líneas futuras y cierre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934C1551-5EB8-0A19-9F7C-7B1BBCB43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652" y="3238500"/>
            <a:ext cx="5571486" cy="5981377"/>
          </a:xfrm>
          <a:prstGeom prst="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4712303" y="4784169"/>
            <a:ext cx="10525172" cy="956834"/>
          </a:xfrm>
          <a:custGeom>
            <a:avLst/>
            <a:gdLst/>
            <a:ahLst/>
            <a:cxnLst/>
            <a:rect l="l" t="t" r="r" b="b"/>
            <a:pathLst>
              <a:path w="10525172" h="956834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1028700" y="-238172"/>
            <a:ext cx="17720127" cy="10763345"/>
            <a:chOff x="0" y="0"/>
            <a:chExt cx="4667029" cy="28347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667029" cy="2834790"/>
            </a:xfrm>
            <a:custGeom>
              <a:avLst/>
              <a:gdLst/>
              <a:ahLst/>
              <a:cxnLst/>
              <a:rect l="l" t="t" r="r" b="b"/>
              <a:pathLst>
                <a:path w="4667029" h="2834790">
                  <a:moveTo>
                    <a:pt x="0" y="0"/>
                  </a:moveTo>
                  <a:lnTo>
                    <a:pt x="4667029" y="0"/>
                  </a:lnTo>
                  <a:lnTo>
                    <a:pt x="4667029" y="2834790"/>
                  </a:lnTo>
                  <a:lnTo>
                    <a:pt x="0" y="28347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667029" cy="2872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6" name="AutoShape 6"/>
          <p:cNvSpPr/>
          <p:nvPr/>
        </p:nvSpPr>
        <p:spPr>
          <a:xfrm>
            <a:off x="10767060" y="1047750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 noProof="0" dirty="0"/>
          </a:p>
        </p:txBody>
      </p:sp>
      <p:grpSp>
        <p:nvGrpSpPr>
          <p:cNvPr id="7" name="Group 7"/>
          <p:cNvGrpSpPr/>
          <p:nvPr/>
        </p:nvGrpSpPr>
        <p:grpSpPr>
          <a:xfrm>
            <a:off x="12012930" y="502856"/>
            <a:ext cx="5246370" cy="8755444"/>
            <a:chOff x="0" y="0"/>
            <a:chExt cx="812800" cy="13564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356447"/>
            </a:xfrm>
            <a:custGeom>
              <a:avLst/>
              <a:gdLst/>
              <a:ahLst/>
              <a:cxnLst/>
              <a:rect l="l" t="t" r="r" b="b"/>
              <a:pathLst>
                <a:path w="812800" h="1356447">
                  <a:moveTo>
                    <a:pt x="0" y="0"/>
                  </a:moveTo>
                  <a:lnTo>
                    <a:pt x="812800" y="0"/>
                  </a:lnTo>
                  <a:lnTo>
                    <a:pt x="812800" y="1356447"/>
                  </a:lnTo>
                  <a:lnTo>
                    <a:pt x="0" y="1356447"/>
                  </a:lnTo>
                  <a:close/>
                </a:path>
              </a:pathLst>
            </a:custGeom>
            <a:blipFill>
              <a:blip r:embed="rId3"/>
              <a:stretch>
                <a:fillRect l="-5628" r="-5628"/>
              </a:stretch>
            </a:blipFill>
          </p:spPr>
          <p:txBody>
            <a:bodyPr/>
            <a:lstStyle/>
            <a:p>
              <a:endParaRPr lang="es-ES" noProof="0" dirty="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895350"/>
            <a:ext cx="9494703" cy="2353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484477" lvl="1" indent="-742238">
              <a:lnSpc>
                <a:spcPts val="9626"/>
              </a:lnSpc>
              <a:buFontTx/>
              <a:buAutoNum type="arabicPeriod"/>
            </a:pPr>
            <a:r>
              <a:rPr lang="es-ES" sz="720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Motivación y contexto</a:t>
            </a:r>
          </a:p>
          <a:p>
            <a:pPr marL="1484477" lvl="1" indent="-742238" algn="l">
              <a:lnSpc>
                <a:spcPts val="9626"/>
              </a:lnSpc>
              <a:buAutoNum type="arabicPeriod"/>
            </a:pPr>
            <a:endParaRPr lang="es-ES" sz="6875" noProof="0" dirty="0">
              <a:solidFill>
                <a:srgbClr val="1A216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152652" y="3185499"/>
            <a:ext cx="7617125" cy="2077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4"/>
              </a:lnSpc>
              <a:spcBef>
                <a:spcPct val="0"/>
              </a:spcBef>
            </a:pP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Lorem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ipsum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dolor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sit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amet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consectetur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adipiscing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elit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diam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netus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nulla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dis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, non magna in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fermentum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faucibus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iaculis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sociosqu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hac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per.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52652" y="5623545"/>
            <a:ext cx="8121489" cy="1434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4"/>
              </a:lnSpc>
              <a:spcBef>
                <a:spcPct val="0"/>
              </a:spcBef>
            </a:pP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Lorem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ipsum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dolor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sit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diam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netus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nulla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dis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, non magna in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fermentum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faucibus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iaculis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sociosqu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hac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per.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462A9AFC-AB12-A7B4-6CC5-F775420EB051}"/>
              </a:ext>
            </a:extLst>
          </p:cNvPr>
          <p:cNvSpPr txBox="1"/>
          <p:nvPr/>
        </p:nvSpPr>
        <p:spPr>
          <a:xfrm>
            <a:off x="838200" y="7443665"/>
            <a:ext cx="3051627" cy="2739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200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Motivación y contexto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2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Objetivos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2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Arquitectura del sistema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2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Definición del problema RL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2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1: recompensa densa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2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2: recompensa dispersa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2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3: acción stop 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2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4: información temporal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2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Conclusiones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2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 Líneas futuras y cierre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3900976" y="2568969"/>
            <a:ext cx="4463340" cy="405758"/>
          </a:xfrm>
          <a:custGeom>
            <a:avLst/>
            <a:gdLst/>
            <a:ahLst/>
            <a:cxnLst/>
            <a:rect l="l" t="t" r="r" b="b"/>
            <a:pathLst>
              <a:path w="4463340" h="405758">
                <a:moveTo>
                  <a:pt x="0" y="0"/>
                </a:moveTo>
                <a:lnTo>
                  <a:pt x="4463339" y="0"/>
                </a:lnTo>
                <a:lnTo>
                  <a:pt x="4463339" y="405758"/>
                </a:lnTo>
                <a:lnTo>
                  <a:pt x="0" y="405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3900976" y="2882252"/>
            <a:ext cx="4463340" cy="8689845"/>
            <a:chOff x="0" y="0"/>
            <a:chExt cx="1175530" cy="228868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75530" cy="2288683"/>
            </a:xfrm>
            <a:custGeom>
              <a:avLst/>
              <a:gdLst/>
              <a:ahLst/>
              <a:cxnLst/>
              <a:rect l="l" t="t" r="r" b="b"/>
              <a:pathLst>
                <a:path w="1175530" h="2288683">
                  <a:moveTo>
                    <a:pt x="0" y="0"/>
                  </a:moveTo>
                  <a:lnTo>
                    <a:pt x="1175530" y="0"/>
                  </a:lnTo>
                  <a:lnTo>
                    <a:pt x="1175530" y="2288683"/>
                  </a:lnTo>
                  <a:lnTo>
                    <a:pt x="0" y="22886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75530" cy="2326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55546" y="3412877"/>
            <a:ext cx="3116830" cy="6554344"/>
            <a:chOff x="0" y="0"/>
            <a:chExt cx="482878" cy="101543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2878" cy="1015439"/>
            </a:xfrm>
            <a:custGeom>
              <a:avLst/>
              <a:gdLst/>
              <a:ahLst/>
              <a:cxnLst/>
              <a:rect l="l" t="t" r="r" b="b"/>
              <a:pathLst>
                <a:path w="482878" h="1015439">
                  <a:moveTo>
                    <a:pt x="0" y="0"/>
                  </a:moveTo>
                  <a:lnTo>
                    <a:pt x="482878" y="0"/>
                  </a:lnTo>
                  <a:lnTo>
                    <a:pt x="482878" y="1015439"/>
                  </a:lnTo>
                  <a:lnTo>
                    <a:pt x="0" y="1015439"/>
                  </a:lnTo>
                  <a:close/>
                </a:path>
              </a:pathLst>
            </a:custGeom>
            <a:blipFill>
              <a:blip r:embed="rId3"/>
              <a:stretch>
                <a:fillRect l="-107716" r="-107716"/>
              </a:stretch>
            </a:blipFill>
          </p:spPr>
          <p:txBody>
            <a:bodyPr/>
            <a:lstStyle/>
            <a:p>
              <a:endParaRPr lang="es-ES" noProof="0" dirty="0"/>
            </a:p>
          </p:txBody>
        </p:sp>
      </p:grpSp>
      <p:sp>
        <p:nvSpPr>
          <p:cNvPr id="8" name="Freeform 8"/>
          <p:cNvSpPr/>
          <p:nvPr/>
        </p:nvSpPr>
        <p:spPr>
          <a:xfrm rot="-10800000">
            <a:off x="8592173" y="2568969"/>
            <a:ext cx="4463340" cy="405758"/>
          </a:xfrm>
          <a:custGeom>
            <a:avLst/>
            <a:gdLst/>
            <a:ahLst/>
            <a:cxnLst/>
            <a:rect l="l" t="t" r="r" b="b"/>
            <a:pathLst>
              <a:path w="4463340" h="405758">
                <a:moveTo>
                  <a:pt x="0" y="0"/>
                </a:moveTo>
                <a:lnTo>
                  <a:pt x="4463340" y="0"/>
                </a:lnTo>
                <a:lnTo>
                  <a:pt x="4463340" y="405758"/>
                </a:lnTo>
                <a:lnTo>
                  <a:pt x="0" y="405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9" name="Group 9"/>
          <p:cNvGrpSpPr/>
          <p:nvPr/>
        </p:nvGrpSpPr>
        <p:grpSpPr>
          <a:xfrm>
            <a:off x="8591431" y="2882252"/>
            <a:ext cx="4463340" cy="8689845"/>
            <a:chOff x="0" y="0"/>
            <a:chExt cx="1175530" cy="228868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75530" cy="2288683"/>
            </a:xfrm>
            <a:custGeom>
              <a:avLst/>
              <a:gdLst/>
              <a:ahLst/>
              <a:cxnLst/>
              <a:rect l="l" t="t" r="r" b="b"/>
              <a:pathLst>
                <a:path w="1175530" h="2288683">
                  <a:moveTo>
                    <a:pt x="0" y="0"/>
                  </a:moveTo>
                  <a:lnTo>
                    <a:pt x="1175530" y="0"/>
                  </a:lnTo>
                  <a:lnTo>
                    <a:pt x="1175530" y="2288683"/>
                  </a:lnTo>
                  <a:lnTo>
                    <a:pt x="0" y="22886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75530" cy="2326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12" name="Freeform 12"/>
          <p:cNvSpPr/>
          <p:nvPr/>
        </p:nvSpPr>
        <p:spPr>
          <a:xfrm rot="-10800000">
            <a:off x="13284113" y="2568969"/>
            <a:ext cx="4463340" cy="405758"/>
          </a:xfrm>
          <a:custGeom>
            <a:avLst/>
            <a:gdLst/>
            <a:ahLst/>
            <a:cxnLst/>
            <a:rect l="l" t="t" r="r" b="b"/>
            <a:pathLst>
              <a:path w="4463340" h="405758">
                <a:moveTo>
                  <a:pt x="0" y="0"/>
                </a:moveTo>
                <a:lnTo>
                  <a:pt x="4463340" y="0"/>
                </a:lnTo>
                <a:lnTo>
                  <a:pt x="4463340" y="405758"/>
                </a:lnTo>
                <a:lnTo>
                  <a:pt x="0" y="405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13" name="Group 13"/>
          <p:cNvGrpSpPr/>
          <p:nvPr/>
        </p:nvGrpSpPr>
        <p:grpSpPr>
          <a:xfrm>
            <a:off x="13283370" y="2882252"/>
            <a:ext cx="4463340" cy="8689845"/>
            <a:chOff x="0" y="0"/>
            <a:chExt cx="1175530" cy="228868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75530" cy="2288683"/>
            </a:xfrm>
            <a:custGeom>
              <a:avLst/>
              <a:gdLst/>
              <a:ahLst/>
              <a:cxnLst/>
              <a:rect l="l" t="t" r="r" b="b"/>
              <a:pathLst>
                <a:path w="1175530" h="2288683">
                  <a:moveTo>
                    <a:pt x="0" y="0"/>
                  </a:moveTo>
                  <a:lnTo>
                    <a:pt x="1175530" y="0"/>
                  </a:lnTo>
                  <a:lnTo>
                    <a:pt x="1175530" y="2288683"/>
                  </a:lnTo>
                  <a:lnTo>
                    <a:pt x="0" y="22886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75530" cy="2326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16" name="AutoShape 16"/>
          <p:cNvSpPr/>
          <p:nvPr/>
        </p:nvSpPr>
        <p:spPr>
          <a:xfrm>
            <a:off x="10767060" y="1047750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7" name="TextBox 17"/>
          <p:cNvSpPr txBox="1"/>
          <p:nvPr/>
        </p:nvSpPr>
        <p:spPr>
          <a:xfrm>
            <a:off x="967104" y="1181060"/>
            <a:ext cx="6043295" cy="846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471"/>
              </a:lnSpc>
              <a:spcBef>
                <a:spcPct val="0"/>
              </a:spcBef>
            </a:pPr>
            <a:r>
              <a:rPr lang="es-ES" sz="7034" u="none" strike="noStrike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2.</a:t>
            </a:r>
            <a:r>
              <a:rPr lang="es-ES" sz="7034" u="none" strike="noStrike" noProof="0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s-ES" sz="7034" u="none" strike="noStrike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OBJETIVOS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35755" y="4562924"/>
            <a:ext cx="2993780" cy="4349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4"/>
              </a:lnSpc>
              <a:spcBef>
                <a:spcPct val="0"/>
              </a:spcBef>
            </a:pP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Lorem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ipsum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dolor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sit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diam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netus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nulla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dis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, non magna in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fermentum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faucibus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iaculis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sociosqu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hac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per.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35755" y="3454412"/>
            <a:ext cx="2993780" cy="46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4"/>
              </a:lnSpc>
              <a:spcBef>
                <a:spcPct val="0"/>
              </a:spcBef>
            </a:pPr>
            <a:r>
              <a:rPr lang="es-ES" sz="2774" b="1" noProof="0" dirty="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 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26210" y="4562924"/>
            <a:ext cx="2993780" cy="4349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4"/>
              </a:lnSpc>
              <a:spcBef>
                <a:spcPct val="0"/>
              </a:spcBef>
            </a:pP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Lorem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ipsum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dolor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sit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diam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netus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nulla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dis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, non magna in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fermentum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faucibus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iaculis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sociosqu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hac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per.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26210" y="3454412"/>
            <a:ext cx="2993780" cy="46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4"/>
              </a:lnSpc>
              <a:spcBef>
                <a:spcPct val="0"/>
              </a:spcBef>
            </a:pPr>
            <a:r>
              <a:rPr lang="es-ES" sz="2774" b="1" noProof="0" dirty="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 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018150" y="4562924"/>
            <a:ext cx="2993780" cy="4349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4"/>
              </a:lnSpc>
              <a:spcBef>
                <a:spcPct val="0"/>
              </a:spcBef>
            </a:pP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Lorem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ipsum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dolor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sit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diam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netus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nulla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dis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, non magna in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fermentum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faucibus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iaculis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sociosqu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hac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per.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018150" y="3454412"/>
            <a:ext cx="2993780" cy="46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4"/>
              </a:lnSpc>
              <a:spcBef>
                <a:spcPct val="0"/>
              </a:spcBef>
            </a:pPr>
            <a:r>
              <a:rPr lang="es-ES" sz="2774" b="1" noProof="0" dirty="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 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429991" y="4675909"/>
            <a:ext cx="10287000" cy="935182"/>
          </a:xfrm>
          <a:custGeom>
            <a:avLst/>
            <a:gdLst/>
            <a:ahLst/>
            <a:cxnLst/>
            <a:rect l="l" t="t" r="r" b="b"/>
            <a:pathLst>
              <a:path w="10287000" h="935182">
                <a:moveTo>
                  <a:pt x="0" y="0"/>
                </a:moveTo>
                <a:lnTo>
                  <a:pt x="10287000" y="0"/>
                </a:lnTo>
                <a:lnTo>
                  <a:pt x="10287000" y="935182"/>
                </a:lnTo>
                <a:lnTo>
                  <a:pt x="0" y="93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638308" y="-952500"/>
            <a:ext cx="9782308" cy="12360500"/>
            <a:chOff x="0" y="0"/>
            <a:chExt cx="2576410" cy="32554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76410" cy="3255440"/>
            </a:xfrm>
            <a:custGeom>
              <a:avLst/>
              <a:gdLst/>
              <a:ahLst/>
              <a:cxnLst/>
              <a:rect l="l" t="t" r="r" b="b"/>
              <a:pathLst>
                <a:path w="2576410" h="3255440">
                  <a:moveTo>
                    <a:pt x="0" y="0"/>
                  </a:moveTo>
                  <a:lnTo>
                    <a:pt x="2576410" y="0"/>
                  </a:lnTo>
                  <a:lnTo>
                    <a:pt x="2576410" y="3255440"/>
                  </a:lnTo>
                  <a:lnTo>
                    <a:pt x="0" y="32554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576410" cy="3293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51112" y="342900"/>
            <a:ext cx="13655488" cy="1096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26"/>
              </a:lnSpc>
            </a:pPr>
            <a:r>
              <a:rPr lang="es-ES" sz="5400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3. Arquitectura del sistema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767060" y="1047750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 noProof="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7FB0CF8-DA95-DF3F-B5D8-C656943B3E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9839" y="2115069"/>
            <a:ext cx="6553200" cy="634769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4621B86-4EDF-B3EB-F515-65A9B0E91A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566" y="2400300"/>
            <a:ext cx="8200313" cy="4800600"/>
          </a:xfrm>
          <a:prstGeom prst="rect">
            <a:avLst/>
          </a:prstGeom>
        </p:spPr>
      </p:pic>
      <p:sp>
        <p:nvSpPr>
          <p:cNvPr id="16" name="TextBox 9">
            <a:extLst>
              <a:ext uri="{FF2B5EF4-FFF2-40B4-BE49-F238E27FC236}">
                <a16:creationId xmlns:a16="http://schemas.microsoft.com/office/drawing/2014/main" id="{2894AA1B-41A4-4664-50FA-FD55D3867CE7}"/>
              </a:ext>
            </a:extLst>
          </p:cNvPr>
          <p:cNvSpPr txBox="1"/>
          <p:nvPr/>
        </p:nvSpPr>
        <p:spPr>
          <a:xfrm>
            <a:off x="0" y="7493857"/>
            <a:ext cx="3051627" cy="2739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2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Motivación y contexto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2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Objetivos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200" noProof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Arquitectura del sistema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2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Definición del problema RL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2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1: recompensa densa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2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2: recompensa dispersa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2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3: acción stop 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2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4: información temporal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2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Conclusiones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2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 Líneas futuras y cierre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742511"/>
            <a:ext cx="18288000" cy="1662545"/>
          </a:xfrm>
          <a:custGeom>
            <a:avLst/>
            <a:gdLst/>
            <a:ahLst/>
            <a:cxnLst/>
            <a:rect l="l" t="t" r="r" b="b"/>
            <a:pathLst>
              <a:path w="18288000" h="1662545">
                <a:moveTo>
                  <a:pt x="0" y="0"/>
                </a:moveTo>
                <a:lnTo>
                  <a:pt x="18288000" y="0"/>
                </a:lnTo>
                <a:lnTo>
                  <a:pt x="18288000" y="1662545"/>
                </a:lnTo>
                <a:lnTo>
                  <a:pt x="0" y="1662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638308" y="-788403"/>
            <a:ext cx="19691459" cy="3786298"/>
            <a:chOff x="0" y="0"/>
            <a:chExt cx="5186228" cy="9972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6228" cy="997214"/>
            </a:xfrm>
            <a:custGeom>
              <a:avLst/>
              <a:gdLst/>
              <a:ahLst/>
              <a:cxnLst/>
              <a:rect l="l" t="t" r="r" b="b"/>
              <a:pathLst>
                <a:path w="5186228" h="997214">
                  <a:moveTo>
                    <a:pt x="0" y="0"/>
                  </a:moveTo>
                  <a:lnTo>
                    <a:pt x="5186228" y="0"/>
                  </a:lnTo>
                  <a:lnTo>
                    <a:pt x="5186228" y="997214"/>
                  </a:lnTo>
                  <a:lnTo>
                    <a:pt x="0" y="9972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186228" cy="10353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6142" y="7627387"/>
            <a:ext cx="18724119" cy="3087967"/>
            <a:chOff x="0" y="0"/>
            <a:chExt cx="2900856" cy="4784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00856" cy="478407"/>
            </a:xfrm>
            <a:custGeom>
              <a:avLst/>
              <a:gdLst/>
              <a:ahLst/>
              <a:cxnLst/>
              <a:rect l="l" t="t" r="r" b="b"/>
              <a:pathLst>
                <a:path w="2900856" h="478407">
                  <a:moveTo>
                    <a:pt x="0" y="0"/>
                  </a:moveTo>
                  <a:lnTo>
                    <a:pt x="2900856" y="0"/>
                  </a:lnTo>
                  <a:lnTo>
                    <a:pt x="2900856" y="478407"/>
                  </a:lnTo>
                  <a:lnTo>
                    <a:pt x="0" y="478407"/>
                  </a:lnTo>
                  <a:close/>
                </a:path>
              </a:pathLst>
            </a:custGeom>
            <a:blipFill>
              <a:blip r:embed="rId3"/>
              <a:stretch>
                <a:fillRect t="-139624" b="-139624"/>
              </a:stretch>
            </a:blipFill>
          </p:spPr>
          <p:txBody>
            <a:bodyPr/>
            <a:lstStyle/>
            <a:p>
              <a:endParaRPr lang="es-ES" noProof="0" dirty="0"/>
            </a:p>
          </p:txBody>
        </p:sp>
      </p:grpSp>
      <p:sp>
        <p:nvSpPr>
          <p:cNvPr id="8" name="AutoShape 8"/>
          <p:cNvSpPr/>
          <p:nvPr/>
        </p:nvSpPr>
        <p:spPr>
          <a:xfrm>
            <a:off x="10767060" y="1512825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9" name="TextBox 9"/>
          <p:cNvSpPr txBox="1"/>
          <p:nvPr/>
        </p:nvSpPr>
        <p:spPr>
          <a:xfrm>
            <a:off x="1028700" y="876260"/>
            <a:ext cx="8009110" cy="1177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26"/>
              </a:lnSpc>
            </a:pPr>
            <a:r>
              <a:rPr lang="es-ES" sz="6875" noProof="0" dirty="0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4. METODOLOGÍA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07424" y="4045912"/>
            <a:ext cx="12873152" cy="102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4"/>
              </a:lnSpc>
              <a:spcBef>
                <a:spcPct val="0"/>
              </a:spcBef>
            </a:pP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Lorem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ipsum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dolor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sit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amet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consectetur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adipiscing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elit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diam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netus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nulla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dis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, non magna in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fermentum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faucibus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iaculis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sociosqu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hac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per.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07424" y="5287302"/>
            <a:ext cx="12660773" cy="94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4"/>
              </a:lnSpc>
              <a:spcBef>
                <a:spcPct val="0"/>
              </a:spcBef>
            </a:pP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Lorem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ipsum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dolor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sit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diam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netus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nulla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dis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, non magna in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fermentum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faucibus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iaculis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sociosqu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hac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per.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742511"/>
            <a:ext cx="18288000" cy="1662545"/>
          </a:xfrm>
          <a:custGeom>
            <a:avLst/>
            <a:gdLst/>
            <a:ahLst/>
            <a:cxnLst/>
            <a:rect l="l" t="t" r="r" b="b"/>
            <a:pathLst>
              <a:path w="18288000" h="1662545">
                <a:moveTo>
                  <a:pt x="0" y="0"/>
                </a:moveTo>
                <a:lnTo>
                  <a:pt x="18288000" y="0"/>
                </a:lnTo>
                <a:lnTo>
                  <a:pt x="18288000" y="1662545"/>
                </a:lnTo>
                <a:lnTo>
                  <a:pt x="0" y="1662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638308" y="-788403"/>
            <a:ext cx="19691459" cy="3786298"/>
            <a:chOff x="0" y="0"/>
            <a:chExt cx="5186228" cy="9972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6228" cy="997214"/>
            </a:xfrm>
            <a:custGeom>
              <a:avLst/>
              <a:gdLst/>
              <a:ahLst/>
              <a:cxnLst/>
              <a:rect l="l" t="t" r="r" b="b"/>
              <a:pathLst>
                <a:path w="5186228" h="997214">
                  <a:moveTo>
                    <a:pt x="0" y="0"/>
                  </a:moveTo>
                  <a:lnTo>
                    <a:pt x="5186228" y="0"/>
                  </a:lnTo>
                  <a:lnTo>
                    <a:pt x="5186228" y="997214"/>
                  </a:lnTo>
                  <a:lnTo>
                    <a:pt x="0" y="9972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186228" cy="10353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4186737"/>
            <a:ext cx="9398769" cy="4853244"/>
            <a:chOff x="0" y="0"/>
            <a:chExt cx="1456115" cy="7518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56115" cy="751895"/>
            </a:xfrm>
            <a:custGeom>
              <a:avLst/>
              <a:gdLst/>
              <a:ahLst/>
              <a:cxnLst/>
              <a:rect l="l" t="t" r="r" b="b"/>
              <a:pathLst>
                <a:path w="1456115" h="751895">
                  <a:moveTo>
                    <a:pt x="0" y="0"/>
                  </a:moveTo>
                  <a:lnTo>
                    <a:pt x="1456115" y="0"/>
                  </a:lnTo>
                  <a:lnTo>
                    <a:pt x="1456115" y="751895"/>
                  </a:lnTo>
                  <a:lnTo>
                    <a:pt x="0" y="751895"/>
                  </a:lnTo>
                  <a:close/>
                </a:path>
              </a:pathLst>
            </a:custGeom>
            <a:blipFill>
              <a:blip r:embed="rId3"/>
              <a:stretch>
                <a:fillRect t="-14149" b="-14149"/>
              </a:stretch>
            </a:blipFill>
          </p:spPr>
          <p:txBody>
            <a:bodyPr/>
            <a:lstStyle/>
            <a:p>
              <a:endParaRPr lang="es-ES" noProof="0" dirty="0"/>
            </a:p>
          </p:txBody>
        </p:sp>
      </p:grpSp>
      <p:sp>
        <p:nvSpPr>
          <p:cNvPr id="8" name="AutoShape 8"/>
          <p:cNvSpPr/>
          <p:nvPr/>
        </p:nvSpPr>
        <p:spPr>
          <a:xfrm>
            <a:off x="10767060" y="1531875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9" name="TextBox 9"/>
          <p:cNvSpPr txBox="1"/>
          <p:nvPr/>
        </p:nvSpPr>
        <p:spPr>
          <a:xfrm>
            <a:off x="10202581" y="4500079"/>
            <a:ext cx="7056719" cy="2077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4"/>
              </a:lnSpc>
              <a:spcBef>
                <a:spcPct val="0"/>
              </a:spcBef>
            </a:pP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Lorem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ipsum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dolor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sit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amet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consectetur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adipiscing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elit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diam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netus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nulla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dis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, non magna in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fermentum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faucibus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iaculis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sociosqu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hac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per.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02581" y="6907118"/>
            <a:ext cx="7056719" cy="1920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4"/>
              </a:lnSpc>
              <a:spcBef>
                <a:spcPct val="0"/>
              </a:spcBef>
            </a:pP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Lorem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ipsum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dolor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sit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diam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netus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nulla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dis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, non magna in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fermentum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faucibus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iaculis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sociosqu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hac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per.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76260"/>
            <a:ext cx="7529484" cy="1177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26"/>
              </a:lnSpc>
            </a:pPr>
            <a:r>
              <a:rPr lang="es-ES" sz="6875" noProof="0" dirty="0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4. METODOLOGÍA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04775" y="1745916"/>
            <a:ext cx="18078450" cy="1643495"/>
          </a:xfrm>
          <a:custGeom>
            <a:avLst/>
            <a:gdLst/>
            <a:ahLst/>
            <a:cxnLst/>
            <a:rect l="l" t="t" r="r" b="b"/>
            <a:pathLst>
              <a:path w="18078450" h="1643495">
                <a:moveTo>
                  <a:pt x="0" y="0"/>
                </a:moveTo>
                <a:lnTo>
                  <a:pt x="18078450" y="0"/>
                </a:lnTo>
                <a:lnTo>
                  <a:pt x="18078450" y="1643495"/>
                </a:lnTo>
                <a:lnTo>
                  <a:pt x="0" y="1643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701729" y="2994333"/>
            <a:ext cx="19691459" cy="7024424"/>
            <a:chOff x="0" y="0"/>
            <a:chExt cx="5186228" cy="18500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6228" cy="1850054"/>
            </a:xfrm>
            <a:custGeom>
              <a:avLst/>
              <a:gdLst/>
              <a:ahLst/>
              <a:cxnLst/>
              <a:rect l="l" t="t" r="r" b="b"/>
              <a:pathLst>
                <a:path w="5186228" h="1850054">
                  <a:moveTo>
                    <a:pt x="0" y="0"/>
                  </a:moveTo>
                  <a:lnTo>
                    <a:pt x="5186228" y="0"/>
                  </a:lnTo>
                  <a:lnTo>
                    <a:pt x="5186228" y="1850054"/>
                  </a:lnTo>
                  <a:lnTo>
                    <a:pt x="0" y="1850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186228" cy="18881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200110"/>
            <a:ext cx="6032368" cy="878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71"/>
              </a:lnSpc>
              <a:spcBef>
                <a:spcPct val="0"/>
              </a:spcBef>
            </a:pPr>
            <a:r>
              <a:rPr lang="es-ES" sz="7034" u="none" strike="noStrike" noProof="0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5. ANÁLISIS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804" y="3214640"/>
            <a:ext cx="6504156" cy="5951917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02" y="3136490"/>
            <a:ext cx="7442501" cy="6108218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0767060" y="1531875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21828" y="2973454"/>
            <a:ext cx="2203123" cy="1296825"/>
            <a:chOff x="0" y="0"/>
            <a:chExt cx="580246" cy="3415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246" cy="341551"/>
            </a:xfrm>
            <a:custGeom>
              <a:avLst/>
              <a:gdLst/>
              <a:ahLst/>
              <a:cxnLst/>
              <a:rect l="l" t="t" r="r" b="b"/>
              <a:pathLst>
                <a:path w="580246" h="341551">
                  <a:moveTo>
                    <a:pt x="0" y="0"/>
                  </a:moveTo>
                  <a:lnTo>
                    <a:pt x="580246" y="0"/>
                  </a:lnTo>
                  <a:lnTo>
                    <a:pt x="580246" y="341551"/>
                  </a:lnTo>
                  <a:lnTo>
                    <a:pt x="0" y="3415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80246" cy="379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-200344" y="4271224"/>
            <a:ext cx="19190074" cy="1744552"/>
          </a:xfrm>
          <a:custGeom>
            <a:avLst/>
            <a:gdLst/>
            <a:ahLst/>
            <a:cxnLst/>
            <a:rect l="l" t="t" r="r" b="b"/>
            <a:pathLst>
              <a:path w="19190074" h="1744552">
                <a:moveTo>
                  <a:pt x="0" y="0"/>
                </a:moveTo>
                <a:lnTo>
                  <a:pt x="19190073" y="0"/>
                </a:lnTo>
                <a:lnTo>
                  <a:pt x="19190073" y="1744552"/>
                </a:lnTo>
                <a:lnTo>
                  <a:pt x="0" y="1744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6" name="Group 6"/>
          <p:cNvGrpSpPr/>
          <p:nvPr/>
        </p:nvGrpSpPr>
        <p:grpSpPr>
          <a:xfrm>
            <a:off x="-701729" y="5656258"/>
            <a:ext cx="19691459" cy="4362499"/>
            <a:chOff x="0" y="0"/>
            <a:chExt cx="5186228" cy="11489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6228" cy="1148971"/>
            </a:xfrm>
            <a:custGeom>
              <a:avLst/>
              <a:gdLst/>
              <a:ahLst/>
              <a:cxnLst/>
              <a:rect l="l" t="t" r="r" b="b"/>
              <a:pathLst>
                <a:path w="5186228" h="1148971">
                  <a:moveTo>
                    <a:pt x="0" y="0"/>
                  </a:moveTo>
                  <a:lnTo>
                    <a:pt x="5186228" y="0"/>
                  </a:lnTo>
                  <a:lnTo>
                    <a:pt x="5186228" y="1148971"/>
                  </a:lnTo>
                  <a:lnTo>
                    <a:pt x="0" y="11489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186228" cy="11870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071830" y="5165354"/>
            <a:ext cx="1030292" cy="103029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3652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ES" noProof="0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200110"/>
            <a:ext cx="6807387" cy="878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71"/>
              </a:lnSpc>
              <a:spcBef>
                <a:spcPct val="0"/>
              </a:spcBef>
            </a:pPr>
            <a:r>
              <a:rPr lang="es-ES" sz="7034" u="none" strike="noStrike" noProof="0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6. CRONOLOGÍA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708243" y="5165354"/>
            <a:ext cx="1030292" cy="1030292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3652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ES" noProof="0" dirty="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06002" y="6993755"/>
            <a:ext cx="2203123" cy="1296825"/>
            <a:chOff x="0" y="0"/>
            <a:chExt cx="580246" cy="34155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80246" cy="341551"/>
            </a:xfrm>
            <a:custGeom>
              <a:avLst/>
              <a:gdLst/>
              <a:ahLst/>
              <a:cxnLst/>
              <a:rect l="l" t="t" r="r" b="b"/>
              <a:pathLst>
                <a:path w="580246" h="341551">
                  <a:moveTo>
                    <a:pt x="0" y="0"/>
                  </a:moveTo>
                  <a:lnTo>
                    <a:pt x="580246" y="0"/>
                  </a:lnTo>
                  <a:lnTo>
                    <a:pt x="580246" y="341551"/>
                  </a:lnTo>
                  <a:lnTo>
                    <a:pt x="0" y="341551"/>
                  </a:lnTo>
                  <a:close/>
                </a:path>
              </a:pathLst>
            </a:custGeom>
            <a:solidFill>
              <a:srgbClr val="568AB9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80246" cy="379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071830" y="7367785"/>
            <a:ext cx="1071466" cy="520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6"/>
              </a:lnSpc>
              <a:spcBef>
                <a:spcPct val="0"/>
              </a:spcBef>
            </a:pPr>
            <a:r>
              <a:rPr lang="es-ES" sz="1511" b="1" noProof="0" dirty="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ORIGEN LARANA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16810" y="3479988"/>
            <a:ext cx="1613158" cy="255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6"/>
              </a:lnSpc>
              <a:spcBef>
                <a:spcPct val="0"/>
              </a:spcBef>
            </a:pPr>
            <a:r>
              <a:rPr lang="es-ES" sz="1511" b="1" noProof="0" dirty="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LANZAMIENTO A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350352" y="3021936"/>
            <a:ext cx="2203123" cy="1296825"/>
            <a:chOff x="0" y="0"/>
            <a:chExt cx="580246" cy="34155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80246" cy="341551"/>
            </a:xfrm>
            <a:custGeom>
              <a:avLst/>
              <a:gdLst/>
              <a:ahLst/>
              <a:cxnLst/>
              <a:rect l="l" t="t" r="r" b="b"/>
              <a:pathLst>
                <a:path w="580246" h="341551">
                  <a:moveTo>
                    <a:pt x="0" y="0"/>
                  </a:moveTo>
                  <a:lnTo>
                    <a:pt x="580246" y="0"/>
                  </a:lnTo>
                  <a:lnTo>
                    <a:pt x="580246" y="341551"/>
                  </a:lnTo>
                  <a:lnTo>
                    <a:pt x="0" y="3415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580246" cy="379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300354" y="5213836"/>
            <a:ext cx="1030292" cy="1030292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3652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ES" noProof="0" dirty="0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936767" y="5213836"/>
            <a:ext cx="1030292" cy="1030292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3652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ES" noProof="0" dirty="0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734526" y="7042237"/>
            <a:ext cx="2203123" cy="1296825"/>
            <a:chOff x="0" y="0"/>
            <a:chExt cx="580246" cy="34155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80246" cy="341551"/>
            </a:xfrm>
            <a:custGeom>
              <a:avLst/>
              <a:gdLst/>
              <a:ahLst/>
              <a:cxnLst/>
              <a:rect l="l" t="t" r="r" b="b"/>
              <a:pathLst>
                <a:path w="580246" h="341551">
                  <a:moveTo>
                    <a:pt x="0" y="0"/>
                  </a:moveTo>
                  <a:lnTo>
                    <a:pt x="580246" y="0"/>
                  </a:lnTo>
                  <a:lnTo>
                    <a:pt x="580246" y="341551"/>
                  </a:lnTo>
                  <a:lnTo>
                    <a:pt x="0" y="341551"/>
                  </a:lnTo>
                  <a:close/>
                </a:path>
              </a:pathLst>
            </a:custGeom>
            <a:solidFill>
              <a:srgbClr val="568AB9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580246" cy="379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300354" y="7416267"/>
            <a:ext cx="1071466" cy="520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6"/>
              </a:lnSpc>
              <a:spcBef>
                <a:spcPct val="0"/>
              </a:spcBef>
            </a:pPr>
            <a:r>
              <a:rPr lang="es-ES" sz="1511" b="1" noProof="0" dirty="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EVENTO BORCELLE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936767" y="3395966"/>
            <a:ext cx="1071466" cy="520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6"/>
              </a:lnSpc>
              <a:spcBef>
                <a:spcPct val="0"/>
              </a:spcBef>
            </a:pPr>
            <a:r>
              <a:rPr lang="es-ES" sz="1511" b="1" noProof="0" dirty="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FUSIÓN ENSIGNA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4578876" y="3021936"/>
            <a:ext cx="2203123" cy="1296825"/>
            <a:chOff x="0" y="0"/>
            <a:chExt cx="580246" cy="34155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80246" cy="341551"/>
            </a:xfrm>
            <a:custGeom>
              <a:avLst/>
              <a:gdLst/>
              <a:ahLst/>
              <a:cxnLst/>
              <a:rect l="l" t="t" r="r" b="b"/>
              <a:pathLst>
                <a:path w="580246" h="341551">
                  <a:moveTo>
                    <a:pt x="0" y="0"/>
                  </a:moveTo>
                  <a:lnTo>
                    <a:pt x="580246" y="0"/>
                  </a:lnTo>
                  <a:lnTo>
                    <a:pt x="580246" y="341551"/>
                  </a:lnTo>
                  <a:lnTo>
                    <a:pt x="0" y="3415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580246" cy="379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528878" y="5213836"/>
            <a:ext cx="1030292" cy="1030292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3652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ES" noProof="0" dirty="0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5165291" y="5213836"/>
            <a:ext cx="1030292" cy="1030292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3652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ES" noProof="0" dirty="0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963049" y="7042237"/>
            <a:ext cx="2203123" cy="1296825"/>
            <a:chOff x="0" y="0"/>
            <a:chExt cx="580246" cy="34155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80246" cy="341551"/>
            </a:xfrm>
            <a:custGeom>
              <a:avLst/>
              <a:gdLst/>
              <a:ahLst/>
              <a:cxnLst/>
              <a:rect l="l" t="t" r="r" b="b"/>
              <a:pathLst>
                <a:path w="580246" h="341551">
                  <a:moveTo>
                    <a:pt x="0" y="0"/>
                  </a:moveTo>
                  <a:lnTo>
                    <a:pt x="580246" y="0"/>
                  </a:lnTo>
                  <a:lnTo>
                    <a:pt x="580246" y="341551"/>
                  </a:lnTo>
                  <a:lnTo>
                    <a:pt x="0" y="341551"/>
                  </a:lnTo>
                  <a:close/>
                </a:path>
              </a:pathLst>
            </a:custGeom>
            <a:solidFill>
              <a:srgbClr val="568AB9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580246" cy="379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2245964" y="7548771"/>
            <a:ext cx="1637294" cy="255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6"/>
              </a:lnSpc>
              <a:spcBef>
                <a:spcPct val="0"/>
              </a:spcBef>
            </a:pPr>
            <a:r>
              <a:rPr lang="es-ES" sz="1511" b="1" noProof="0" dirty="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LANZAMIENTO B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5165291" y="3395966"/>
            <a:ext cx="1071466" cy="520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6"/>
              </a:lnSpc>
              <a:spcBef>
                <a:spcPct val="0"/>
              </a:spcBef>
            </a:pPr>
            <a:r>
              <a:rPr lang="es-ES" sz="1511" b="1" noProof="0" dirty="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EVENTO BORCELLE</a:t>
            </a:r>
          </a:p>
        </p:txBody>
      </p:sp>
      <p:sp>
        <p:nvSpPr>
          <p:cNvPr id="49" name="AutoShape 49"/>
          <p:cNvSpPr/>
          <p:nvPr/>
        </p:nvSpPr>
        <p:spPr>
          <a:xfrm>
            <a:off x="10767060" y="1531875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73491" y="-1036750"/>
            <a:ext cx="9782308" cy="12360500"/>
            <a:chOff x="0" y="0"/>
            <a:chExt cx="2576410" cy="32554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76410" cy="3255440"/>
            </a:xfrm>
            <a:custGeom>
              <a:avLst/>
              <a:gdLst/>
              <a:ahLst/>
              <a:cxnLst/>
              <a:rect l="l" t="t" r="r" b="b"/>
              <a:pathLst>
                <a:path w="2576410" h="3255440">
                  <a:moveTo>
                    <a:pt x="0" y="0"/>
                  </a:moveTo>
                  <a:lnTo>
                    <a:pt x="2576410" y="0"/>
                  </a:lnTo>
                  <a:lnTo>
                    <a:pt x="2576410" y="3255440"/>
                  </a:lnTo>
                  <a:lnTo>
                    <a:pt x="0" y="32554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76410" cy="3293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3971925" y="4675909"/>
            <a:ext cx="10287000" cy="935182"/>
          </a:xfrm>
          <a:custGeom>
            <a:avLst/>
            <a:gdLst/>
            <a:ahLst/>
            <a:cxnLst/>
            <a:rect l="l" t="t" r="r" b="b"/>
            <a:pathLst>
              <a:path w="10287000" h="935182">
                <a:moveTo>
                  <a:pt x="0" y="0"/>
                </a:moveTo>
                <a:lnTo>
                  <a:pt x="10287000" y="0"/>
                </a:lnTo>
                <a:lnTo>
                  <a:pt x="10287000" y="935182"/>
                </a:lnTo>
                <a:lnTo>
                  <a:pt x="0" y="93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Box 6"/>
          <p:cNvSpPr txBox="1"/>
          <p:nvPr/>
        </p:nvSpPr>
        <p:spPr>
          <a:xfrm>
            <a:off x="3710312" y="4277879"/>
            <a:ext cx="3955526" cy="3708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0"/>
              </a:lnSpc>
              <a:spcBef>
                <a:spcPct val="0"/>
              </a:spcBef>
            </a:pP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Lorem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ipsum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dolor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sit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diam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netus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nulla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non magna in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fermentum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faucibus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iaculis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sociosqu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hac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per.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6555" y="3230384"/>
            <a:ext cx="3283039" cy="51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0"/>
              </a:lnSpc>
              <a:spcBef>
                <a:spcPct val="0"/>
              </a:spcBef>
            </a:pPr>
            <a:r>
              <a:rPr lang="es-ES" sz="3043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HIPÓTESIS A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2716878"/>
            <a:ext cx="7184389" cy="6541422"/>
            <a:chOff x="0" y="0"/>
            <a:chExt cx="1113050" cy="10134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13050" cy="1013437"/>
            </a:xfrm>
            <a:custGeom>
              <a:avLst/>
              <a:gdLst/>
              <a:ahLst/>
              <a:cxnLst/>
              <a:rect l="l" t="t" r="r" b="b"/>
              <a:pathLst>
                <a:path w="1113050" h="1013437">
                  <a:moveTo>
                    <a:pt x="0" y="0"/>
                  </a:moveTo>
                  <a:lnTo>
                    <a:pt x="1113050" y="0"/>
                  </a:lnTo>
                  <a:lnTo>
                    <a:pt x="1113050" y="1013437"/>
                  </a:lnTo>
                  <a:lnTo>
                    <a:pt x="0" y="1013437"/>
                  </a:lnTo>
                  <a:close/>
                </a:path>
              </a:pathLst>
            </a:custGeom>
            <a:blipFill>
              <a:blip r:embed="rId3"/>
              <a:stretch>
                <a:fillRect l="-18287" r="-18287"/>
              </a:stretch>
            </a:blipFill>
          </p:spPr>
          <p:txBody>
            <a:bodyPr/>
            <a:lstStyle/>
            <a:p>
              <a:endParaRPr lang="es-ES" noProof="0" dirty="0"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0767060" y="1531875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0915523" y="4634713"/>
            <a:ext cx="5456316" cy="3748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1"/>
              </a:lnSpc>
              <a:spcBef>
                <a:spcPct val="0"/>
              </a:spcBef>
            </a:pPr>
            <a:r>
              <a:rPr lang="es-ES" sz="4286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del tiempo en un proyecto creativo se dedica a la fase de exploración e ideación.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200110"/>
            <a:ext cx="7184389" cy="878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71"/>
              </a:lnSpc>
              <a:spcBef>
                <a:spcPct val="0"/>
              </a:spcBef>
            </a:pPr>
            <a:r>
              <a:rPr lang="es-ES" sz="7034" u="none" strike="noStrike" noProof="0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7. RESULTADOS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21241" y="1720764"/>
            <a:ext cx="5365615" cy="299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1"/>
              </a:lnSpc>
              <a:spcBef>
                <a:spcPct val="0"/>
              </a:spcBef>
            </a:pPr>
            <a:r>
              <a:rPr lang="es-ES" sz="17815" b="1" noProof="0" dirty="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5010150" y="4675909"/>
            <a:ext cx="10287000" cy="935182"/>
          </a:xfrm>
          <a:custGeom>
            <a:avLst/>
            <a:gdLst/>
            <a:ahLst/>
            <a:cxnLst/>
            <a:rect l="l" t="t" r="r" b="b"/>
            <a:pathLst>
              <a:path w="10287000" h="935182">
                <a:moveTo>
                  <a:pt x="0" y="0"/>
                </a:moveTo>
                <a:lnTo>
                  <a:pt x="10287000" y="0"/>
                </a:lnTo>
                <a:lnTo>
                  <a:pt x="10287000" y="935182"/>
                </a:lnTo>
                <a:lnTo>
                  <a:pt x="0" y="93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-1036750"/>
            <a:ext cx="9782308" cy="12360500"/>
            <a:chOff x="0" y="0"/>
            <a:chExt cx="2576410" cy="32554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76410" cy="3255440"/>
            </a:xfrm>
            <a:custGeom>
              <a:avLst/>
              <a:gdLst/>
              <a:ahLst/>
              <a:cxnLst/>
              <a:rect l="l" t="t" r="r" b="b"/>
              <a:pathLst>
                <a:path w="2576410" h="3255440">
                  <a:moveTo>
                    <a:pt x="0" y="0"/>
                  </a:moveTo>
                  <a:lnTo>
                    <a:pt x="2576410" y="0"/>
                  </a:lnTo>
                  <a:lnTo>
                    <a:pt x="2576410" y="3255440"/>
                  </a:lnTo>
                  <a:lnTo>
                    <a:pt x="0" y="32554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576410" cy="3293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710312" y="4277879"/>
            <a:ext cx="3955526" cy="3708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0"/>
              </a:lnSpc>
              <a:spcBef>
                <a:spcPct val="0"/>
              </a:spcBef>
            </a:pP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Lorem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ipsum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dolor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sit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diam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netus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nulla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non magna in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fermentum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faucibus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iaculis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sociosqu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hac</a:t>
            </a:r>
            <a:r>
              <a:rPr lang="es-ES" sz="3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per.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6555" y="3230384"/>
            <a:ext cx="3283039" cy="51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0"/>
              </a:lnSpc>
              <a:spcBef>
                <a:spcPct val="0"/>
              </a:spcBef>
            </a:pPr>
            <a:r>
              <a:rPr lang="es-ES" sz="3043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HIPÓTESIS A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2716878"/>
            <a:ext cx="7184389" cy="6541422"/>
            <a:chOff x="0" y="0"/>
            <a:chExt cx="1113050" cy="10134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13050" cy="1013437"/>
            </a:xfrm>
            <a:custGeom>
              <a:avLst/>
              <a:gdLst/>
              <a:ahLst/>
              <a:cxnLst/>
              <a:rect l="l" t="t" r="r" b="b"/>
              <a:pathLst>
                <a:path w="1113050" h="1013437">
                  <a:moveTo>
                    <a:pt x="0" y="0"/>
                  </a:moveTo>
                  <a:lnTo>
                    <a:pt x="1113050" y="0"/>
                  </a:lnTo>
                  <a:lnTo>
                    <a:pt x="1113050" y="1013437"/>
                  </a:lnTo>
                  <a:lnTo>
                    <a:pt x="0" y="1013437"/>
                  </a:lnTo>
                  <a:close/>
                </a:path>
              </a:pathLst>
            </a:custGeom>
            <a:blipFill>
              <a:blip r:embed="rId3"/>
              <a:stretch>
                <a:fillRect l="-18599" r="-18599"/>
              </a:stretch>
            </a:blipFill>
          </p:spPr>
          <p:txBody>
            <a:bodyPr/>
            <a:lstStyle/>
            <a:p>
              <a:endParaRPr lang="es-ES" noProof="0" dirty="0"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0767060" y="1531875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099928" y="876260"/>
            <a:ext cx="6612922" cy="1177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26"/>
              </a:lnSpc>
            </a:pPr>
            <a:r>
              <a:rPr lang="es-ES" sz="6875" noProof="0" dirty="0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7. RESULTADOS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21241" y="1720764"/>
            <a:ext cx="5365615" cy="299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1"/>
              </a:lnSpc>
              <a:spcBef>
                <a:spcPct val="0"/>
              </a:spcBef>
            </a:pPr>
            <a:r>
              <a:rPr lang="es-ES" sz="17815" b="1" noProof="0" dirty="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17%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33842" y="4634713"/>
            <a:ext cx="5456316" cy="3748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1"/>
              </a:lnSpc>
              <a:spcBef>
                <a:spcPct val="0"/>
              </a:spcBef>
            </a:pPr>
            <a:r>
              <a:rPr lang="es-ES" sz="4286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de las ideas generadas en una sesión creativa llegan a convertirse en un proyecto real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7905525" y="4597038"/>
            <a:ext cx="10525172" cy="956834"/>
          </a:xfrm>
          <a:custGeom>
            <a:avLst/>
            <a:gdLst/>
            <a:ahLst/>
            <a:cxnLst/>
            <a:rect l="l" t="t" r="r" b="b"/>
            <a:pathLst>
              <a:path w="10525172" h="956834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260522" y="-238172"/>
            <a:ext cx="12749628" cy="10763345"/>
            <a:chOff x="0" y="0"/>
            <a:chExt cx="3357927" cy="28347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57927" cy="2834790"/>
            </a:xfrm>
            <a:custGeom>
              <a:avLst/>
              <a:gdLst/>
              <a:ahLst/>
              <a:cxnLst/>
              <a:rect l="l" t="t" r="r" b="b"/>
              <a:pathLst>
                <a:path w="3357927" h="2834790">
                  <a:moveTo>
                    <a:pt x="0" y="0"/>
                  </a:moveTo>
                  <a:lnTo>
                    <a:pt x="3357927" y="0"/>
                  </a:lnTo>
                  <a:lnTo>
                    <a:pt x="3357927" y="2834790"/>
                  </a:lnTo>
                  <a:lnTo>
                    <a:pt x="0" y="28347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357927" cy="2872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352438" y="1558368"/>
            <a:ext cx="5906862" cy="7170263"/>
            <a:chOff x="0" y="0"/>
            <a:chExt cx="915128" cy="11108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5127" cy="1110861"/>
            </a:xfrm>
            <a:custGeom>
              <a:avLst/>
              <a:gdLst/>
              <a:ahLst/>
              <a:cxnLst/>
              <a:rect l="l" t="t" r="r" b="b"/>
              <a:pathLst>
                <a:path w="915127" h="1110861">
                  <a:moveTo>
                    <a:pt x="0" y="0"/>
                  </a:moveTo>
                  <a:lnTo>
                    <a:pt x="915127" y="0"/>
                  </a:lnTo>
                  <a:lnTo>
                    <a:pt x="915127" y="1110861"/>
                  </a:lnTo>
                  <a:lnTo>
                    <a:pt x="0" y="1110861"/>
                  </a:lnTo>
                  <a:close/>
                </a:path>
              </a:pathLst>
            </a:custGeom>
            <a:blipFill>
              <a:blip r:embed="rId3"/>
              <a:stretch>
                <a:fillRect t="-4986" b="-4986"/>
              </a:stretch>
            </a:blipFill>
          </p:spPr>
          <p:txBody>
            <a:bodyPr/>
            <a:lstStyle/>
            <a:p>
              <a:endParaRPr lang="es-ES" noProof="0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895350"/>
            <a:ext cx="7472760" cy="117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26"/>
              </a:lnSpc>
            </a:pPr>
            <a:r>
              <a:rPr lang="es-ES" sz="6875" noProof="0" dirty="0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8. CONCLUSIONES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52652" y="3185499"/>
            <a:ext cx="7617125" cy="2077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4"/>
              </a:lnSpc>
              <a:spcBef>
                <a:spcPct val="0"/>
              </a:spcBef>
            </a:pP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Lorem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ipsum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dolor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sit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amet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consectetur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adipiscing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elit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diam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netus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nulla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dis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, non magna in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fermentum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faucibus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iaculis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sociosqu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s-ES" sz="2974" b="1" i="1" noProof="0" dirty="0" err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hac</a:t>
            </a: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per.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52652" y="5623545"/>
            <a:ext cx="8121489" cy="1434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4"/>
              </a:lnSpc>
              <a:spcBef>
                <a:spcPct val="0"/>
              </a:spcBef>
            </a:pP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Lorem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ipsum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dolor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sit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diam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netus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nulla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dis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, non magna in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fermentum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faucibus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iaculis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sociosqu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774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hac</a:t>
            </a: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per.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8308" y="3573783"/>
            <a:ext cx="19691459" cy="5684517"/>
            <a:chOff x="0" y="0"/>
            <a:chExt cx="5186228" cy="14971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86228" cy="1497157"/>
            </a:xfrm>
            <a:custGeom>
              <a:avLst/>
              <a:gdLst/>
              <a:ahLst/>
              <a:cxnLst/>
              <a:rect l="l" t="t" r="r" b="b"/>
              <a:pathLst>
                <a:path w="5186228" h="1497157">
                  <a:moveTo>
                    <a:pt x="0" y="0"/>
                  </a:moveTo>
                  <a:lnTo>
                    <a:pt x="5186228" y="0"/>
                  </a:lnTo>
                  <a:lnTo>
                    <a:pt x="5186228" y="1497157"/>
                  </a:lnTo>
                  <a:lnTo>
                    <a:pt x="0" y="14971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186228" cy="15352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2742511"/>
            <a:ext cx="18288000" cy="1662545"/>
          </a:xfrm>
          <a:custGeom>
            <a:avLst/>
            <a:gdLst/>
            <a:ahLst/>
            <a:cxnLst/>
            <a:rect l="l" t="t" r="r" b="b"/>
            <a:pathLst>
              <a:path w="18288000" h="1662545">
                <a:moveTo>
                  <a:pt x="0" y="0"/>
                </a:moveTo>
                <a:lnTo>
                  <a:pt x="18288000" y="0"/>
                </a:lnTo>
                <a:lnTo>
                  <a:pt x="18288000" y="1662545"/>
                </a:lnTo>
                <a:lnTo>
                  <a:pt x="0" y="1662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6" name="Group 6"/>
          <p:cNvGrpSpPr/>
          <p:nvPr/>
        </p:nvGrpSpPr>
        <p:grpSpPr>
          <a:xfrm>
            <a:off x="-638308" y="-788403"/>
            <a:ext cx="19691459" cy="3786298"/>
            <a:chOff x="0" y="0"/>
            <a:chExt cx="5186228" cy="9972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6228" cy="997214"/>
            </a:xfrm>
            <a:custGeom>
              <a:avLst/>
              <a:gdLst/>
              <a:ahLst/>
              <a:cxnLst/>
              <a:rect l="l" t="t" r="r" b="b"/>
              <a:pathLst>
                <a:path w="5186228" h="997214">
                  <a:moveTo>
                    <a:pt x="0" y="0"/>
                  </a:moveTo>
                  <a:lnTo>
                    <a:pt x="5186228" y="0"/>
                  </a:lnTo>
                  <a:lnTo>
                    <a:pt x="5186228" y="997214"/>
                  </a:lnTo>
                  <a:lnTo>
                    <a:pt x="0" y="9972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186228" cy="10353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876260"/>
            <a:ext cx="7265287" cy="1177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26"/>
              </a:lnSpc>
            </a:pPr>
            <a:r>
              <a:rPr lang="es-ES" sz="6875" noProof="0" dirty="0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9. BIBLIOGRAFÍA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767060" y="1531875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2382787" y="4209698"/>
            <a:ext cx="13649269" cy="2656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Lorem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ipsum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dolor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sit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ad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imperdiet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nibh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nisi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est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eget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convallis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platea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conubia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arcu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vulputate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mauris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consequat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Lorem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ipsum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dolor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sit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ad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imperdiet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nibh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nisi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est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eget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convallis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platea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conubia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arcu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vulputate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mauris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consequat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Lorem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ipsum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dolor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sit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ad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imperdiet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nibh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nisi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est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eget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convallis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platea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conubia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arcu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vulputate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mauris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consequat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Lorem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ipsum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dolor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sit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ad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imperdiet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nibh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nisi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est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eget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convallis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platea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conubia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arcu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vulputate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mauris </a:t>
            </a:r>
            <a:r>
              <a:rPr lang="es-ES" sz="1899" noProof="0" dirty="0" err="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consequat</a:t>
            </a:r>
            <a:r>
              <a:rPr lang="es-ES" sz="1899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1420722"/>
            <a:ext cx="18288000" cy="1662545"/>
          </a:xfrm>
          <a:custGeom>
            <a:avLst/>
            <a:gdLst/>
            <a:ahLst/>
            <a:cxnLst/>
            <a:rect l="l" t="t" r="r" b="b"/>
            <a:pathLst>
              <a:path w="18288000" h="1662545">
                <a:moveTo>
                  <a:pt x="0" y="0"/>
                </a:moveTo>
                <a:lnTo>
                  <a:pt x="18288000" y="0"/>
                </a:lnTo>
                <a:lnTo>
                  <a:pt x="18288000" y="1662545"/>
                </a:lnTo>
                <a:lnTo>
                  <a:pt x="0" y="1662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sp>
        <p:nvSpPr>
          <p:cNvPr id="3" name="Freeform 3"/>
          <p:cNvSpPr/>
          <p:nvPr/>
        </p:nvSpPr>
        <p:spPr>
          <a:xfrm>
            <a:off x="-63422" y="7801886"/>
            <a:ext cx="18288000" cy="1662545"/>
          </a:xfrm>
          <a:custGeom>
            <a:avLst/>
            <a:gdLst/>
            <a:ahLst/>
            <a:cxnLst/>
            <a:rect l="l" t="t" r="r" b="b"/>
            <a:pathLst>
              <a:path w="18288000" h="1662545">
                <a:moveTo>
                  <a:pt x="0" y="0"/>
                </a:moveTo>
                <a:lnTo>
                  <a:pt x="18288000" y="0"/>
                </a:lnTo>
                <a:lnTo>
                  <a:pt x="18288000" y="1662546"/>
                </a:lnTo>
                <a:lnTo>
                  <a:pt x="0" y="1662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4" name="Group 4"/>
          <p:cNvGrpSpPr/>
          <p:nvPr/>
        </p:nvGrpSpPr>
        <p:grpSpPr>
          <a:xfrm>
            <a:off x="-701729" y="2561029"/>
            <a:ext cx="19691459" cy="5684517"/>
            <a:chOff x="0" y="0"/>
            <a:chExt cx="5186228" cy="149715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86228" cy="1497157"/>
            </a:xfrm>
            <a:custGeom>
              <a:avLst/>
              <a:gdLst/>
              <a:ahLst/>
              <a:cxnLst/>
              <a:rect l="l" t="t" r="r" b="b"/>
              <a:pathLst>
                <a:path w="5186228" h="1497157">
                  <a:moveTo>
                    <a:pt x="0" y="0"/>
                  </a:moveTo>
                  <a:lnTo>
                    <a:pt x="5186228" y="0"/>
                  </a:lnTo>
                  <a:lnTo>
                    <a:pt x="5186228" y="1497157"/>
                  </a:lnTo>
                  <a:lnTo>
                    <a:pt x="0" y="1497157"/>
                  </a:lnTo>
                  <a:close/>
                </a:path>
              </a:pathLst>
            </a:custGeom>
            <a:solidFill>
              <a:srgbClr val="4F83B3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186228" cy="15352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10677" y="4082206"/>
            <a:ext cx="15266646" cy="1899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23"/>
              </a:lnSpc>
            </a:pPr>
            <a:r>
              <a:rPr lang="es-ES" sz="11088" b="1" noProof="0" dirty="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¡MUCHAS GRACIAS!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138472" y="6515940"/>
            <a:ext cx="6011057" cy="600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s-ES" sz="4696" noProof="0" dirty="0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Por José Serrano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3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E9D1A4-5D68-5411-EF4D-415224C59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646DA72-C272-CD28-1414-68ADA018CB95}"/>
              </a:ext>
            </a:extLst>
          </p:cNvPr>
          <p:cNvSpPr/>
          <p:nvPr/>
        </p:nvSpPr>
        <p:spPr>
          <a:xfrm>
            <a:off x="10767060" y="1047750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F61B59A-AA06-D9C8-1C72-9761F3152F67}"/>
              </a:ext>
            </a:extLst>
          </p:cNvPr>
          <p:cNvSpPr txBox="1"/>
          <p:nvPr/>
        </p:nvSpPr>
        <p:spPr>
          <a:xfrm>
            <a:off x="1858688" y="1595126"/>
            <a:ext cx="15667312" cy="4401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es-ES" sz="6600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APRENDIZAJE POR REFUERZO </a:t>
            </a:r>
          </a:p>
          <a:p>
            <a:pPr algn="r">
              <a:lnSpc>
                <a:spcPct val="150000"/>
              </a:lnSpc>
            </a:pPr>
            <a:r>
              <a:rPr lang="es-ES" sz="6600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PARA EL CONTROL DE ALTO </a:t>
            </a:r>
          </a:p>
          <a:p>
            <a:pPr algn="r">
              <a:lnSpc>
                <a:spcPct val="150000"/>
              </a:lnSpc>
            </a:pPr>
            <a:r>
              <a:rPr lang="es-ES" sz="6600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NIVEL DE ROBOTS MÓVILES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BE8DC5F-EEC2-56B0-B31B-E364BA1561F2}"/>
              </a:ext>
            </a:extLst>
          </p:cNvPr>
          <p:cNvSpPr txBox="1"/>
          <p:nvPr/>
        </p:nvSpPr>
        <p:spPr>
          <a:xfrm>
            <a:off x="6577852" y="7146633"/>
            <a:ext cx="10934701" cy="732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563"/>
              </a:lnSpc>
            </a:pPr>
            <a:r>
              <a:rPr lang="es-ES" sz="6047" noProof="0" dirty="0">
                <a:solidFill>
                  <a:schemeClr val="tx2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Por David Solero Chicano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38D349B3-D5A0-7D00-0F6D-E6ED553C3D78}"/>
              </a:ext>
            </a:extLst>
          </p:cNvPr>
          <p:cNvGrpSpPr/>
          <p:nvPr/>
        </p:nvGrpSpPr>
        <p:grpSpPr>
          <a:xfrm rot="-5400000">
            <a:off x="-9880190" y="3974558"/>
            <a:ext cx="19691459" cy="3786298"/>
            <a:chOff x="0" y="0"/>
            <a:chExt cx="5186228" cy="997214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6D58AB1-2375-0937-03FD-4B05251CBCA7}"/>
                </a:ext>
              </a:extLst>
            </p:cNvPr>
            <p:cNvSpPr/>
            <p:nvPr/>
          </p:nvSpPr>
          <p:spPr>
            <a:xfrm>
              <a:off x="0" y="0"/>
              <a:ext cx="5186228" cy="997214"/>
            </a:xfrm>
            <a:custGeom>
              <a:avLst/>
              <a:gdLst/>
              <a:ahLst/>
              <a:cxnLst/>
              <a:rect l="l" t="t" r="r" b="b"/>
              <a:pathLst>
                <a:path w="5186228" h="997214">
                  <a:moveTo>
                    <a:pt x="0" y="0"/>
                  </a:moveTo>
                  <a:lnTo>
                    <a:pt x="5186228" y="0"/>
                  </a:lnTo>
                  <a:lnTo>
                    <a:pt x="5186228" y="997214"/>
                  </a:lnTo>
                  <a:lnTo>
                    <a:pt x="0" y="9972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A4177D0-0C4A-57B8-8A02-C0C009E838EE}"/>
                </a:ext>
              </a:extLst>
            </p:cNvPr>
            <p:cNvSpPr txBox="1"/>
            <p:nvPr/>
          </p:nvSpPr>
          <p:spPr>
            <a:xfrm>
              <a:off x="0" y="-38100"/>
              <a:ext cx="5186228" cy="10353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196E5196-A73B-3363-9536-968FE7022AFB}"/>
              </a:ext>
            </a:extLst>
          </p:cNvPr>
          <p:cNvSpPr/>
          <p:nvPr/>
        </p:nvSpPr>
        <p:spPr>
          <a:xfrm rot="5400000">
            <a:off x="-3882315" y="4665083"/>
            <a:ext cx="10525172" cy="956834"/>
          </a:xfrm>
          <a:custGeom>
            <a:avLst/>
            <a:gdLst/>
            <a:ahLst/>
            <a:cxnLst/>
            <a:rect l="l" t="t" r="r" b="b"/>
            <a:pathLst>
              <a:path w="10525172" h="956834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905C34ED-1F92-E68D-5138-0FB28176D74E}"/>
              </a:ext>
            </a:extLst>
          </p:cNvPr>
          <p:cNvSpPr txBox="1"/>
          <p:nvPr/>
        </p:nvSpPr>
        <p:spPr>
          <a:xfrm>
            <a:off x="-990600" y="528581"/>
            <a:ext cx="10934701" cy="732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563"/>
              </a:lnSpc>
            </a:pPr>
            <a:r>
              <a:rPr lang="es-ES" sz="4800" noProof="0" dirty="0">
                <a:solidFill>
                  <a:schemeClr val="tx2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Grado en Ingeniería informática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2D63B92-6563-66D5-1C17-98191BEA315D}"/>
              </a:ext>
            </a:extLst>
          </p:cNvPr>
          <p:cNvSpPr/>
          <p:nvPr/>
        </p:nvSpPr>
        <p:spPr>
          <a:xfrm>
            <a:off x="2396197" y="7962900"/>
            <a:ext cx="3242603" cy="1797776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Imagen 10" descr="SERVICIO DE COMUNICACIÓN - Marcas Oficiales - Universidad de Málaga">
            <a:extLst>
              <a:ext uri="{FF2B5EF4-FFF2-40B4-BE49-F238E27FC236}">
                <a16:creationId xmlns:a16="http://schemas.microsoft.com/office/drawing/2014/main" id="{395A38A6-57BA-EE7A-3007-A46B4A1CD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906" y="8306102"/>
            <a:ext cx="2907184" cy="1111371"/>
          </a:xfrm>
          <a:prstGeom prst="rect">
            <a:avLst/>
          </a:prstGeom>
        </p:spPr>
      </p:pic>
      <p:sp>
        <p:nvSpPr>
          <p:cNvPr id="13" name="TextBox 4">
            <a:extLst>
              <a:ext uri="{FF2B5EF4-FFF2-40B4-BE49-F238E27FC236}">
                <a16:creationId xmlns:a16="http://schemas.microsoft.com/office/drawing/2014/main" id="{CE0CCCB9-8481-D4E5-AD6A-669F7938EB61}"/>
              </a:ext>
            </a:extLst>
          </p:cNvPr>
          <p:cNvSpPr txBox="1"/>
          <p:nvPr/>
        </p:nvSpPr>
        <p:spPr>
          <a:xfrm>
            <a:off x="6591299" y="8381939"/>
            <a:ext cx="10934701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563"/>
              </a:lnSpc>
            </a:pPr>
            <a:r>
              <a:rPr lang="es-ES" sz="4400" dirty="0">
                <a:solidFill>
                  <a:schemeClr val="tx2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Tutorizado por</a:t>
            </a:r>
            <a:r>
              <a:rPr lang="es-ES" sz="4400" noProof="0" dirty="0">
                <a:solidFill>
                  <a:schemeClr val="tx2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 Ana María Cruz Martín y </a:t>
            </a:r>
          </a:p>
          <a:p>
            <a:pPr algn="r">
              <a:lnSpc>
                <a:spcPts val="5563"/>
              </a:lnSpc>
            </a:pPr>
            <a:r>
              <a:rPr lang="es-ES" sz="4400" noProof="0" dirty="0">
                <a:solidFill>
                  <a:schemeClr val="tx2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Juan Antonio Fernández Madrigal  </a:t>
            </a:r>
          </a:p>
        </p:txBody>
      </p:sp>
    </p:spTree>
    <p:extLst>
      <p:ext uri="{BB962C8B-B14F-4D97-AF65-F5344CB8AC3E}">
        <p14:creationId xmlns:p14="http://schemas.microsoft.com/office/powerpoint/2010/main" val="2402494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664</Words>
  <Application>Microsoft Office PowerPoint</Application>
  <PresentationFormat>Personalizado</PresentationFormat>
  <Paragraphs>90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4" baseType="lpstr">
      <vt:lpstr>Playfair Display Bold</vt:lpstr>
      <vt:lpstr>Playfair Display</vt:lpstr>
      <vt:lpstr>Open Sans Bold Italics</vt:lpstr>
      <vt:lpstr>Open Sans</vt:lpstr>
      <vt:lpstr>Arial</vt:lpstr>
      <vt:lpstr>Roboto Condensed</vt:lpstr>
      <vt:lpstr>Open Sans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Trabajo Final Tesis Profesional Moderna Sencilla Azul </dc:title>
  <cp:lastModifiedBy>David Solero Chicano</cp:lastModifiedBy>
  <cp:revision>6</cp:revision>
  <dcterms:created xsi:type="dcterms:W3CDTF">2006-08-16T00:00:00Z</dcterms:created>
  <dcterms:modified xsi:type="dcterms:W3CDTF">2026-06-06T11:29:01Z</dcterms:modified>
  <dc:identifier>DAHLam64Q-M</dc:identifier>
</cp:coreProperties>
</file>